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3.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4.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5.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Requirements</c:v>
                </c:pt>
              </c:strCache>
            </c:strRef>
          </c:tx>
          <c:spPr>
            <a:solidFill>
              <a:srgbClr val="14213D"/>
            </a:solidFill>
            <a:effectLst/>
          </c:spPr>
          <c:invertIfNegative val="0"/>
          <c:dLbls>
            <c:numFmt formatCode="#,##0" sourceLinked="0"/>
            <c:txPr>
              <a:bodyPr/>
              <a:lstStyle/>
              <a:p>
                <a:pPr>
                  <a:defRPr b="0" i="0" strike="noStrike" sz="1200" u="none">
                    <a:solidFill>
                      <a:srgbClr val="2A2F3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Materially changed</c:v>
                  </c:pt>
                  <c:pt idx="1">
                    <c:v>Clarified or narrowed</c:v>
                  </c:pt>
                  <c:pt idx="2">
                    <c:v>Unchanged</c:v>
                  </c:pt>
                </c:lvl>
              </c:multiLvlStrCache>
            </c:multiLvlStrRef>
          </c:cat>
          <c:val>
            <c:numRef>
              <c:f>Sheet1!$B$2:$B$4</c:f>
              <c:numCache>
                <c:formatCode>General</c:formatCode>
                <c:ptCount val="3"/>
                <c:pt idx="0">
                  <c:v>14</c:v>
                </c:pt>
                <c:pt idx="1">
                  <c:v>23</c:v>
                </c:pt>
                <c:pt idx="2">
                  <c:v>27</c:v>
                </c:pt>
              </c:numCache>
            </c:numRef>
          </c:val>
        </c:ser>
        <c:dLbls>
          <c:numFmt formatCode="#,##0" sourceLinked="0"/>
          <c:txPr>
            <a:bodyPr/>
            <a:lstStyle/>
            <a:p>
              <a:pPr>
                <a:defRPr b="0" i="0" strike="noStrike" sz="1200" u="none">
                  <a:solidFill>
                    <a:srgbClr val="2A2F36"/>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A2F36"/>
                </a:solidFill>
                <a:latin typeface="Calibri"/>
              </a:defRPr>
            </a:pPr>
            <a:endParaRPr lang="en-US"/>
          </a:p>
        </c:txPr>
        <c:crossAx val="2094734552"/>
        <c:crosses val="autoZero"/>
        <c:auto val="1"/>
        <c:lblAlgn val="ctr"/>
        <c:noMultiLvlLbl val="1"/>
      </c:catAx>
      <c:valAx>
        <c:axId val="2094734552"/>
        <c:scaling>
          <c:orientation val="minMax"/>
          <c:max val="3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Entities</c:v>
                </c:pt>
              </c:strCache>
            </c:strRef>
          </c:tx>
          <c:spPr>
            <a:solidFill>
              <a:srgbClr val="14213D"/>
            </a:solidFill>
            <a:effectLst/>
          </c:spPr>
          <c:invertIfNegative val="0"/>
          <c:dLbls>
            <c:numFmt formatCode="#,##0" sourceLinked="0"/>
            <c:txPr>
              <a:bodyPr/>
              <a:lstStyle/>
              <a:p>
                <a:pPr>
                  <a:defRPr b="0" i="0" strike="noStrike" sz="1200" u="none">
                    <a:solidFill>
                      <a:srgbClr val="2A2F36"/>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Core</c:v>
                  </c:pt>
                  <c:pt idx="1">
                    <c:v>Policy</c:v>
                  </c:pt>
                  <c:pt idx="2">
                    <c:v>Governance</c:v>
                  </c:pt>
                  <c:pt idx="3">
                    <c:v>Escalation</c:v>
                  </c:pt>
                </c:lvl>
              </c:multiLvlStrCache>
            </c:multiLvlStrRef>
          </c:cat>
          <c:val>
            <c:numRef>
              <c:f>Sheet1!$B$2:$B$5</c:f>
              <c:numCache>
                <c:formatCode>General</c:formatCode>
                <c:ptCount val="4"/>
                <c:pt idx="0">
                  <c:v>64</c:v>
                </c:pt>
                <c:pt idx="1">
                  <c:v>38</c:v>
                </c:pt>
                <c:pt idx="2">
                  <c:v>24</c:v>
                </c:pt>
                <c:pt idx="3">
                  <c:v>18</c:v>
                </c:pt>
              </c:numCache>
            </c:numRef>
          </c:val>
        </c:ser>
        <c:dLbls>
          <c:numFmt formatCode="#,##0" sourceLinked="0"/>
          <c:txPr>
            <a:bodyPr/>
            <a:lstStyle/>
            <a:p>
              <a:pPr>
                <a:defRPr b="0" i="0" strike="noStrike" sz="1200" u="none">
                  <a:solidFill>
                    <a:srgbClr val="2A2F36"/>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A2F36"/>
                </a:solidFill>
                <a:latin typeface="Calibri"/>
              </a:defRPr>
            </a:pPr>
            <a:endParaRPr lang="en-US"/>
          </a:p>
        </c:txPr>
        <c:crossAx val="2094734552"/>
        <c:crosses val="autoZero"/>
        <c:auto val="1"/>
        <c:lblAlgn val="ctr"/>
        <c:noMultiLvlLbl val="1"/>
      </c:catAx>
      <c:valAx>
        <c:axId val="2094734552"/>
        <c:scaling>
          <c:orientation val="minMax"/>
          <c:max val="6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a  Portal screen</c:v>
                </c:pt>
              </c:strCache>
            </c:strRef>
          </c:tx>
          <c:spPr>
            <a:solidFill>
              <a:srgbClr val="14213D"/>
            </a:solidFill>
            <a:effectLst/>
          </c:spPr>
          <c:invertIfNegative val="0"/>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Governance (19)</c:v>
                  </c:pt>
                  <c:pt idx="1">
                    <c:v>Policy (26)</c:v>
                  </c:pt>
                  <c:pt idx="2">
                    <c:v>Escalation (19)</c:v>
                  </c:pt>
                  <c:pt idx="3">
                    <c:v>Supplementary (7)</c:v>
                  </c:pt>
                </c:lvl>
              </c:multiLvlStrCache>
            </c:multiLvlStrRef>
          </c:cat>
          <c:val>
            <c:numRef>
              <c:f>Sheet1!$B$2:$B$5</c:f>
              <c:numCache>
                <c:formatCode>General</c:formatCode>
                <c:ptCount val="4"/>
                <c:pt idx="0">
                  <c:v>11</c:v>
                </c:pt>
                <c:pt idx="1">
                  <c:v>19</c:v>
                </c:pt>
                <c:pt idx="2">
                  <c:v>13</c:v>
                </c:pt>
                <c:pt idx="3">
                  <c:v>5</c:v>
                </c:pt>
              </c:numCache>
            </c:numRef>
          </c:val>
        </c:ser>
        <c:ser>
          <c:idx val="1"/>
          <c:order val="1"/>
          <c:tx>
            <c:strRef>
              <c:f>Sheet1!$C$1</c:f>
              <c:strCache>
                <c:ptCount val="1"/>
                <c:pt idx="0">
                  <c:v>b  Workspace / config by design</c:v>
                </c:pt>
              </c:strCache>
            </c:strRef>
          </c:tx>
          <c:spPr>
            <a:solidFill>
              <a:srgbClr val="3D6A9E"/>
            </a:solidFill>
            <a:effectLst/>
          </c:spPr>
          <c:invertIfNegative val="0"/>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Governance (19)</c:v>
                  </c:pt>
                  <c:pt idx="1">
                    <c:v>Policy (26)</c:v>
                  </c:pt>
                  <c:pt idx="2">
                    <c:v>Escalation (19)</c:v>
                  </c:pt>
                  <c:pt idx="3">
                    <c:v>Supplementary (7)</c:v>
                  </c:pt>
                </c:lvl>
              </c:multiLvlStrCache>
            </c:multiLvlStrRef>
          </c:cat>
          <c:val>
            <c:numRef>
              <c:f>Sheet1!$C$2:$C$5</c:f>
              <c:numCache>
                <c:formatCode>General</c:formatCode>
                <c:ptCount val="4"/>
                <c:pt idx="0">
                  <c:v>1</c:v>
                </c:pt>
                <c:pt idx="1">
                  <c:v>3</c:v>
                </c:pt>
                <c:pt idx="2">
                  <c:v>2</c:v>
                </c:pt>
                <c:pt idx="3">
                  <c:v>0</c:v>
                </c:pt>
              </c:numCache>
            </c:numRef>
          </c:val>
        </c:ser>
        <c:ser>
          <c:idx val="2"/>
          <c:order val="2"/>
          <c:tx>
            <c:strRef>
              <c:f>Sheet1!$D$1</c:f>
              <c:strCache>
                <c:ptCount val="1"/>
                <c:pt idx="0">
                  <c:v>c  Partly reachable</c:v>
                </c:pt>
              </c:strCache>
            </c:strRef>
          </c:tx>
          <c:spPr>
            <a:solidFill>
              <a:srgbClr val="8D99AE"/>
            </a:solidFill>
            <a:effectLst/>
          </c:spPr>
          <c:invertIfNegative val="0"/>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Governance (19)</c:v>
                  </c:pt>
                  <c:pt idx="1">
                    <c:v>Policy (26)</c:v>
                  </c:pt>
                  <c:pt idx="2">
                    <c:v>Escalation (19)</c:v>
                  </c:pt>
                  <c:pt idx="3">
                    <c:v>Supplementary (7)</c:v>
                  </c:pt>
                </c:lvl>
              </c:multiLvlStrCache>
            </c:multiLvlStrRef>
          </c:cat>
          <c:val>
            <c:numRef>
              <c:f>Sheet1!$D$2:$D$5</c:f>
              <c:numCache>
                <c:formatCode>General</c:formatCode>
                <c:ptCount val="4"/>
                <c:pt idx="0">
                  <c:v>4</c:v>
                </c:pt>
                <c:pt idx="1">
                  <c:v>3</c:v>
                </c:pt>
                <c:pt idx="2">
                  <c:v>2</c:v>
                </c:pt>
                <c:pt idx="3">
                  <c:v>0</c:v>
                </c:pt>
              </c:numCache>
            </c:numRef>
          </c:val>
        </c:ser>
        <c:ser>
          <c:idx val="3"/>
          <c:order val="3"/>
          <c:tx>
            <c:strRef>
              <c:f>Sheet1!$E$1</c:f>
              <c:strCache>
                <c:ptCount val="1"/>
                <c:pt idx="0">
                  <c:v>d  Not implemented (mandatory clause)</c:v>
                </c:pt>
              </c:strCache>
            </c:strRef>
          </c:tx>
          <c:spPr>
            <a:solidFill>
              <a:srgbClr val="C8553D"/>
            </a:solidFill>
            <a:effectLst/>
          </c:spPr>
          <c:invertIfNegative val="0"/>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Governance (19)</c:v>
                  </c:pt>
                  <c:pt idx="1">
                    <c:v>Policy (26)</c:v>
                  </c:pt>
                  <c:pt idx="2">
                    <c:v>Escalation (19)</c:v>
                  </c:pt>
                  <c:pt idx="3">
                    <c:v>Supplementary (7)</c:v>
                  </c:pt>
                </c:lvl>
              </c:multiLvlStrCache>
            </c:multiLvlStrRef>
          </c:cat>
          <c:val>
            <c:numRef>
              <c:f>Sheet1!$E$2:$E$5</c:f>
              <c:numCache>
                <c:formatCode>General</c:formatCode>
                <c:ptCount val="4"/>
                <c:pt idx="0">
                  <c:v>3</c:v>
                </c:pt>
                <c:pt idx="1">
                  <c:v>1</c:v>
                </c:pt>
                <c:pt idx="2">
                  <c:v>2</c:v>
                </c:pt>
                <c:pt idx="3">
                  <c:v>2</c:v>
                </c:pt>
              </c:numCache>
            </c:numRef>
          </c:val>
        </c:ser>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A2F36"/>
                </a:solidFill>
                <a:latin typeface="Calibri"/>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A2F36"/>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Tests</c:v>
                </c:pt>
              </c:strCache>
            </c:strRef>
          </c:tx>
          <c:spPr>
            <a:solidFill>
              <a:srgbClr val="14213D"/>
            </a:solidFill>
            <a:effectLst/>
          </c:spPr>
          <c:invertIfNegative val="0"/>
          <c:dLbls>
            <c:numFmt formatCode="#,##0" sourceLinked="0"/>
            <c:txPr>
              <a:bodyPr/>
              <a:lstStyle/>
              <a:p>
                <a:pPr>
                  <a:defRPr b="0" i="0" strike="noStrike" sz="1100" u="none">
                    <a:solidFill>
                      <a:srgbClr val="2A2F36"/>
                    </a:solidFill>
                    <a:latin typeface="Calibri"/>
                  </a:defRPr>
                </a:pPr>
              </a:p>
            </c:txPr>
            <c:showLegendKey val="0"/>
            <c:showVal val="1"/>
            <c:showCatName val="0"/>
            <c:showSerName val="0"/>
            <c:showPercent val="0"/>
            <c:showBubbleSize val="0"/>
            <c:showLeaderLines val="0"/>
          </c:dLbls>
          <c:cat>
            <c:multiLvlStrRef>
              <c:f>Sheet1!$A$2:$A$7</c:f>
              <c:multiLvlStrCache>
                <c:ptCount val="6"/>
                <c:lvl>
                  <c:pt idx="0">
                    <c:v>Core only (README)</c:v>
                  </c:pt>
                  <c:pt idx="1">
                    <c:v>Readiness checklist</c:v>
                  </c:pt>
                  <c:pt idx="2">
                    <c:v>Build session end</c:v>
                  </c:pt>
                  <c:pt idx="3">
                    <c:v>17 Sep coverage run</c:v>
                  </c:pt>
                  <c:pt idx="4">
                    <c:v>Final wave</c:v>
                  </c:pt>
                  <c:pt idx="5">
                    <c:v>Release 1.0.0</c:v>
                  </c:pt>
                </c:lvl>
              </c:multiLvlStrCache>
            </c:multiLvlStrRef>
          </c:cat>
          <c:val>
            <c:numRef>
              <c:f>Sheet1!$B$2:$B$7</c:f>
              <c:numCache>
                <c:formatCode>General</c:formatCode>
                <c:ptCount val="6"/>
                <c:pt idx="0">
                  <c:v>293</c:v>
                </c:pt>
                <c:pt idx="1">
                  <c:v>722</c:v>
                </c:pt>
                <c:pt idx="2">
                  <c:v>724</c:v>
                </c:pt>
                <c:pt idx="3">
                  <c:v>780</c:v>
                </c:pt>
                <c:pt idx="4">
                  <c:v>1372</c:v>
                </c:pt>
                <c:pt idx="5">
                  <c:v>1453</c:v>
                </c:pt>
              </c:numCache>
            </c:numRef>
          </c:val>
        </c:ser>
        <c:dLbls>
          <c:numFmt formatCode="#,##0" sourceLinked="0"/>
          <c:txPr>
            <a:bodyPr/>
            <a:lstStyle/>
            <a:p>
              <a:pPr>
                <a:defRPr b="0" i="0" strike="noStrike" sz="1100" u="none">
                  <a:solidFill>
                    <a:srgbClr val="2A2F36"/>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A2F36"/>
                </a:solidFill>
                <a:latin typeface="Calibri"/>
              </a:defRPr>
            </a:pPr>
            <a:endParaRPr lang="en-US"/>
          </a:p>
        </c:txPr>
        <c:crossAx val="2094734552"/>
        <c:crosses val="autoZero"/>
        <c:auto val="1"/>
        <c:lblAlgn val="ctr"/>
        <c:noMultiLvlLbl val="1"/>
      </c:catAx>
      <c:valAx>
        <c:axId val="2094734552"/>
        <c:scaling>
          <c:orientation val="minMax"/>
          <c:max val="165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Done</c:v>
                </c:pt>
              </c:strCache>
            </c:strRef>
          </c:tx>
          <c:spPr>
            <a:solidFill>
              <a:srgbClr val="14213D"/>
            </a:solidFill>
            <a:effectLst/>
          </c:spPr>
          <c:invertIfNegative val="0"/>
          <c:dLbls>
            <c:numFmt formatCode="0;;;" sourceLinked="0"/>
            <c:txPr>
              <a:bodyPr/>
              <a:lstStyle/>
              <a:p>
                <a:pPr>
                  <a:defRPr b="1"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Sheet1!$A$2:$A$11</c:f>
              <c:multiLvlStrCache>
                <c:ptCount val="10"/>
                <c:lvl>
                  <c:pt idx="0">
                    <c:v>Foundation</c:v>
                  </c:pt>
                  <c:pt idx="1">
                    <c:v>Governance forums</c:v>
                  </c:pt>
                  <c:pt idx="2">
                    <c:v>Policy</c:v>
                  </c:pt>
                  <c:pt idx="3">
                    <c:v>Escalation</c:v>
                  </c:pt>
                  <c:pt idx="4">
                    <c:v>Cross-cutting engines</c:v>
                  </c:pt>
                  <c:pt idx="5">
                    <c:v>Interface</c:v>
                  </c:pt>
                  <c:pt idx="6">
                    <c:v>Deployment</c:v>
                  </c:pt>
                  <c:pt idx="7">
                    <c:v>Gaps found by measurement</c:v>
                  </c:pt>
                  <c:pt idx="8">
                    <c:v>Deployment readiness</c:v>
                  </c:pt>
                  <c:pt idx="9">
                    <c:v>Navigation and integrations</c:v>
                  </c:pt>
                </c:lvl>
              </c:multiLvlStrCache>
            </c:multiLvlStrRef>
          </c:cat>
          <c:val>
            <c:numRef>
              <c:f>Sheet1!$B$2:$B$11</c:f>
              <c:numCache>
                <c:formatCode>General</c:formatCode>
                <c:ptCount val="10"/>
                <c:pt idx="0">
                  <c:v>18</c:v>
                </c:pt>
                <c:pt idx="1">
                  <c:v>27</c:v>
                </c:pt>
                <c:pt idx="2">
                  <c:v>23</c:v>
                </c:pt>
                <c:pt idx="3">
                  <c:v>9</c:v>
                </c:pt>
                <c:pt idx="4">
                  <c:v>12</c:v>
                </c:pt>
                <c:pt idx="5">
                  <c:v>6</c:v>
                </c:pt>
                <c:pt idx="6">
                  <c:v>5</c:v>
                </c:pt>
                <c:pt idx="7">
                  <c:v>43</c:v>
                </c:pt>
                <c:pt idx="8">
                  <c:v>0</c:v>
                </c:pt>
                <c:pt idx="9">
                  <c:v>8</c:v>
                </c:pt>
              </c:numCache>
            </c:numRef>
          </c:val>
        </c:ser>
        <c:ser>
          <c:idx val="1"/>
          <c:order val="1"/>
          <c:tx>
            <c:strRef>
              <c:f>Sheet1!$C$1</c:f>
              <c:strCache>
                <c:ptCount val="1"/>
                <c:pt idx="0">
                  <c:v>Partial</c:v>
                </c:pt>
              </c:strCache>
            </c:strRef>
          </c:tx>
          <c:spPr>
            <a:solidFill>
              <a:srgbClr val="8D99AE"/>
            </a:solidFill>
            <a:effectLst/>
          </c:spPr>
          <c:invertIfNegative val="0"/>
          <c:dLbls>
            <c:numFmt formatCode="0;;;" sourceLinked="0"/>
            <c:txPr>
              <a:bodyPr/>
              <a:lstStyle/>
              <a:p>
                <a:pPr>
                  <a:defRPr b="1"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Sheet1!$A$2:$A$11</c:f>
              <c:multiLvlStrCache>
                <c:ptCount val="10"/>
                <c:lvl>
                  <c:pt idx="0">
                    <c:v>Foundation</c:v>
                  </c:pt>
                  <c:pt idx="1">
                    <c:v>Governance forums</c:v>
                  </c:pt>
                  <c:pt idx="2">
                    <c:v>Policy</c:v>
                  </c:pt>
                  <c:pt idx="3">
                    <c:v>Escalation</c:v>
                  </c:pt>
                  <c:pt idx="4">
                    <c:v>Cross-cutting engines</c:v>
                  </c:pt>
                  <c:pt idx="5">
                    <c:v>Interface</c:v>
                  </c:pt>
                  <c:pt idx="6">
                    <c:v>Deployment</c:v>
                  </c:pt>
                  <c:pt idx="7">
                    <c:v>Gaps found by measurement</c:v>
                  </c:pt>
                  <c:pt idx="8">
                    <c:v>Deployment readiness</c:v>
                  </c:pt>
                  <c:pt idx="9">
                    <c:v>Navigation and integrations</c:v>
                  </c:pt>
                </c:lvl>
              </c:multiLvlStrCache>
            </c:multiLvlStrRef>
          </c:cat>
          <c:val>
            <c:numRef>
              <c:f>Sheet1!$C$2:$C$11</c:f>
              <c:numCache>
                <c:formatCode>General</c:formatCode>
                <c:ptCount val="10"/>
                <c:pt idx="0">
                  <c:v>6</c:v>
                </c:pt>
                <c:pt idx="1">
                  <c:v>0</c:v>
                </c:pt>
                <c:pt idx="2">
                  <c:v>0</c:v>
                </c:pt>
                <c:pt idx="3">
                  <c:v>0</c:v>
                </c:pt>
                <c:pt idx="4">
                  <c:v>10</c:v>
                </c:pt>
                <c:pt idx="5">
                  <c:v>4</c:v>
                </c:pt>
                <c:pt idx="6">
                  <c:v>7</c:v>
                </c:pt>
                <c:pt idx="7">
                  <c:v>3</c:v>
                </c:pt>
                <c:pt idx="8">
                  <c:v>6</c:v>
                </c:pt>
                <c:pt idx="9">
                  <c:v>3</c:v>
                </c:pt>
              </c:numCache>
            </c:numRef>
          </c:val>
        </c:ser>
        <c:ser>
          <c:idx val="2"/>
          <c:order val="2"/>
          <c:tx>
            <c:strRef>
              <c:f>Sheet1!$D$1</c:f>
              <c:strCache>
                <c:ptCount val="1"/>
                <c:pt idx="0">
                  <c:v>Not started</c:v>
                </c:pt>
              </c:strCache>
            </c:strRef>
          </c:tx>
          <c:spPr>
            <a:solidFill>
              <a:srgbClr val="C8553D"/>
            </a:solidFill>
            <a:effectLst/>
          </c:spPr>
          <c:invertIfNegative val="0"/>
          <c:dLbls>
            <c:numFmt formatCode="0;;;" sourceLinked="0"/>
            <c:txPr>
              <a:bodyPr/>
              <a:lstStyle/>
              <a:p>
                <a:pPr>
                  <a:defRPr b="1"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Sheet1!$A$2:$A$11</c:f>
              <c:multiLvlStrCache>
                <c:ptCount val="10"/>
                <c:lvl>
                  <c:pt idx="0">
                    <c:v>Foundation</c:v>
                  </c:pt>
                  <c:pt idx="1">
                    <c:v>Governance forums</c:v>
                  </c:pt>
                  <c:pt idx="2">
                    <c:v>Policy</c:v>
                  </c:pt>
                  <c:pt idx="3">
                    <c:v>Escalation</c:v>
                  </c:pt>
                  <c:pt idx="4">
                    <c:v>Cross-cutting engines</c:v>
                  </c:pt>
                  <c:pt idx="5">
                    <c:v>Interface</c:v>
                  </c:pt>
                  <c:pt idx="6">
                    <c:v>Deployment</c:v>
                  </c:pt>
                  <c:pt idx="7">
                    <c:v>Gaps found by measurement</c:v>
                  </c:pt>
                  <c:pt idx="8">
                    <c:v>Deployment readiness</c:v>
                  </c:pt>
                  <c:pt idx="9">
                    <c:v>Navigation and integrations</c:v>
                  </c:pt>
                </c:lvl>
              </c:multiLvlStrCache>
            </c:multiLvlStrRef>
          </c:cat>
          <c:val>
            <c:numRef>
              <c:f>Sheet1!$D$2:$D$11</c:f>
              <c:numCache>
                <c:formatCode>General</c:formatCode>
                <c:ptCount val="10"/>
                <c:pt idx="0">
                  <c:v>0</c:v>
                </c:pt>
                <c:pt idx="1">
                  <c:v>0</c:v>
                </c:pt>
                <c:pt idx="2">
                  <c:v>0</c:v>
                </c:pt>
                <c:pt idx="3">
                  <c:v>0</c:v>
                </c:pt>
                <c:pt idx="4">
                  <c:v>0</c:v>
                </c:pt>
                <c:pt idx="5">
                  <c:v>0</c:v>
                </c:pt>
                <c:pt idx="6">
                  <c:v>0</c:v>
                </c:pt>
                <c:pt idx="7">
                  <c:v>0</c:v>
                </c:pt>
                <c:pt idx="8">
                  <c:v>1</c:v>
                </c:pt>
                <c:pt idx="9">
                  <c:v>0</c:v>
                </c:pt>
              </c:numCache>
            </c:numRef>
          </c:val>
        </c:ser>
        <c:dLbls>
          <c:numFmt formatCode="0;;;" sourceLinked="0"/>
          <c:txPr>
            <a:bodyPr/>
            <a:lstStyle/>
            <a:p>
              <a:pPr>
                <a:defRPr b="1" i="0" strike="noStrike" sz="1100" u="none">
                  <a:solidFill>
                    <a:srgbClr val="FFFFFF"/>
                  </a:solidFill>
                  <a:latin typeface="Calibri"/>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2A2F36"/>
                </a:solidFill>
                <a:latin typeface="Calibri"/>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A2F36"/>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session: take a decision on the path to production for Consilium. The deck follows the answer-first structure: the executive summary and the decisions come first; sections A to F are the supporting evidence; the appendix holds the detail. Every number carries its source in the footnote. All figures are final: they were measured on release 1.0.0 after the last build wave.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first. Four points, each supported later in the deck. One: we built one platform on infrastructure the organisation already runs, with no per-seat licence. Two: we measured coverage honestly, requirement by requirement; the first measurement exposed real gaps, the final build closed most of them, and the six that remain are named. Three: the quality evidence is strong, and it became stronger when we loaded a realistic organisation and found nine real defects, including a control bypass on policy publication, which is fixed. Four: installation, migration and upgrade are rehearsed offline on a stand-in server; what is left is mainly environment work on the real target — certificates, sign-on, SMTP, load, a real Windows run — plus the framework-version decision. The recommendation is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asks. Each one is tied to a specific blocker. Decision 1, the framework version, is an architecture call the handover explicitly reserved for people rather than engineers. Decision 2 matters most for the schedule: nothing can be rehearsed until the target environment exists and someone owns certificates, service accounts, write-once storage and backups. Decision 3 matters because LDAP and OIDC are configuration, while SAML is a separate build. Decision 4: the engines exist, but the business rules they run on do not yet. Decision 5 keeps AI from becoming a go-live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A sets out the problem: what the organisation must be able to prove, and why one platform answers it better than three separate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programme's 64 mandatory requirements reduce to three questions. Who decides is the forum inventory: committees, councils and working groups, and how they are formed, composed, reviewed and disbanded. What the rules are is the governing-document lifecycle. What happens when something goes wrong is escalation. The key design choice was to treat these as three modules of one product rather than three systems to integrate.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the platform is built the way it is. Read down the left column: these are the things an auditor or supervisor will test. Each maps to specific mandatory requirements. They drive most of the build effort: revert, write-once retention and enforcement on every read path are not framework features. They had to be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requirements described three separately scoped systems with live connectors to four external systems nobody had specified. Eleven stakeholder decisions reshaped that into something deliverable. Fourteen requirements changed materially and twenty-three were clarified. The biggest trade: live connectors became one governed file import pipeline, which keeps the control and loses only timeliness. Retention moved in-house, which is the largest single scope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record carries first-line ownership, second-line challenge and third-line assurance. Segregation of duties is enforced on the server, not by hiding buttons. Tests attempt each forbidden action as the wrong role. The audit role reads everything and changes nothing. Every refusal is logged, so assurance can see attempted breaches as well as completed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 covers what exists: the capability map, the four design principles, why we chose this platform, the constraints it meets, the architecture, the data model, the redesigned portal and the integrations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capability map. Across the top are the three business modules with their entity counts. Underneath is the Core: the services all three need. Attestation, notification, versioning, retention and service-level timing appear in all three modules' requirements with slightly different wording. Building them three times is the most likely way a programme like this becomes inconsistent. We built each one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principles are why the platform should stay cheap to run. One: the code never reads a workflow state's name. It reads flags, so adding a Legal Review step is configuration, not a release, and a checker enforces this. Two: nothing is deleted, so we can reconstruct any date. Three: every refusal is logged, which gives assurance the attempted breaches too. Four: one engine per concern. For example, three annual attestation events run on one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choice is an open-source, metadata-driven framework. It ships the building blocks you would otherwise buy a commercial GRC product for: configurable workflow, immutable approval records, field-level history, role and row permissions, notifications, a report builder and an API. The critical discipline is that we have not forked it. Every change is a runtime patch that does nothing on Linux, so upstream security fixes still apply. The moment we fork, we own the framework's security patching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framework's standard install assumes Linux, internet access, a git clone from GitHub, MariaDB and several POSIX-only tools. None of that works in a locked-down enterprise network. This slide shows each constraint, what we did about it, and the evidence. The honest caveat is in the Windows row. The Windows code paths are covered by tests that simulate Windows, but the product has never run on an actual Windows machine. That is a Phase 2 exit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box is everything inside the secure zone: a browser-only client, a pure-Python web tier, one application codebase, background workers and a single scheduler, and PostgreSQL, Redis and private file storage. Permission evaluation happens on the server for every path, so a custom screen cannot widen access. On the right is everything outside the trust boundary: the AI service, the document editor and horizon-scanning hand-offs, mail by SMTP or Microsoft Graph, the identity provider and the file drop. Each is optional and connected from one administrator screen, and none of the 64 requirements depends on any of them. The one operational rule to remember: exactly one scheduler process, or every job runs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entity and field in the data model carries a provenance mark. S means specified in a source document. D means decided by a stakeholder after the fact, and binding. I means inferred: we needed it to satisfy a requirement, but nobody asked for it. Every I item is a review point and is listed with its consequences in the assumptions document. On the right: the logical model defines 114 entities, and the implementation has 144 across the four modules. Four structural decisions shape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is hybrid. People doing daily work use the portal. Administrators use the framework's workspace for roles, reference data, workflow configuration and the report builder, because rebuilding those screens is expensive and is where audit findings come from. Both call the same permission-checked API. The product is now white-labelled: the framework's name is gone from the interface, and an administrator sets the organisation's name, logo, colours and typeface in one record with no deployment. Out-of-scope framework features are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product owner's review, the header was rebuilt. The top row holds the brand, one search box, text size, theme and the user menu. The second row holds seven menus: Home, My work, Governance, Policies, Escalations, Insights and Admin. Each opens a panel of pages and ready-made filtered views, each with a line saying what it is for. Menus are filtered by role and read permission, so nobody is offered a dead end. Search reaches forums, policies and escalations from any page, through the same permission checks as the lists, so a confidential document or sensitive matter never appears to someone not cleared. Lists export to CSV, empty states say what to do next, and the menus work from the keyboard and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that connects to another system is on one screen, Admin, Integrations, for administrators only. The AI card takes an OpenAI-compatible endpoint and a key that is never shown back, and tests the connection through the same audited client the product uses. Doc AI is the organisation's document editor: Open in Doc AI checks access, logs the hand-off and sends only identifiers, never the file; until an address is set it explains that it is not connected yet. Horizon scanning is a link to the external platform with a configurable label. Mail goes by SMTP or, where servers may not speak SMTP, by Microsoft Graph with application credentials. Single sign-on shows the redirect address to give the identity team. Nothing here needs a code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walks through one journey using the demonstration organisation. Every record reference on these slides exists in the demonstration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storyline for the walkthrough. Six steps, each with the control that makes it defensible and a demonstration record you can open in the product. The next five slides take them in turn. The point to land is continuity: the forum formed in step one approves the policy in step three and receives the escalation in step four. In the audit step, all of that can be read back as it stood on any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A requester fills in the guided form. The governance office checks completeness, runs the overlap check against the existing inventory, and assesses the five criteria. Approval steps are raised from a configured route. The Approve button stays disabled, and lists what is outstanding, until every criterion is assessed and every step decided. A bypass needs a recorded exception authorised by the Head of Risk Governance. Approval creates the forum in Draft. An open charter challenge now blocks approval, and steps are decided in order. The honest gap that remains: the route cannot yet vary by forum type or materiality (G-8).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The Compliance Reviewer records a decision on the forum. Each decision is its own record and cannot be edited later. The important behaviour is the watched fields. When someone changes a designated field, such as the mandate, the forum drops back to Pending and compliance is notified. The list of watched fields is configuration, so compliance can change it without a release. The forum page also shows how the forum connects to its parent and child committees.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The policy lifecycle runs from Draft to Retired, and each move is limited to the role responsible for it. The important control is P-25, no publication without the full approval set. Lifecycle gates are configuration. Since the fix described in section D, they run on every phase change, whatever route it comes from. Reopened documents cannot reuse the previous cycle's approvals; that was a real defect we found and fixed. Every one of these actions is now on the policy page itself, POST-only, with the failing gate named before you act. A gate exception is approved by the policy office, never by the person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four and five together. The escalation matrix sets severity and the forum pathway from the facts of the matter, and records which rule fired. Clocks run against configured time limits. A breach raises the matter and notifies once. A defect that re-breached every day was found and fixed. Sensitive escalations are not just hidden on screen. They are excluded from every read path, including counts and the API. Closure needs both the closure record and the completed response template, and a confirmation. Matters are raised, worked, taken from a role or group queue, and closed on the portal; forums and matters can be reverted with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six is the reason the system exists: a year later, someone asks what happened. Membership is a dated record, so the forum as it stood on the day is a query. Votes are recorded per entitled voter, with quorum stored at the time. Document bodies are immutable versions with a hash. Refusals are logged. Be clear about what is not yet proven. The retention engine is built and tested, and a daily job flags records due for disposal, but no record on the demo site is under retention yet, and an approved disposal cannot yet be carried out from a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 is the evidence. Coverage is measured, not asserted. The tests are real runs. The defects and fixes are documented with regression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measurement, with the same method and classes as the 17 September baseline shown in the box. A requirement counts as fully reachable only if a user can reach it through a screen, or through configuration where that is the design. Policy moved most: from 3 fully reachable to 22 of 26, because every policy action is now on the portal and every notice is templated. The six class-d rows each miss one clause, named on the next slide. Several were re-graded downward on a stricter reading, not because code regressed.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tile is one requirement, coloured by its final measured class. The orange tiles each miss one clause. Two concern approval routing depth: the formation path by forum type or materiality (G-8), and policy approval reminders and group routing (P-8). One is the meeting-schedule and charter-review notices (G-14); every other notice now goes through an editable template. The rest are the first-quarter rule for the annual attestation (G-10), escalation transitions by type and severity (E-8), and a configurable approval chain for risk acceptance (E-9). The grey tiles are mostly two missing screens: carrying out an approved disposal, and outbound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of evidence. Application tests: 1453 run against a real PostgreSQL database on a clean site, and all pass. During the last round our own state-name checker caught one rule break in new code before release; that is what the checks are for. The interface sweep makes 302 checks across the portal, signed in and out, for dead links, missing assets and leftover framework branding. Eleven browser journeys drive a real browser, including the menus by keyboard, search and the phone layout. The toolchain has 57 tests, 22 of which simulate Windows. The chart shows how the suite grew at each point it was recorded. Every portal page now has its own page-context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lesson in the deck. Before we loaded realistic data, every test passed. That was true, and it was not enough. Tests exercise what engineers imagine. A realistic organisation exercises what users will actually do. The worst of the nine was a control failure: the workspace's own workflow menu could publish a policy with no approvals. Another reused the previous cycle's approvals. One was a PostgreSQL divergence that stopped any document being marked implemented. All are fixed, each with a regression test, and realistic-data runs are now part of how we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controls. First, publication approval. We found the workspace's workflow menu and direct API writes both skipped the gates. That is fixed: gates now run on every phase change. Three tests attempt each route, and the proper route still works. Second, sensitive escalations. These are excluded on every read path: lists, counts, search, reports and the API. A link to one reads the same as a link to nothing. Third, confidential documents. On 17 September the confidentiality flags were display-only, so anyone with read access could open and download a confidential document. That is now enforced on every path, attachments and version bodies included, with a view-only in-portal viewer. Thirty-two tests attack it through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proof of design principle one. An administrator added a Legal Review stage between Review and Approved on the policy lifecycle, entirely through configuration. First, the stage and its transitions were added in the workflow. Second, one flag row says what the stage means; without it the system refuses to move a document into the stage rather than guessing, and the refusal names the missing row. Third, the document moved into Legal Review, and the page's actions updated themselves. No code changed and nothing was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E is the honest list: what is missing, what we have deliberately not built, and what must be true before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backlog has been re-measured story by story after the final wave, with a strict definition of done: a user can reach the behaviour, and a passing test covers it. 151 of 191 are done, and nothing is in progress. Of the original 127 stories, 100 are done. The last round added eleven stories for the navigation and integrations work, eight of them done. The 39 partial stories fall into three groups. Deployment-readiness stories need the target environment or a Windows workstation. Some behaviour that exists has no automated test yet: theme, text size, table paging and the report builder. The rest are small product gaps, such as a campaign export or the violation's escalation link on the portal. The one story not started is the Windows workstation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maps the gaps found on 17 September to the workstream that closed them, with the final class. All seven workstreams and the third wave are complete, and each was measured on the final build. The box at the bottom lists what is still open. Each item is a single clause with a stated fix in the coverage document, and together they are the Phase 1 backlog on the roadmap. Every notice, the approval-step and disbandment notices included, now goes through an editable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now connected on the demonstration site, through an OpenAI-compatible provider configured in Admin, Integrations, and it works end to end. The Help assistant sits on every page. It answers from the illustrated guides, the glossary and the page's own description, cites where each answer comes from, and respects the asker's access. The analysis pages add AI commentary to rule-based results that stand on their own. The controls are unchanged: guidance-only by default, a classification ceiling, sensitive and restricted records never sent, and every request logged before it leaves. On the demo site that log shows twenty requests, all succeeded, all at Internal classification. For production the organisation chooses its own approved endpoint, or leaves AI off; nothing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is proven by running it, on an air-gapped Rocky Linux 9 server standing in for the target. Install, migration of the demonstration site, upgrade from the previous release, backup and restore, the service units, the scheduler and single sign-on against a mock provider all ran, and verify.sh passed 14 of 14. Right: what is still open. The largest unknown is the target's own PostgreSQL, because the framework calls its PostgreSQL support second-class in this version. The offline bundle must also be rebuilt from the final commit. None of the open items blocks building. All of them block going live. Most need decisions or access from people outside the engineering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places where being wrong is expensive, taken from our own assumptions register. Notice that none of them is an engineering question. Whether tamper-evidence is enough where the requirement says write-once is a risk judgement. What restricted handling must prevent is a question for the owner of the confidential-document standard. We would like named people to answer each one in the next few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 is the plan. Phases exit on evidence, not dates. Durations are ranges and will be re-baselined once the target environment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has three phases. Phase 1 closes the product: the six remaining single-clause gaps and the missing tests, then a final bundle from the final commit. Phase 2 can start as soon as the environment decision is taken and runs partly in parallel. It rebases onto framework v16, then rehearses migration, load and upgrade on the target, runs on real Windows hardware, and settles sign-on, certificates and service accounts. Phase 3 is pilot and go-live with the business owners. The bars show ranges: the solid part is the lower estimate, the lighter part the upper. The total is roughly 12 to 20 weeks from environment access, to be re-baselined after Phase 2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ownership model. The pattern is simple. Engineering builds and verifies. The infrastructure or deploying team owns the environment and runs the rehearsals with us. Information security owns sign-on and the AI boundary. The business owners, the risk governance office and the enterprise policy office, own the rules the engines run on and accept the product. Leadership is accountable for the two risk calls: the framework version and the AI position. Please challenge any row you disagree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register, ordered by severity. The first two are really one risk: the framework version we use treats PostgreSQL as second-class, and we have already found divergences between database backends. The mitigation is the rebase plus a proper rehearsal on the target. Write-once storage is high severity because it is a risk judgement nobody has made yet. Windows and the scheduler are medium and have simple mitigations. The dependency-substitution risk from the handover has been mitigated by the bundle builder, which verifies content rather than version strings.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prints a notice on every new site: PostgreSQL support is limited to v16 and above, and fixes for earlier versions will not be added. We have already found three or four database divergences ourselves, including one among this week's defects. Staying on v15 means every future PostgreSQL issue is ours to fix, without upstream help. Rebasing costs a few weeks of re-verification. Our porting work was written to be version-agnostic, and the rebase should happen before the target rehearsal, so that we rehearse what we will actually ship. The recommendation is to rebase.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asks. Five decisions, each with an owner and a date by which we need it. If these are taken today, Phase 2 can start as soon as the environment is available. We will report progress against the phase exit criteria, not against dates, and we will re-measure coverage with the same method at each phase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material for the pre-read.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trace. Every requirement has an entity and a surface. Fifty-four of the sixty-four need some application code. The traceability summary says 55, because it was written from an earlier pass; the requirement tables are authoritative. Only P-17 is satisfied purely by a stock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glossary.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largest test files in each module. The coverage matrix maps every test class to the requirements it proves. The final full run was 1453 tests on a clean site, all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demonstration organisation is fictitious and must never be loaded into production. It is realistic enough to exercise every state of every lifecycle, and that is what found the nine defects. It rebuilds from scratch in about 27 seconds. Personas are created with no password. A demonstrator issues random per-run passwords with deploy/demo_logins.py into a file outside the repository, so no password is ever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914400"/>
            <a:ext cx="5486400" cy="365760"/>
          </a:xfrm>
          <a:prstGeom prst="rect">
            <a:avLst/>
          </a:prstGeom>
          <a:noFill/>
          <a:ln/>
        </p:spPr>
        <p:txBody>
          <a:bodyPr wrap="square" lIns="0" tIns="0" rIns="0" bIns="0" rtlCol="0" anchor="ctr"/>
          <a:lstStyle/>
          <a:p>
            <a:pPr indent="0" marL="0">
              <a:buNone/>
            </a:pPr>
            <a:r>
              <a:rPr lang="en-US" sz="1400" b="1" spc="400" kern="0" dirty="0">
                <a:solidFill>
                  <a:srgbClr val="C8553D"/>
                </a:solidFill>
                <a:latin typeface="Calibri" pitchFamily="34" charset="0"/>
                <a:ea typeface="Calibri" pitchFamily="34" charset="-122"/>
                <a:cs typeface="Calibri" pitchFamily="34" charset="-120"/>
              </a:rPr>
              <a:t>CONSILIUM</a:t>
            </a:r>
            <a:endParaRPr lang="en-US" sz="1400" dirty="0"/>
          </a:p>
        </p:txBody>
      </p:sp>
      <p:sp>
        <p:nvSpPr>
          <p:cNvPr id="3" name="Text 1"/>
          <p:cNvSpPr txBox="1"/>
          <p:nvPr/>
        </p:nvSpPr>
        <p:spPr>
          <a:xfrm>
            <a:off x="457200" y="1417320"/>
            <a:ext cx="6766560" cy="20116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One platform for who decides, what the rules are, and what happens when something goes wrong</a:t>
            </a:r>
            <a:endParaRPr lang="en-US" sz="3400" dirty="0"/>
          </a:p>
        </p:txBody>
      </p:sp>
      <p:sp>
        <p:nvSpPr>
          <p:cNvPr id="4" name="Text 2"/>
          <p:cNvSpPr txBox="1"/>
          <p:nvPr/>
        </p:nvSpPr>
        <p:spPr>
          <a:xfrm>
            <a:off x="457200" y="3566160"/>
            <a:ext cx="6583680" cy="731520"/>
          </a:xfrm>
          <a:prstGeom prst="rect">
            <a:avLst/>
          </a:prstGeom>
          <a:noFill/>
          <a:ln/>
        </p:spPr>
        <p:txBody>
          <a:bodyPr wrap="square" lIns="0" tIns="0" rIns="0" bIns="0" rtlCol="0" anchor="t"/>
          <a:lstStyle/>
          <a:p>
            <a:pPr indent="0" marL="0">
              <a:buNone/>
            </a:pPr>
            <a:r>
              <a:rPr lang="en-US" sz="1800" dirty="0">
                <a:solidFill>
                  <a:srgbClr val="C9D3E3"/>
                </a:solidFill>
                <a:latin typeface="Calibri" pitchFamily="34" charset="0"/>
                <a:ea typeface="Calibri" pitchFamily="34" charset="-122"/>
                <a:cs typeface="Calibri" pitchFamily="34" charset="-120"/>
              </a:rPr>
              <a:t>What we built, what the evidence shows, and what it takes to reach production</a:t>
            </a:r>
            <a:endParaRPr lang="en-US" sz="1800" dirty="0"/>
          </a:p>
        </p:txBody>
      </p:sp>
      <p:sp>
        <p:nvSpPr>
          <p:cNvPr id="5" name="Text 3"/>
          <p:cNvSpPr txBox="1"/>
          <p:nvPr/>
        </p:nvSpPr>
        <p:spPr>
          <a:xfrm>
            <a:off x="457200" y="4846320"/>
            <a:ext cx="658368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Leadership briefing  ·  18 September 2026</a:t>
            </a:r>
            <a:endParaRPr lang="en-US" sz="1300" dirty="0"/>
          </a:p>
          <a:p>
            <a:pPr indent="0" marL="0">
              <a:buNone/>
            </a:pPr>
            <a:r>
              <a:rPr lang="en-US" sz="1300" dirty="0">
                <a:solidFill>
                  <a:srgbClr val="C9D3E3"/>
                </a:solidFill>
                <a:latin typeface="Calibri" pitchFamily="34" charset="0"/>
                <a:ea typeface="Calibri" pitchFamily="34" charset="-122"/>
                <a:cs typeface="Calibri" pitchFamily="34" charset="-120"/>
              </a:rPr>
              <a:t>Pre-read for decision. Release 1.0.0: every figure measured on the final build.</a:t>
            </a:r>
            <a:endParaRPr lang="en-US" sz="1300" dirty="0"/>
          </a:p>
        </p:txBody>
      </p:sp>
      <p:sp>
        <p:nvSpPr>
          <p:cNvPr id="6" name="Shape 4"/>
          <p:cNvSpPr/>
          <p:nvPr/>
        </p:nvSpPr>
        <p:spPr>
          <a:xfrm>
            <a:off x="7818120" y="1463040"/>
            <a:ext cx="1203960" cy="1737360"/>
          </a:xfrm>
          <a:prstGeom prst="rect">
            <a:avLst/>
          </a:prstGeom>
          <a:solidFill>
            <a:srgbClr val="2B3F66"/>
          </a:solidFill>
          <a:ln w="12700">
            <a:solidFill>
              <a:srgbClr val="4E6390"/>
            </a:solidFill>
            <a:prstDash val="solid"/>
          </a:ln>
        </p:spPr>
      </p:sp>
      <p:sp>
        <p:nvSpPr>
          <p:cNvPr id="7" name="Text 5"/>
          <p:cNvSpPr txBox="1"/>
          <p:nvPr/>
        </p:nvSpPr>
        <p:spPr>
          <a:xfrm>
            <a:off x="7818120" y="1600200"/>
            <a:ext cx="12039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Forums</a:t>
            </a:r>
            <a:endParaRPr lang="en-US" sz="1400" dirty="0"/>
          </a:p>
        </p:txBody>
      </p:sp>
      <p:sp>
        <p:nvSpPr>
          <p:cNvPr id="8" name="Text 6"/>
          <p:cNvSpPr txBox="1"/>
          <p:nvPr/>
        </p:nvSpPr>
        <p:spPr>
          <a:xfrm>
            <a:off x="7818120" y="2057400"/>
            <a:ext cx="1203960" cy="548640"/>
          </a:xfrm>
          <a:prstGeom prst="rect">
            <a:avLst/>
          </a:prstGeom>
          <a:noFill/>
          <a:ln/>
        </p:spPr>
        <p:txBody>
          <a:bodyPr wrap="square" lIns="635" tIns="635" rIns="635" bIns="635" rtlCol="0" anchor="t"/>
          <a:lstStyle/>
          <a:p>
            <a:pPr algn="ctr" indent="0" marL="0">
              <a:buNone/>
            </a:pPr>
            <a:r>
              <a:rPr lang="en-US" sz="1100" dirty="0">
                <a:solidFill>
                  <a:srgbClr val="C9D3E3"/>
                </a:solidFill>
                <a:latin typeface="Calibri" pitchFamily="34" charset="0"/>
                <a:ea typeface="Calibri" pitchFamily="34" charset="-122"/>
                <a:cs typeface="Calibri" pitchFamily="34" charset="-120"/>
              </a:rPr>
              <a:t>Who decides</a:t>
            </a:r>
            <a:endParaRPr lang="en-US" sz="1100" dirty="0"/>
          </a:p>
        </p:txBody>
      </p:sp>
      <p:sp>
        <p:nvSpPr>
          <p:cNvPr id="9" name="Text 7"/>
          <p:cNvSpPr txBox="1"/>
          <p:nvPr/>
        </p:nvSpPr>
        <p:spPr>
          <a:xfrm>
            <a:off x="7818120" y="2697480"/>
            <a:ext cx="1203960" cy="320040"/>
          </a:xfrm>
          <a:prstGeom prst="rect">
            <a:avLst/>
          </a:prstGeom>
          <a:noFill/>
          <a:ln/>
        </p:spPr>
        <p:txBody>
          <a:bodyPr wrap="square" lIns="0" tIns="0" rIns="0" bIns="0" rtlCol="0" anchor="ctr"/>
          <a:lstStyle/>
          <a:p>
            <a:pPr algn="ctr" indent="0" marL="0">
              <a:buNone/>
            </a:pPr>
            <a:r>
              <a:rPr lang="en-US" sz="1100" dirty="0">
                <a:solidFill>
                  <a:srgbClr val="C9D3E3"/>
                </a:solidFill>
                <a:latin typeface="Calibri" pitchFamily="34" charset="0"/>
                <a:ea typeface="Calibri" pitchFamily="34" charset="-122"/>
                <a:cs typeface="Calibri" pitchFamily="34" charset="-120"/>
              </a:rPr>
              <a:t>G-1…19</a:t>
            </a:r>
            <a:endParaRPr lang="en-US" sz="1100" dirty="0"/>
          </a:p>
        </p:txBody>
      </p:sp>
      <p:sp>
        <p:nvSpPr>
          <p:cNvPr id="10" name="Shape 8"/>
          <p:cNvSpPr/>
          <p:nvPr/>
        </p:nvSpPr>
        <p:spPr>
          <a:xfrm>
            <a:off x="9159240" y="1463040"/>
            <a:ext cx="1203960" cy="1737360"/>
          </a:xfrm>
          <a:prstGeom prst="rect">
            <a:avLst/>
          </a:prstGeom>
          <a:solidFill>
            <a:srgbClr val="2B3F66"/>
          </a:solidFill>
          <a:ln w="12700">
            <a:solidFill>
              <a:srgbClr val="4E6390"/>
            </a:solidFill>
            <a:prstDash val="solid"/>
          </a:ln>
        </p:spPr>
      </p:sp>
      <p:sp>
        <p:nvSpPr>
          <p:cNvPr id="11" name="Text 9"/>
          <p:cNvSpPr txBox="1"/>
          <p:nvPr/>
        </p:nvSpPr>
        <p:spPr>
          <a:xfrm>
            <a:off x="9159240" y="1600200"/>
            <a:ext cx="12039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Policy</a:t>
            </a:r>
            <a:endParaRPr lang="en-US" sz="1400" dirty="0"/>
          </a:p>
        </p:txBody>
      </p:sp>
      <p:sp>
        <p:nvSpPr>
          <p:cNvPr id="12" name="Text 10"/>
          <p:cNvSpPr txBox="1"/>
          <p:nvPr/>
        </p:nvSpPr>
        <p:spPr>
          <a:xfrm>
            <a:off x="9159240" y="2057400"/>
            <a:ext cx="1203960" cy="548640"/>
          </a:xfrm>
          <a:prstGeom prst="rect">
            <a:avLst/>
          </a:prstGeom>
          <a:noFill/>
          <a:ln/>
        </p:spPr>
        <p:txBody>
          <a:bodyPr wrap="square" lIns="635" tIns="635" rIns="635" bIns="635" rtlCol="0" anchor="t"/>
          <a:lstStyle/>
          <a:p>
            <a:pPr algn="ctr" indent="0" marL="0">
              <a:buNone/>
            </a:pPr>
            <a:r>
              <a:rPr lang="en-US" sz="1100" dirty="0">
                <a:solidFill>
                  <a:srgbClr val="C9D3E3"/>
                </a:solidFill>
                <a:latin typeface="Calibri" pitchFamily="34" charset="0"/>
                <a:ea typeface="Calibri" pitchFamily="34" charset="-122"/>
                <a:cs typeface="Calibri" pitchFamily="34" charset="-120"/>
              </a:rPr>
              <a:t>What the rules are</a:t>
            </a:r>
            <a:endParaRPr lang="en-US" sz="1100" dirty="0"/>
          </a:p>
        </p:txBody>
      </p:sp>
      <p:sp>
        <p:nvSpPr>
          <p:cNvPr id="13" name="Text 11"/>
          <p:cNvSpPr txBox="1"/>
          <p:nvPr/>
        </p:nvSpPr>
        <p:spPr>
          <a:xfrm>
            <a:off x="9159240" y="2697480"/>
            <a:ext cx="1203960" cy="320040"/>
          </a:xfrm>
          <a:prstGeom prst="rect">
            <a:avLst/>
          </a:prstGeom>
          <a:noFill/>
          <a:ln/>
        </p:spPr>
        <p:txBody>
          <a:bodyPr wrap="square" lIns="0" tIns="0" rIns="0" bIns="0" rtlCol="0" anchor="ctr"/>
          <a:lstStyle/>
          <a:p>
            <a:pPr algn="ctr" indent="0" marL="0">
              <a:buNone/>
            </a:pPr>
            <a:r>
              <a:rPr lang="en-US" sz="1100" dirty="0">
                <a:solidFill>
                  <a:srgbClr val="C9D3E3"/>
                </a:solidFill>
                <a:latin typeface="Calibri" pitchFamily="34" charset="0"/>
                <a:ea typeface="Calibri" pitchFamily="34" charset="-122"/>
                <a:cs typeface="Calibri" pitchFamily="34" charset="-120"/>
              </a:rPr>
              <a:t>P-1…26</a:t>
            </a:r>
            <a:endParaRPr lang="en-US" sz="1100" dirty="0"/>
          </a:p>
        </p:txBody>
      </p:sp>
      <p:sp>
        <p:nvSpPr>
          <p:cNvPr id="14" name="Shape 12"/>
          <p:cNvSpPr/>
          <p:nvPr/>
        </p:nvSpPr>
        <p:spPr>
          <a:xfrm>
            <a:off x="10500360" y="1463040"/>
            <a:ext cx="1203960" cy="1737360"/>
          </a:xfrm>
          <a:prstGeom prst="rect">
            <a:avLst/>
          </a:prstGeom>
          <a:solidFill>
            <a:srgbClr val="2B3F66"/>
          </a:solidFill>
          <a:ln w="12700">
            <a:solidFill>
              <a:srgbClr val="4E6390"/>
            </a:solidFill>
            <a:prstDash val="solid"/>
          </a:ln>
        </p:spPr>
      </p:sp>
      <p:sp>
        <p:nvSpPr>
          <p:cNvPr id="15" name="Text 13"/>
          <p:cNvSpPr txBox="1"/>
          <p:nvPr/>
        </p:nvSpPr>
        <p:spPr>
          <a:xfrm>
            <a:off x="10500360" y="1600200"/>
            <a:ext cx="12039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Escalation</a:t>
            </a:r>
            <a:endParaRPr lang="en-US" sz="1400" dirty="0"/>
          </a:p>
        </p:txBody>
      </p:sp>
      <p:sp>
        <p:nvSpPr>
          <p:cNvPr id="16" name="Text 14"/>
          <p:cNvSpPr txBox="1"/>
          <p:nvPr/>
        </p:nvSpPr>
        <p:spPr>
          <a:xfrm>
            <a:off x="10500360" y="2057400"/>
            <a:ext cx="1203960" cy="548640"/>
          </a:xfrm>
          <a:prstGeom prst="rect">
            <a:avLst/>
          </a:prstGeom>
          <a:noFill/>
          <a:ln/>
        </p:spPr>
        <p:txBody>
          <a:bodyPr wrap="square" lIns="635" tIns="635" rIns="635" bIns="635" rtlCol="0" anchor="t"/>
          <a:lstStyle/>
          <a:p>
            <a:pPr algn="ctr" indent="0" marL="0">
              <a:buNone/>
            </a:pPr>
            <a:r>
              <a:rPr lang="en-US" sz="1100" dirty="0">
                <a:solidFill>
                  <a:srgbClr val="C9D3E3"/>
                </a:solidFill>
                <a:latin typeface="Calibri" pitchFamily="34" charset="0"/>
                <a:ea typeface="Calibri" pitchFamily="34" charset="-122"/>
                <a:cs typeface="Calibri" pitchFamily="34" charset="-120"/>
              </a:rPr>
              <a:t>When things go wrong</a:t>
            </a:r>
            <a:endParaRPr lang="en-US" sz="1100" dirty="0"/>
          </a:p>
        </p:txBody>
      </p:sp>
      <p:sp>
        <p:nvSpPr>
          <p:cNvPr id="17" name="Text 15"/>
          <p:cNvSpPr txBox="1"/>
          <p:nvPr/>
        </p:nvSpPr>
        <p:spPr>
          <a:xfrm>
            <a:off x="10500360" y="2697480"/>
            <a:ext cx="1203960" cy="320040"/>
          </a:xfrm>
          <a:prstGeom prst="rect">
            <a:avLst/>
          </a:prstGeom>
          <a:noFill/>
          <a:ln/>
        </p:spPr>
        <p:txBody>
          <a:bodyPr wrap="square" lIns="0" tIns="0" rIns="0" bIns="0" rtlCol="0" anchor="ctr"/>
          <a:lstStyle/>
          <a:p>
            <a:pPr algn="ctr" indent="0" marL="0">
              <a:buNone/>
            </a:pPr>
            <a:r>
              <a:rPr lang="en-US" sz="1100" dirty="0">
                <a:solidFill>
                  <a:srgbClr val="C9D3E3"/>
                </a:solidFill>
                <a:latin typeface="Calibri" pitchFamily="34" charset="0"/>
                <a:ea typeface="Calibri" pitchFamily="34" charset="-122"/>
                <a:cs typeface="Calibri" pitchFamily="34" charset="-120"/>
              </a:rPr>
              <a:t>E-1…19</a:t>
            </a:r>
            <a:endParaRPr lang="en-US" sz="1100" dirty="0"/>
          </a:p>
        </p:txBody>
      </p:sp>
      <p:sp>
        <p:nvSpPr>
          <p:cNvPr id="18" name="Shape 16"/>
          <p:cNvSpPr/>
          <p:nvPr/>
        </p:nvSpPr>
        <p:spPr>
          <a:xfrm>
            <a:off x="7818120" y="3337560"/>
            <a:ext cx="3886200" cy="822960"/>
          </a:xfrm>
          <a:prstGeom prst="rect">
            <a:avLst/>
          </a:prstGeom>
          <a:solidFill>
            <a:srgbClr val="C8553D"/>
          </a:solidFill>
          <a:ln w="12700">
            <a:solidFill>
              <a:srgbClr val="C8553D"/>
            </a:solidFill>
            <a:prstDash val="solid"/>
          </a:ln>
        </p:spPr>
      </p:sp>
      <p:sp>
        <p:nvSpPr>
          <p:cNvPr id="19" name="Text 17"/>
          <p:cNvSpPr txBox="1"/>
          <p:nvPr/>
        </p:nvSpPr>
        <p:spPr>
          <a:xfrm>
            <a:off x="7818120" y="3337560"/>
            <a:ext cx="388620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Shared Core</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one data model · one permission model · one audit trail</a:t>
            </a:r>
            <a:endParaRPr lang="en-US" sz="1400" dirty="0"/>
          </a:p>
        </p:txBody>
      </p:sp>
      <p:sp>
        <p:nvSpPr>
          <p:cNvPr id="20" name="Text 18"/>
          <p:cNvSpPr txBox="1"/>
          <p:nvPr/>
        </p:nvSpPr>
        <p:spPr>
          <a:xfrm>
            <a:off x="7543800" y="4297680"/>
            <a:ext cx="4160520" cy="320040"/>
          </a:xfrm>
          <a:prstGeom prst="rect">
            <a:avLst/>
          </a:prstGeom>
          <a:noFill/>
          <a:ln/>
        </p:spPr>
        <p:txBody>
          <a:bodyPr wrap="square" lIns="0" tIns="0" rIns="0" bIns="0" rtlCol="0" anchor="ctr"/>
          <a:lstStyle/>
          <a:p>
            <a:pPr algn="ctr" indent="0" marL="0">
              <a:buNone/>
            </a:pPr>
            <a:r>
              <a:rPr lang="en-US" sz="1100" dirty="0">
                <a:solidFill>
                  <a:srgbClr val="C9D3E3"/>
                </a:solidFill>
                <a:latin typeface="Calibri" pitchFamily="34" charset="0"/>
                <a:ea typeface="Calibri" pitchFamily="34" charset="-122"/>
                <a:cs typeface="Calibri" pitchFamily="34" charset="-120"/>
              </a:rPr>
              <a:t>Offline install  ·  Windows and Linux  ·  PostgreSQL  ·  no per-seat licence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Consilium is built and credibly tested; reaching production now depends on rehearsal in the target environment and five leadership decisions</a:t>
            </a:r>
            <a:endParaRPr lang="en-US" sz="2200" dirty="0"/>
          </a:p>
        </p:txBody>
      </p:sp>
      <p:sp>
        <p:nvSpPr>
          <p:cNvPr id="3" name="Text 1"/>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docs/delivery/REQUIREMENTS-COVERAGE.md §1–2 (final measurement, 18 Sep 2026); docs/delivery/EPICS.md; docs/delivery/DEPLOYMENT-READINESS.md; HANDOVER.md §4, §7.</a:t>
            </a:r>
            <a:endParaRPr lang="en-US" sz="900" dirty="0"/>
          </a:p>
        </p:txBody>
      </p:sp>
      <p:sp>
        <p:nvSpPr>
          <p:cNvPr id="4" name="Text 2"/>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457200" y="1645920"/>
            <a:ext cx="310896" cy="310896"/>
          </a:xfrm>
          <a:prstGeom prst="ellipse">
            <a:avLst/>
          </a:prstGeom>
          <a:solidFill>
            <a:srgbClr val="C8553D"/>
          </a:solidFill>
          <a:ln w="12700">
            <a:solidFill>
              <a:srgbClr val="C8553D"/>
            </a:solidFill>
            <a:prstDash val="solid"/>
          </a:ln>
        </p:spPr>
      </p:sp>
      <p:sp>
        <p:nvSpPr>
          <p:cNvPr id="7" name="Text 4"/>
          <p:cNvSpPr txBox="1"/>
          <p:nvPr/>
        </p:nvSpPr>
        <p:spPr>
          <a:xfrm>
            <a:off x="457200" y="16459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914400" y="1600200"/>
            <a:ext cx="3017520" cy="1005840"/>
          </a:xfrm>
          <a:prstGeom prst="rect">
            <a:avLst/>
          </a:prstGeom>
          <a:noFill/>
          <a:ln/>
        </p:spPr>
        <p:txBody>
          <a:bodyPr wrap="square" lIns="0" tIns="0" rIns="0" bIns="0" rtlCol="0" anchor="t"/>
          <a:lstStyle/>
          <a:p>
            <a:pPr algn="l" indent="0" marL="0">
              <a:buNone/>
            </a:pPr>
            <a:r>
              <a:rPr lang="en-US" sz="1300" b="1" dirty="0">
                <a:solidFill>
                  <a:srgbClr val="14213D"/>
                </a:solidFill>
                <a:latin typeface="Calibri" pitchFamily="34" charset="0"/>
                <a:ea typeface="Calibri" pitchFamily="34" charset="-122"/>
                <a:cs typeface="Calibri" pitchFamily="34" charset="-120"/>
              </a:rPr>
              <a:t>We built one governance platform on infrastructure the organisation already runs.</a:t>
            </a:r>
            <a:endParaRPr lang="en-US" sz="1300" dirty="0"/>
          </a:p>
        </p:txBody>
      </p:sp>
      <p:sp>
        <p:nvSpPr>
          <p:cNvPr id="9" name="Text 6"/>
          <p:cNvSpPr txBox="1"/>
          <p:nvPr/>
        </p:nvSpPr>
        <p:spPr>
          <a:xfrm>
            <a:off x="4069080" y="1600200"/>
            <a:ext cx="4160520" cy="1024128"/>
          </a:xfrm>
          <a:prstGeom prst="rect">
            <a:avLst/>
          </a:prstGeom>
          <a:noFill/>
          <a:ln/>
        </p:spPr>
        <p:txBody>
          <a:bodyPr wrap="square" lIns="0" tIns="0" rIns="0" bIns="0" rtlCol="0" anchor="t"/>
          <a:lstStyle/>
          <a:p>
            <a:pPr algn="l" indent="0" marL="0">
              <a:buNone/>
            </a:pPr>
            <a:r>
              <a:rPr lang="en-US" sz="1150" dirty="0">
                <a:solidFill>
                  <a:srgbClr val="2A2F36"/>
                </a:solidFill>
                <a:latin typeface="Calibri" pitchFamily="34" charset="0"/>
                <a:ea typeface="Calibri" pitchFamily="34" charset="-122"/>
                <a:cs typeface="Calibri" pitchFamily="34" charset="-120"/>
              </a:rPr>
              <a:t>Forums, policy and escalation share one Core: </a:t>
            </a:r>
            <a:pPr algn="l" indent="0" marL="0">
              <a:buNone/>
            </a:pPr>
            <a:r>
              <a:rPr lang="en-US" sz="1150" b="1" dirty="0">
                <a:solidFill>
                  <a:srgbClr val="2A2F36"/>
                </a:solidFill>
                <a:latin typeface="Calibri" pitchFamily="34" charset="0"/>
                <a:ea typeface="Calibri" pitchFamily="34" charset="-122"/>
                <a:cs typeface="Calibri" pitchFamily="34" charset="-120"/>
              </a:rPr>
              <a:t>144 entities over 378 tables</a:t>
            </a:r>
            <a:pPr algn="l" indent="0" marL="0">
              <a:buNone/>
            </a:pPr>
            <a:r>
              <a:rPr lang="en-US" sz="1150" dirty="0">
                <a:solidFill>
                  <a:srgbClr val="2A2F36"/>
                </a:solidFill>
                <a:latin typeface="Calibri" pitchFamily="34" charset="0"/>
                <a:ea typeface="Calibri" pitchFamily="34" charset="-122"/>
                <a:cs typeface="Calibri" pitchFamily="34" charset="-120"/>
              </a:rPr>
              <a:t>. Installs with no internet access on Windows and Linux, on PostgreSQL. Open-source framework, </a:t>
            </a:r>
            <a:pPr algn="l" indent="0" marL="0">
              <a:buNone/>
            </a:pPr>
            <a:r>
              <a:rPr lang="en-US" sz="1150" b="1" dirty="0">
                <a:solidFill>
                  <a:srgbClr val="2A2F36"/>
                </a:solidFill>
                <a:latin typeface="Calibri" pitchFamily="34" charset="0"/>
                <a:ea typeface="Calibri" pitchFamily="34" charset="-122"/>
                <a:cs typeface="Calibri" pitchFamily="34" charset="-120"/>
              </a:rPr>
              <a:t>no per-seat licence</a:t>
            </a:r>
            <a:pPr algn="l" indent="0" marL="0">
              <a:buNone/>
            </a:pPr>
            <a:r>
              <a:rPr lang="en-US" sz="1150" dirty="0">
                <a:solidFill>
                  <a:srgbClr val="2A2F36"/>
                </a:solidFill>
                <a:latin typeface="Calibri" pitchFamily="34" charset="0"/>
                <a:ea typeface="Calibri" pitchFamily="34" charset="-122"/>
                <a:cs typeface="Calibri" pitchFamily="34" charset="-120"/>
              </a:rPr>
              <a:t>, not forked.</a:t>
            </a:r>
            <a:endParaRPr lang="en-US" sz="1150" dirty="0"/>
          </a:p>
        </p:txBody>
      </p:sp>
      <p:sp>
        <p:nvSpPr>
          <p:cNvPr id="10" name="Shape 7"/>
          <p:cNvSpPr/>
          <p:nvPr/>
        </p:nvSpPr>
        <p:spPr>
          <a:xfrm>
            <a:off x="914400" y="2697480"/>
            <a:ext cx="7315200" cy="0"/>
          </a:xfrm>
          <a:prstGeom prst="line">
            <a:avLst/>
          </a:prstGeom>
          <a:noFill/>
          <a:ln w="9525">
            <a:solidFill>
              <a:srgbClr val="D3D9E1"/>
            </a:solidFill>
            <a:prstDash val="solid"/>
          </a:ln>
        </p:spPr>
      </p:sp>
      <p:sp>
        <p:nvSpPr>
          <p:cNvPr id="11" name="Shape 8"/>
          <p:cNvSpPr/>
          <p:nvPr/>
        </p:nvSpPr>
        <p:spPr>
          <a:xfrm>
            <a:off x="457200" y="2816352"/>
            <a:ext cx="310896" cy="310896"/>
          </a:xfrm>
          <a:prstGeom prst="ellipse">
            <a:avLst/>
          </a:prstGeom>
          <a:solidFill>
            <a:srgbClr val="C8553D"/>
          </a:solidFill>
          <a:ln w="12700">
            <a:solidFill>
              <a:srgbClr val="C8553D"/>
            </a:solidFill>
            <a:prstDash val="solid"/>
          </a:ln>
        </p:spPr>
      </p:sp>
      <p:sp>
        <p:nvSpPr>
          <p:cNvPr id="12" name="Text 9"/>
          <p:cNvSpPr txBox="1"/>
          <p:nvPr/>
        </p:nvSpPr>
        <p:spPr>
          <a:xfrm>
            <a:off x="457200" y="28163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914400" y="2770632"/>
            <a:ext cx="3017520" cy="1005840"/>
          </a:xfrm>
          <a:prstGeom prst="rect">
            <a:avLst/>
          </a:prstGeom>
          <a:noFill/>
          <a:ln/>
        </p:spPr>
        <p:txBody>
          <a:bodyPr wrap="square" lIns="0" tIns="0" rIns="0" bIns="0" rtlCol="0" anchor="t"/>
          <a:lstStyle/>
          <a:p>
            <a:pPr algn="l" indent="0" marL="0">
              <a:buNone/>
            </a:pPr>
            <a:r>
              <a:rPr lang="en-US" sz="1300" b="1" dirty="0">
                <a:solidFill>
                  <a:srgbClr val="14213D"/>
                </a:solidFill>
                <a:latin typeface="Calibri" pitchFamily="34" charset="0"/>
                <a:ea typeface="Calibri" pitchFamily="34" charset="-122"/>
                <a:cs typeface="Calibri" pitchFamily="34" charset="-120"/>
              </a:rPr>
              <a:t>Coverage is measured, not asserted, and the final build closed most of the gaps.</a:t>
            </a:r>
            <a:endParaRPr lang="en-US" sz="1300" dirty="0"/>
          </a:p>
        </p:txBody>
      </p:sp>
      <p:sp>
        <p:nvSpPr>
          <p:cNvPr id="14" name="Text 11"/>
          <p:cNvSpPr txBox="1"/>
          <p:nvPr/>
        </p:nvSpPr>
        <p:spPr>
          <a:xfrm>
            <a:off x="4069080" y="2770632"/>
            <a:ext cx="4160520" cy="1024128"/>
          </a:xfrm>
          <a:prstGeom prst="rect">
            <a:avLst/>
          </a:prstGeom>
          <a:noFill/>
          <a:ln/>
        </p:spPr>
        <p:txBody>
          <a:bodyPr wrap="square" lIns="0" tIns="0" rIns="0" bIns="0" rtlCol="0" anchor="t"/>
          <a:lstStyle/>
          <a:p>
            <a:pPr algn="l" indent="0" marL="0">
              <a:buNone/>
            </a:pPr>
            <a:r>
              <a:rPr lang="en-US" sz="1150" dirty="0">
                <a:solidFill>
                  <a:srgbClr val="2A2F36"/>
                </a:solidFill>
                <a:latin typeface="Calibri" pitchFamily="34" charset="0"/>
                <a:ea typeface="Calibri" pitchFamily="34" charset="-122"/>
                <a:cs typeface="Calibri" pitchFamily="34" charset="-120"/>
              </a:rPr>
              <a:t>All </a:t>
            </a:r>
            <a:pPr algn="l" indent="0" marL="0">
              <a:buNone/>
            </a:pPr>
            <a:r>
              <a:rPr lang="en-US" sz="1150" b="1" dirty="0">
                <a:solidFill>
                  <a:srgbClr val="2A2F36"/>
                </a:solidFill>
                <a:latin typeface="Calibri" pitchFamily="34" charset="0"/>
                <a:ea typeface="Calibri" pitchFamily="34" charset="-122"/>
                <a:cs typeface="Calibri" pitchFamily="34" charset="-120"/>
              </a:rPr>
              <a:t>64</a:t>
            </a:r>
            <a:pPr algn="l" indent="0" marL="0">
              <a:buNone/>
            </a:pPr>
            <a:r>
              <a:rPr lang="en-US" sz="1150" dirty="0">
                <a:solidFill>
                  <a:srgbClr val="2A2F36"/>
                </a:solidFill>
                <a:latin typeface="Calibri" pitchFamily="34" charset="0"/>
                <a:ea typeface="Calibri" pitchFamily="34" charset="-122"/>
                <a:cs typeface="Calibri" pitchFamily="34" charset="-120"/>
              </a:rPr>
              <a:t> mandatory requirements re-measured on release 1.0.0: </a:t>
            </a:r>
            <a:pPr algn="l" indent="0" marL="0">
              <a:buNone/>
            </a:pPr>
            <a:r>
              <a:rPr lang="en-US" sz="1150" b="1" dirty="0">
                <a:solidFill>
                  <a:srgbClr val="2A2F36"/>
                </a:solidFill>
                <a:latin typeface="Calibri" pitchFamily="34" charset="0"/>
                <a:ea typeface="Calibri" pitchFamily="34" charset="-122"/>
                <a:cs typeface="Calibri" pitchFamily="34" charset="-120"/>
              </a:rPr>
              <a:t>49</a:t>
            </a:r>
            <a:pPr algn="l" indent="0" marL="0">
              <a:buNone/>
            </a:pPr>
            <a:r>
              <a:rPr lang="en-US" sz="1150" dirty="0">
                <a:solidFill>
                  <a:srgbClr val="2A2F36"/>
                </a:solidFill>
                <a:latin typeface="Calibri" pitchFamily="34" charset="0"/>
                <a:ea typeface="Calibri" pitchFamily="34" charset="-122"/>
                <a:cs typeface="Calibri" pitchFamily="34" charset="-120"/>
              </a:rPr>
              <a:t> fully reachable, </a:t>
            </a:r>
            <a:pPr algn="l" indent="0" marL="0">
              <a:buNone/>
            </a:pPr>
            <a:r>
              <a:rPr lang="en-US" sz="1150" b="1" dirty="0">
                <a:solidFill>
                  <a:srgbClr val="2A2F36"/>
                </a:solidFill>
                <a:latin typeface="Calibri" pitchFamily="34" charset="0"/>
                <a:ea typeface="Calibri" pitchFamily="34" charset="-122"/>
                <a:cs typeface="Calibri" pitchFamily="34" charset="-120"/>
              </a:rPr>
              <a:t>9</a:t>
            </a:r>
            <a:pPr algn="l" indent="0" marL="0">
              <a:buNone/>
            </a:pPr>
            <a:r>
              <a:rPr lang="en-US" sz="1150" dirty="0">
                <a:solidFill>
                  <a:srgbClr val="2A2F36"/>
                </a:solidFill>
                <a:latin typeface="Calibri" pitchFamily="34" charset="0"/>
                <a:ea typeface="Calibri" pitchFamily="34" charset="-122"/>
                <a:cs typeface="Calibri" pitchFamily="34" charset="-120"/>
              </a:rPr>
              <a:t> partly, </a:t>
            </a:r>
            <a:pPr algn="l" indent="0" marL="0">
              <a:buNone/>
            </a:pPr>
            <a:r>
              <a:rPr lang="en-US" sz="1150" b="1" dirty="0">
                <a:solidFill>
                  <a:srgbClr val="2A2F36"/>
                </a:solidFill>
                <a:latin typeface="Calibri" pitchFamily="34" charset="0"/>
                <a:ea typeface="Calibri" pitchFamily="34" charset="-122"/>
                <a:cs typeface="Calibri" pitchFamily="34" charset="-120"/>
              </a:rPr>
              <a:t>6</a:t>
            </a:r>
            <a:pPr algn="l" indent="0" marL="0">
              <a:buNone/>
            </a:pPr>
            <a:r>
              <a:rPr lang="en-US" sz="1150" dirty="0">
                <a:solidFill>
                  <a:srgbClr val="2A2F36"/>
                </a:solidFill>
                <a:latin typeface="Calibri" pitchFamily="34" charset="0"/>
                <a:ea typeface="Calibri" pitchFamily="34" charset="-122"/>
                <a:cs typeface="Calibri" pitchFamily="34" charset="-120"/>
              </a:rPr>
              <a:t> missing a mandatory clause. On 17 Sep it was 22 / 24 / 18. Of 191 backlog stories, </a:t>
            </a:r>
            <a:pPr algn="l" indent="0" marL="0">
              <a:buNone/>
            </a:pPr>
            <a:r>
              <a:rPr lang="en-US" sz="1150" b="1" dirty="0">
                <a:solidFill>
                  <a:srgbClr val="2A2F36"/>
                </a:solidFill>
                <a:latin typeface="Calibri" pitchFamily="34" charset="0"/>
                <a:ea typeface="Calibri" pitchFamily="34" charset="-122"/>
                <a:cs typeface="Calibri" pitchFamily="34" charset="-120"/>
              </a:rPr>
              <a:t>151</a:t>
            </a:r>
            <a:pPr algn="l" indent="0" marL="0">
              <a:buNone/>
            </a:pPr>
            <a:r>
              <a:rPr lang="en-US" sz="1150" dirty="0">
                <a:solidFill>
                  <a:srgbClr val="2A2F36"/>
                </a:solidFill>
                <a:latin typeface="Calibri" pitchFamily="34" charset="0"/>
                <a:ea typeface="Calibri" pitchFamily="34" charset="-122"/>
                <a:cs typeface="Calibri" pitchFamily="34" charset="-120"/>
              </a:rPr>
              <a:t> are done and none is in progress.</a:t>
            </a:r>
            <a:endParaRPr lang="en-US" sz="1150" dirty="0"/>
          </a:p>
        </p:txBody>
      </p:sp>
      <p:sp>
        <p:nvSpPr>
          <p:cNvPr id="15" name="Shape 12"/>
          <p:cNvSpPr/>
          <p:nvPr/>
        </p:nvSpPr>
        <p:spPr>
          <a:xfrm>
            <a:off x="914400" y="3867912"/>
            <a:ext cx="7315200" cy="0"/>
          </a:xfrm>
          <a:prstGeom prst="line">
            <a:avLst/>
          </a:prstGeom>
          <a:noFill/>
          <a:ln w="9525">
            <a:solidFill>
              <a:srgbClr val="D3D9E1"/>
            </a:solidFill>
            <a:prstDash val="solid"/>
          </a:ln>
        </p:spPr>
      </p:sp>
      <p:sp>
        <p:nvSpPr>
          <p:cNvPr id="16" name="Shape 13"/>
          <p:cNvSpPr/>
          <p:nvPr/>
        </p:nvSpPr>
        <p:spPr>
          <a:xfrm>
            <a:off x="457200" y="3986784"/>
            <a:ext cx="310896" cy="310896"/>
          </a:xfrm>
          <a:prstGeom prst="ellipse">
            <a:avLst/>
          </a:prstGeom>
          <a:solidFill>
            <a:srgbClr val="C8553D"/>
          </a:solidFill>
          <a:ln w="12700">
            <a:solidFill>
              <a:srgbClr val="C8553D"/>
            </a:solidFill>
            <a:prstDash val="solid"/>
          </a:ln>
        </p:spPr>
      </p:sp>
      <p:sp>
        <p:nvSpPr>
          <p:cNvPr id="17" name="Text 14"/>
          <p:cNvSpPr txBox="1"/>
          <p:nvPr/>
        </p:nvSpPr>
        <p:spPr>
          <a:xfrm>
            <a:off x="457200" y="39867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5"/>
          <p:cNvSpPr txBox="1"/>
          <p:nvPr/>
        </p:nvSpPr>
        <p:spPr>
          <a:xfrm>
            <a:off x="914400" y="3941064"/>
            <a:ext cx="3017520" cy="1005840"/>
          </a:xfrm>
          <a:prstGeom prst="rect">
            <a:avLst/>
          </a:prstGeom>
          <a:noFill/>
          <a:ln/>
        </p:spPr>
        <p:txBody>
          <a:bodyPr wrap="square" lIns="0" tIns="0" rIns="0" bIns="0" rtlCol="0" anchor="t"/>
          <a:lstStyle/>
          <a:p>
            <a:pPr algn="l" indent="0" marL="0">
              <a:buNone/>
            </a:pPr>
            <a:r>
              <a:rPr lang="en-US" sz="1300" b="1" dirty="0">
                <a:solidFill>
                  <a:srgbClr val="14213D"/>
                </a:solidFill>
                <a:latin typeface="Calibri" pitchFamily="34" charset="0"/>
                <a:ea typeface="Calibri" pitchFamily="34" charset="-122"/>
                <a:cs typeface="Calibri" pitchFamily="34" charset="-120"/>
              </a:rPr>
              <a:t>Quality evidence is strong, and realistic data made it stronger.</a:t>
            </a:r>
            <a:endParaRPr lang="en-US" sz="1300" dirty="0"/>
          </a:p>
        </p:txBody>
      </p:sp>
      <p:sp>
        <p:nvSpPr>
          <p:cNvPr id="19" name="Text 16"/>
          <p:cNvSpPr txBox="1"/>
          <p:nvPr/>
        </p:nvSpPr>
        <p:spPr>
          <a:xfrm>
            <a:off x="4069080" y="3941064"/>
            <a:ext cx="4160520" cy="1024128"/>
          </a:xfrm>
          <a:prstGeom prst="rect">
            <a:avLst/>
          </a:prstGeom>
          <a:noFill/>
          <a:ln/>
        </p:spPr>
        <p:txBody>
          <a:bodyPr wrap="square" lIns="0" tIns="0" rIns="0" bIns="0" rtlCol="0" anchor="t"/>
          <a:lstStyle/>
          <a:p>
            <a:pPr algn="l" indent="0" marL="0">
              <a:buNone/>
            </a:pPr>
            <a:r>
              <a:rPr lang="en-US" sz="1150" b="1" dirty="0">
                <a:solidFill>
                  <a:srgbClr val="2A2F36"/>
                </a:solidFill>
                <a:latin typeface="Calibri" pitchFamily="34" charset="0"/>
                <a:ea typeface="Calibri" pitchFamily="34" charset="-122"/>
                <a:cs typeface="Calibri" pitchFamily="34" charset="-120"/>
              </a:rPr>
              <a:t>1453 of 1453</a:t>
            </a:r>
            <a:pPr algn="l" indent="0" marL="0">
              <a:buNone/>
            </a:pPr>
            <a:r>
              <a:rPr lang="en-US" sz="1150" dirty="0">
                <a:solidFill>
                  <a:srgbClr val="2A2F36"/>
                </a:solidFill>
                <a:latin typeface="Calibri" pitchFamily="34" charset="0"/>
                <a:ea typeface="Calibri" pitchFamily="34" charset="-122"/>
                <a:cs typeface="Calibri" pitchFamily="34" charset="-120"/>
              </a:rPr>
              <a:t> automated tests pass on a clean site. </a:t>
            </a:r>
            <a:pPr algn="l" indent="0" marL="0">
              <a:buNone/>
            </a:pPr>
            <a:r>
              <a:rPr lang="en-US" sz="1150" b="1" dirty="0">
                <a:solidFill>
                  <a:srgbClr val="2A2F36"/>
                </a:solidFill>
                <a:latin typeface="Calibri" pitchFamily="34" charset="0"/>
                <a:ea typeface="Calibri" pitchFamily="34" charset="-122"/>
                <a:cs typeface="Calibri" pitchFamily="34" charset="-120"/>
              </a:rPr>
              <a:t>302/302</a:t>
            </a:r>
            <a:pPr algn="l" indent="0" marL="0">
              <a:buNone/>
            </a:pPr>
            <a:r>
              <a:rPr lang="en-US" sz="1150" dirty="0">
                <a:solidFill>
                  <a:srgbClr val="2A2F36"/>
                </a:solidFill>
                <a:latin typeface="Calibri" pitchFamily="34" charset="0"/>
                <a:ea typeface="Calibri" pitchFamily="34" charset="-122"/>
                <a:cs typeface="Calibri" pitchFamily="34" charset="-120"/>
              </a:rPr>
              <a:t> interface checks and </a:t>
            </a:r>
            <a:pPr algn="l" indent="0" marL="0">
              <a:buNone/>
            </a:pPr>
            <a:r>
              <a:rPr lang="en-US" sz="1150" b="1" dirty="0">
                <a:solidFill>
                  <a:srgbClr val="2A2F36"/>
                </a:solidFill>
                <a:latin typeface="Calibri" pitchFamily="34" charset="0"/>
                <a:ea typeface="Calibri" pitchFamily="34" charset="-122"/>
                <a:cs typeface="Calibri" pitchFamily="34" charset="-120"/>
              </a:rPr>
              <a:t>11/11</a:t>
            </a:r>
            <a:pPr algn="l" indent="0" marL="0">
              <a:buNone/>
            </a:pPr>
            <a:r>
              <a:rPr lang="en-US" sz="1150" dirty="0">
                <a:solidFill>
                  <a:srgbClr val="2A2F36"/>
                </a:solidFill>
                <a:latin typeface="Calibri" pitchFamily="34" charset="0"/>
                <a:ea typeface="Calibri" pitchFamily="34" charset="-122"/>
                <a:cs typeface="Calibri" pitchFamily="34" charset="-120"/>
              </a:rPr>
              <a:t> browser journeys pass. A realistic demonstration organisation exposed </a:t>
            </a:r>
            <a:pPr algn="l" indent="0" marL="0">
              <a:buNone/>
            </a:pPr>
            <a:r>
              <a:rPr lang="en-US" sz="1150" b="1" dirty="0">
                <a:solidFill>
                  <a:srgbClr val="2A2F36"/>
                </a:solidFill>
                <a:latin typeface="Calibri" pitchFamily="34" charset="0"/>
                <a:ea typeface="Calibri" pitchFamily="34" charset="-122"/>
                <a:cs typeface="Calibri" pitchFamily="34" charset="-120"/>
              </a:rPr>
              <a:t>9 defects</a:t>
            </a:r>
            <a:pPr algn="l" indent="0" marL="0">
              <a:buNone/>
            </a:pPr>
            <a:r>
              <a:rPr lang="en-US" sz="1150" dirty="0">
                <a:solidFill>
                  <a:srgbClr val="2A2F36"/>
                </a:solidFill>
                <a:latin typeface="Calibri" pitchFamily="34" charset="0"/>
                <a:ea typeface="Calibri" pitchFamily="34" charset="-122"/>
                <a:cs typeface="Calibri" pitchFamily="34" charset="-120"/>
              </a:rPr>
              <a:t>, including a publication-approval bypass. All are fixed, with </a:t>
            </a:r>
            <a:pPr algn="l" indent="0" marL="0">
              <a:buNone/>
            </a:pPr>
            <a:r>
              <a:rPr lang="en-US" sz="1150" b="1" dirty="0">
                <a:solidFill>
                  <a:srgbClr val="2A2F36"/>
                </a:solidFill>
                <a:latin typeface="Calibri" pitchFamily="34" charset="0"/>
                <a:ea typeface="Calibri" pitchFamily="34" charset="-122"/>
                <a:cs typeface="Calibri" pitchFamily="34" charset="-120"/>
              </a:rPr>
              <a:t>21</a:t>
            </a:r>
            <a:pPr algn="l" indent="0" marL="0">
              <a:buNone/>
            </a:pPr>
            <a:r>
              <a:rPr lang="en-US" sz="1150" dirty="0">
                <a:solidFill>
                  <a:srgbClr val="2A2F36"/>
                </a:solidFill>
                <a:latin typeface="Calibri" pitchFamily="34" charset="0"/>
                <a:ea typeface="Calibri" pitchFamily="34" charset="-122"/>
                <a:cs typeface="Calibri" pitchFamily="34" charset="-120"/>
              </a:rPr>
              <a:t> regression tests.</a:t>
            </a:r>
            <a:endParaRPr lang="en-US" sz="1150" dirty="0"/>
          </a:p>
        </p:txBody>
      </p:sp>
      <p:sp>
        <p:nvSpPr>
          <p:cNvPr id="20" name="Shape 17"/>
          <p:cNvSpPr/>
          <p:nvPr/>
        </p:nvSpPr>
        <p:spPr>
          <a:xfrm>
            <a:off x="914400" y="5038344"/>
            <a:ext cx="7315200" cy="0"/>
          </a:xfrm>
          <a:prstGeom prst="line">
            <a:avLst/>
          </a:prstGeom>
          <a:noFill/>
          <a:ln w="9525">
            <a:solidFill>
              <a:srgbClr val="D3D9E1"/>
            </a:solidFill>
            <a:prstDash val="solid"/>
          </a:ln>
        </p:spPr>
      </p:sp>
      <p:sp>
        <p:nvSpPr>
          <p:cNvPr id="21" name="Shape 18"/>
          <p:cNvSpPr/>
          <p:nvPr/>
        </p:nvSpPr>
        <p:spPr>
          <a:xfrm>
            <a:off x="457200" y="5157216"/>
            <a:ext cx="310896" cy="310896"/>
          </a:xfrm>
          <a:prstGeom prst="ellipse">
            <a:avLst/>
          </a:prstGeom>
          <a:solidFill>
            <a:srgbClr val="C8553D"/>
          </a:solidFill>
          <a:ln w="12700">
            <a:solidFill>
              <a:srgbClr val="C8553D"/>
            </a:solidFill>
            <a:prstDash val="solid"/>
          </a:ln>
        </p:spPr>
      </p:sp>
      <p:sp>
        <p:nvSpPr>
          <p:cNvPr id="22" name="Text 19"/>
          <p:cNvSpPr txBox="1"/>
          <p:nvPr/>
        </p:nvSpPr>
        <p:spPr>
          <a:xfrm>
            <a:off x="457200" y="51572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0"/>
          <p:cNvSpPr txBox="1"/>
          <p:nvPr/>
        </p:nvSpPr>
        <p:spPr>
          <a:xfrm>
            <a:off x="914400" y="5111496"/>
            <a:ext cx="3017520" cy="1005840"/>
          </a:xfrm>
          <a:prstGeom prst="rect">
            <a:avLst/>
          </a:prstGeom>
          <a:noFill/>
          <a:ln/>
        </p:spPr>
        <p:txBody>
          <a:bodyPr wrap="square" lIns="0" tIns="0" rIns="0" bIns="0" rtlCol="0" anchor="t"/>
          <a:lstStyle/>
          <a:p>
            <a:pPr algn="l" indent="0" marL="0">
              <a:buNone/>
            </a:pPr>
            <a:r>
              <a:rPr lang="en-US" sz="1300" b="1" dirty="0">
                <a:solidFill>
                  <a:srgbClr val="14213D"/>
                </a:solidFill>
                <a:latin typeface="Calibri" pitchFamily="34" charset="0"/>
                <a:ea typeface="Calibri" pitchFamily="34" charset="-122"/>
                <a:cs typeface="Calibri" pitchFamily="34" charset="-120"/>
              </a:rPr>
              <a:t>What remains before go-live is mainly environment work, not design.</a:t>
            </a:r>
            <a:endParaRPr lang="en-US" sz="1300" dirty="0"/>
          </a:p>
        </p:txBody>
      </p:sp>
      <p:sp>
        <p:nvSpPr>
          <p:cNvPr id="24" name="Text 21"/>
          <p:cNvSpPr txBox="1"/>
          <p:nvPr/>
        </p:nvSpPr>
        <p:spPr>
          <a:xfrm>
            <a:off x="4069080" y="5111496"/>
            <a:ext cx="4160520" cy="1024128"/>
          </a:xfrm>
          <a:prstGeom prst="rect">
            <a:avLst/>
          </a:prstGeom>
          <a:noFill/>
          <a:ln/>
        </p:spPr>
        <p:txBody>
          <a:bodyPr wrap="square" lIns="0" tIns="0" rIns="0" bIns="0" rtlCol="0" anchor="t"/>
          <a:lstStyle/>
          <a:p>
            <a:pPr algn="l" indent="0" marL="0">
              <a:buNone/>
            </a:pPr>
            <a:r>
              <a:rPr lang="en-US" sz="1150" dirty="0">
                <a:solidFill>
                  <a:srgbClr val="2A2F36"/>
                </a:solidFill>
                <a:latin typeface="Calibri" pitchFamily="34" charset="0"/>
                <a:ea typeface="Calibri" pitchFamily="34" charset="-122"/>
                <a:cs typeface="Calibri" pitchFamily="34" charset="-120"/>
              </a:rPr>
              <a:t>Install, migration and upgrade are rehearsed air-gapped on Rocky Linux 9 (</a:t>
            </a:r>
            <a:pPr algn="l" indent="0" marL="0">
              <a:buNone/>
            </a:pPr>
            <a:r>
              <a:rPr lang="en-US" sz="1150" b="1" dirty="0">
                <a:solidFill>
                  <a:srgbClr val="2A2F36"/>
                </a:solidFill>
                <a:latin typeface="Calibri" pitchFamily="34" charset="0"/>
                <a:ea typeface="Calibri" pitchFamily="34" charset="-122"/>
                <a:cs typeface="Calibri" pitchFamily="34" charset="-120"/>
              </a:rPr>
              <a:t>verify 14/14</a:t>
            </a:r>
            <a:pPr algn="l" indent="0" marL="0">
              <a:buNone/>
            </a:pPr>
            <a:r>
              <a:rPr lang="en-US" sz="1150" dirty="0">
                <a:solidFill>
                  <a:srgbClr val="2A2F36"/>
                </a:solidFill>
                <a:latin typeface="Calibri" pitchFamily="34" charset="0"/>
                <a:ea typeface="Calibri" pitchFamily="34" charset="-122"/>
                <a:cs typeface="Calibri" pitchFamily="34" charset="-120"/>
              </a:rPr>
              <a:t>). Still open: the target itself, certificates, sign-on, SMTP, load and a real Windows run. The framework version we use (v15) treats PostgreSQL as second-class.</a:t>
            </a:r>
            <a:endParaRPr lang="en-US" sz="1150" dirty="0"/>
          </a:p>
        </p:txBody>
      </p:sp>
      <p:sp>
        <p:nvSpPr>
          <p:cNvPr id="25" name="Shape 22"/>
          <p:cNvSpPr/>
          <p:nvPr/>
        </p:nvSpPr>
        <p:spPr>
          <a:xfrm>
            <a:off x="8549640" y="1600200"/>
            <a:ext cx="3182112" cy="4526280"/>
          </a:xfrm>
          <a:prstGeom prst="rect">
            <a:avLst/>
          </a:prstGeom>
          <a:solidFill>
            <a:srgbClr val="14213D"/>
          </a:solidFill>
          <a:ln w="12700">
            <a:solidFill>
              <a:srgbClr val="14213D"/>
            </a:solidFill>
            <a:prstDash val="solid"/>
          </a:ln>
        </p:spPr>
      </p:sp>
      <p:sp>
        <p:nvSpPr>
          <p:cNvPr id="26" name="Text 23"/>
          <p:cNvSpPr txBox="1"/>
          <p:nvPr/>
        </p:nvSpPr>
        <p:spPr>
          <a:xfrm>
            <a:off x="8778240" y="1783080"/>
            <a:ext cx="2788920" cy="4206240"/>
          </a:xfrm>
          <a:prstGeom prst="rect">
            <a:avLst/>
          </a:prstGeom>
          <a:noFill/>
          <a:ln/>
        </p:spPr>
        <p:txBody>
          <a:bodyPr wrap="square" lIns="0" tIns="0" rIns="0" bIns="0" rtlCol="0" anchor="t"/>
          <a:lstStyle/>
          <a:p>
            <a:pPr algn="l" indent="0" marL="0">
              <a:spcAft>
                <a:spcPts val="800"/>
              </a:spcAft>
              <a:buNone/>
            </a:pPr>
            <a:r>
              <a:rPr lang="en-US" sz="1100" b="1" dirty="0">
                <a:solidFill>
                  <a:srgbClr val="C8553D"/>
                </a:solidFill>
                <a:latin typeface="Calibri" pitchFamily="34" charset="0"/>
                <a:ea typeface="Calibri" pitchFamily="34" charset="-122"/>
                <a:cs typeface="Calibri" pitchFamily="34" charset="-120"/>
              </a:rPr>
              <a:t>RECOMMENDATION</a:t>
            </a:r>
            <a:endParaRPr lang="en-US" sz="1100" dirty="0"/>
          </a:p>
          <a:p>
            <a:pPr algn="l" indent="0" marL="0">
              <a:spcAft>
                <a:spcPts val="800"/>
              </a:spcAft>
              <a:buNone/>
            </a:pPr>
            <a:r>
              <a:rPr lang="en-US" sz="1300" b="1" dirty="0">
                <a:solidFill>
                  <a:srgbClr val="FFFFFF"/>
                </a:solidFill>
                <a:latin typeface="Calibri" pitchFamily="34" charset="0"/>
                <a:ea typeface="Calibri" pitchFamily="34" charset="-122"/>
                <a:cs typeface="Calibri" pitchFamily="34" charset="-120"/>
              </a:rPr>
              <a:t>Approve the move to target-environment rehearsal, gated on evidence:</a:t>
            </a:r>
            <a:endParaRPr lang="en-US" sz="1100" dirty="0"/>
          </a:p>
          <a:p>
            <a:pPr algn="l" marL="177800" indent="-1778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Rebase onto framework v16 before go-live</a:t>
            </a:r>
            <a:endParaRPr lang="en-US" sz="1100" dirty="0"/>
          </a:p>
          <a:p>
            <a:pPr algn="l" marL="177800" indent="-1778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Provide the target environment and name its infrastructure owners</a:t>
            </a:r>
            <a:endParaRPr lang="en-US" sz="1100" dirty="0"/>
          </a:p>
          <a:p>
            <a:pPr algn="l" marL="177800" indent="-1778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Confirm the single sign-on protocol</a:t>
            </a:r>
            <a:endParaRPr lang="en-US" sz="1100" dirty="0"/>
          </a:p>
          <a:p>
            <a:pPr algn="l" marL="177800" indent="-1778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Name business owners for rules and reference data</a:t>
            </a:r>
            <a:endParaRPr lang="en-US" sz="1100" dirty="0"/>
          </a:p>
          <a:p>
            <a:pPr algn="l" marL="177800" indent="-1778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Approve an AI endpoint and data boundary, or leave AI off: nothing depends on it</a:t>
            </a:r>
            <a:endParaRPr lang="en-US" sz="1100" dirty="0"/>
          </a:p>
          <a:p>
            <a:pPr algn="l" indent="0" marL="0">
              <a:spcAft>
                <a:spcPts val="400"/>
              </a:spcAft>
              <a:buNone/>
            </a:pPr>
            <a:r>
              <a:rPr lang="en-US" sz="1100" i="1" dirty="0">
                <a:solidFill>
                  <a:srgbClr val="C9D3E3"/>
                </a:solidFill>
                <a:latin typeface="Calibri" pitchFamily="34" charset="0"/>
                <a:ea typeface="Calibri" pitchFamily="34" charset="-122"/>
                <a:cs typeface="Calibri" pitchFamily="34" charset="-120"/>
              </a:rPr>
              <a:t>Go-live is conditional on the exit criteria on slide 40, not on a date.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We ask for five decisions today; each one removes a named blocker on the path to production</a:t>
            </a:r>
            <a:endParaRPr lang="en-US" sz="2200" dirty="0"/>
          </a:p>
        </p:txBody>
      </p:sp>
      <p:sp>
        <p:nvSpPr>
          <p:cNvPr id="3" name="Text 1"/>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HANDOVER.md §7–8; docs/product/07-assumptions-and-gaps.md A-1–A-4, B-1, B-4–B-6; docs/product/01-requirements-baseline.md App. A; docs/delivery/DEPLOYMENT-READINESS.md. Owners are a proposal for confirmation.</a:t>
            </a:r>
            <a:endParaRPr lang="en-US" sz="900" dirty="0"/>
          </a:p>
        </p:txBody>
      </p:sp>
      <p:sp>
        <p:nvSpPr>
          <p:cNvPr id="4" name="Text 2"/>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7295" cy="914400"/>
        </p:xfrm>
        <a:graphic>
          <a:graphicData uri="http://schemas.openxmlformats.org/drawingml/2006/table">
            <a:tbl>
              <a:tblPr/>
              <a:tblGrid>
                <a:gridCol w="411480"/>
                <a:gridCol w="2514600"/>
                <a:gridCol w="4206240"/>
                <a:gridCol w="2286000"/>
                <a:gridCol w="1856232"/>
              </a:tblGrid>
              <a:tr h="3657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 it is needed now</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Recommendation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Proposed owner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804672">
                <a:tc>
                  <a:txBody>
                    <a:bodyPr/>
                    <a:lstStyle/>
                    <a:p>
                      <a:pPr algn="ctr" indent="0" marL="0">
                        <a:buNone/>
                      </a:pPr>
                      <a:r>
                        <a:rPr lang="en-US" sz="1150" b="1" dirty="0">
                          <a:solidFill>
                            <a:srgbClr val="2A2F36"/>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Framework version:</a:t>
                      </a:r>
                      <a:pPr algn="l" indent="0" marL="0">
                        <a:buNone/>
                      </a:pPr>
                      <a:r>
                        <a:rPr lang="en-US" sz="1150" dirty="0">
                          <a:solidFill>
                            <a:srgbClr val="2A2F36"/>
                          </a:solidFill>
                          <a:latin typeface="Calibri" pitchFamily="34" charset="0"/>
                          <a:ea typeface="Calibri" pitchFamily="34" charset="-122"/>
                          <a:cs typeface="Calibri" pitchFamily="34" charset="-120"/>
                        </a:rPr>
                        <a:t> rebase onto v16 before go-live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In v15 the framework calls its PostgreSQL support limited and says fixes for earlier versions will not be added. Our porting work carries over to v16 unchanged.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Approve</a:t>
                      </a:r>
                      <a:pPr algn="l" indent="0" marL="0">
                        <a:buNone/>
                      </a:pPr>
                      <a:r>
                        <a:rPr lang="en-US" sz="1150" dirty="0">
                          <a:solidFill>
                            <a:srgbClr val="2A2F36"/>
                          </a:solidFill>
                          <a:latin typeface="Calibri" pitchFamily="34" charset="0"/>
                          <a:ea typeface="Calibri" pitchFamily="34" charset="-122"/>
                          <a:cs typeface="Calibri" pitchFamily="34" charset="-120"/>
                        </a:rPr>
                        <a:t> the rebase before target rehearsal</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Executive sponsor, with engineering lead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804672">
                <a:tc>
                  <a:txBody>
                    <a:bodyPr/>
                    <a:lstStyle/>
                    <a:p>
                      <a:pPr algn="ctr" indent="0" marL="0">
                        <a:buNone/>
                      </a:pPr>
                      <a:r>
                        <a:rPr lang="en-US" sz="1150" b="1" dirty="0">
                          <a:solidFill>
                            <a:srgbClr val="2A2F36"/>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Target environment:</a:t>
                      </a:r>
                      <a:pPr algn="l" indent="0" marL="0">
                        <a:buNone/>
                      </a:pPr>
                      <a:r>
                        <a:rPr lang="en-US" sz="1150" dirty="0">
                          <a:solidFill>
                            <a:srgbClr val="2A2F36"/>
                          </a:solidFill>
                          <a:latin typeface="Calibri" pitchFamily="34" charset="0"/>
                          <a:ea typeface="Calibri" pitchFamily="34" charset="-122"/>
                          <a:cs typeface="Calibri" pitchFamily="34" charset="-120"/>
                        </a:rPr>
                        <a:t> provide it and name its infrastructure owners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Migration, upgrade and load can only be rehearsed on the target. Certificates, ports, service accounts, the mail route (SMTP relay or Microsoft Graph app registration), write-once storage and backup ownership are all undecided.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Approve</a:t>
                      </a:r>
                      <a:pPr algn="l" indent="0" marL="0">
                        <a:buNone/>
                      </a:pPr>
                      <a:r>
                        <a:rPr lang="en-US" sz="1150" dirty="0">
                          <a:solidFill>
                            <a:srgbClr val="2A2F36"/>
                          </a:solidFill>
                          <a:latin typeface="Calibri" pitchFamily="34" charset="0"/>
                          <a:ea typeface="Calibri" pitchFamily="34" charset="-122"/>
                          <a:cs typeface="Calibri" pitchFamily="34" charset="-120"/>
                        </a:rPr>
                        <a:t> access; name one infrastructure owner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Infrastructure lead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731520">
                <a:tc>
                  <a:txBody>
                    <a:bodyPr/>
                    <a:lstStyle/>
                    <a:p>
                      <a:pPr algn="ctr" indent="0" marL="0">
                        <a:buNone/>
                      </a:pPr>
                      <a:r>
                        <a:rPr lang="en-US" sz="1150" b="1" dirty="0">
                          <a:solidFill>
                            <a:srgbClr val="2A2F36"/>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Single sign-on:</a:t>
                      </a:r>
                      <a:pPr algn="l" indent="0" marL="0">
                        <a:buNone/>
                      </a:pPr>
                      <a:r>
                        <a:rPr lang="en-US" sz="1150" dirty="0">
                          <a:solidFill>
                            <a:srgbClr val="2A2F36"/>
                          </a:solidFill>
                          <a:latin typeface="Calibri" pitchFamily="34" charset="0"/>
                          <a:ea typeface="Calibri" pitchFamily="34" charset="-122"/>
                          <a:cs typeface="Calibri" pitchFamily="34" charset="-120"/>
                        </a:rPr>
                        <a:t> confirm the protocol</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LDAP and OIDC are configuration. SAML does not exist in the framework, so it would be a separate build with its own estimate.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Confirm</a:t>
                      </a:r>
                      <a:pPr algn="l" indent="0" marL="0">
                        <a:buNone/>
                      </a:pPr>
                      <a:r>
                        <a:rPr lang="en-US" sz="1150" dirty="0">
                          <a:solidFill>
                            <a:srgbClr val="2A2F36"/>
                          </a:solidFill>
                          <a:latin typeface="Calibri" pitchFamily="34" charset="0"/>
                          <a:ea typeface="Calibri" pitchFamily="34" charset="-122"/>
                          <a:cs typeface="Calibri" pitchFamily="34" charset="-120"/>
                        </a:rPr>
                        <a:t> LDAP or OIDC if possible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Information security</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868680">
                <a:tc>
                  <a:txBody>
                    <a:bodyPr/>
                    <a:lstStyle/>
                    <a:p>
                      <a:pPr algn="ctr" indent="0" marL="0">
                        <a:buNone/>
                      </a:pPr>
                      <a:r>
                        <a:rPr lang="en-US" sz="1150" b="1" dirty="0">
                          <a:solidFill>
                            <a:srgbClr val="2A2F3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Business rules:</a:t>
                      </a:r>
                      <a:pPr algn="l" indent="0" marL="0">
                        <a:buNone/>
                      </a:pPr>
                      <a:r>
                        <a:rPr lang="en-US" sz="1150" dirty="0">
                          <a:solidFill>
                            <a:srgbClr val="2A2F36"/>
                          </a:solidFill>
                          <a:latin typeface="Calibri" pitchFamily="34" charset="0"/>
                          <a:ea typeface="Calibri" pitchFamily="34" charset="-122"/>
                          <a:cs typeface="Calibri" pitchFamily="34" charset="-120"/>
                        </a:rPr>
                        <a:t> name owners for rules and reference data</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The engines are built but run on data nobody has supplied yet: major/minor classification rules, real taxonomy values, escalation closure criteria, and a regulatory-change file sample.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Name</a:t>
                      </a:r>
                      <a:pPr algn="l" indent="0" marL="0">
                        <a:buNone/>
                      </a:pPr>
                      <a:r>
                        <a:rPr lang="en-US" sz="1150" dirty="0">
                          <a:solidFill>
                            <a:srgbClr val="2A2F36"/>
                          </a:solidFill>
                          <a:latin typeface="Calibri" pitchFamily="34" charset="0"/>
                          <a:ea typeface="Calibri" pitchFamily="34" charset="-122"/>
                          <a:cs typeface="Calibri" pitchFamily="34" charset="-120"/>
                        </a:rPr>
                        <a:t> owners in the governance and policy offices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Business sponsors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804672">
                <a:tc>
                  <a:txBody>
                    <a:bodyPr/>
                    <a:lstStyle/>
                    <a:p>
                      <a:pPr algn="ctr" indent="0" marL="0">
                        <a:buNone/>
                      </a:pPr>
                      <a:r>
                        <a:rPr lang="en-US" sz="1150" b="1" dirty="0">
                          <a:solidFill>
                            <a:srgbClr val="2A2F3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AI position:</a:t>
                      </a:r>
                      <a:pPr algn="l" indent="0" marL="0">
                        <a:buNone/>
                      </a:pPr>
                      <a:r>
                        <a:rPr lang="en-US" sz="1150" dirty="0">
                          <a:solidFill>
                            <a:srgbClr val="2A2F36"/>
                          </a:solidFill>
                          <a:latin typeface="Calibri" pitchFamily="34" charset="0"/>
                          <a:ea typeface="Calibri" pitchFamily="34" charset="-122"/>
                          <a:cs typeface="Calibri" pitchFamily="34" charset="-120"/>
                        </a:rPr>
                        <a:t> approve an endpoint, or leave it off</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Tested end to end with an OpenAI-compatible provider. Every analysis also works with AI off. Production needs an approved endpoint, an outbound path and a data boundary.</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Approve</a:t>
                      </a:r>
                      <a:pPr algn="l" indent="0" marL="0">
                        <a:buNone/>
                      </a:pPr>
                      <a:r>
                        <a:rPr lang="en-US" sz="1150" dirty="0">
                          <a:solidFill>
                            <a:srgbClr val="2A2F36"/>
                          </a:solidFill>
                          <a:latin typeface="Calibri" pitchFamily="34" charset="0"/>
                          <a:ea typeface="Calibri" pitchFamily="34" charset="-122"/>
                          <a:cs typeface="Calibri" pitchFamily="34" charset="-120"/>
                        </a:rPr>
                        <a:t> an endpoint and ceiling, or keep AI off</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Executive sponsor, with security</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1417320"/>
            <a:ext cx="2011680" cy="2011680"/>
          </a:xfrm>
          <a:prstGeom prst="rect">
            <a:avLst/>
          </a:prstGeom>
          <a:noFill/>
          <a:ln/>
        </p:spPr>
        <p:txBody>
          <a:bodyPr wrap="square" lIns="0" tIns="0" rIns="0" bIns="0" rtlCol="0" anchor="t"/>
          <a:lstStyle/>
          <a:p>
            <a:pPr indent="0" marL="0">
              <a:buNone/>
            </a:pPr>
            <a:r>
              <a:rPr lang="en-US" sz="15000" b="1" dirty="0">
                <a:solidFill>
                  <a:srgbClr val="C8553D"/>
                </a:solidFill>
                <a:latin typeface="Calibri" pitchFamily="34" charset="0"/>
                <a:ea typeface="Calibri" pitchFamily="34" charset="-122"/>
                <a:cs typeface="Calibri" pitchFamily="34" charset="-120"/>
              </a:rPr>
              <a:t>A</a:t>
            </a:r>
            <a:endParaRPr lang="en-US" sz="15000" dirty="0"/>
          </a:p>
        </p:txBody>
      </p:sp>
      <p:sp>
        <p:nvSpPr>
          <p:cNvPr id="3" name="Text 1"/>
          <p:cNvSpPr txBox="1"/>
          <p:nvPr/>
        </p:nvSpPr>
        <p:spPr>
          <a:xfrm>
            <a:off x="2743200" y="1828800"/>
            <a:ext cx="8686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Why this exists</a:t>
            </a:r>
            <a:endParaRPr lang="en-US" sz="3600" dirty="0"/>
          </a:p>
        </p:txBody>
      </p:sp>
      <p:sp>
        <p:nvSpPr>
          <p:cNvPr id="4" name="Text 2"/>
          <p:cNvSpPr txBox="1"/>
          <p:nvPr/>
        </p:nvSpPr>
        <p:spPr>
          <a:xfrm>
            <a:off x="2743200" y="2697480"/>
            <a:ext cx="8503920" cy="1097280"/>
          </a:xfrm>
          <a:prstGeom prst="rect">
            <a:avLst/>
          </a:prstGeom>
          <a:noFill/>
          <a:ln/>
        </p:spPr>
        <p:txBody>
          <a:bodyPr wrap="square" lIns="0" tIns="0" rIns="0" bIns="0" rtlCol="0" anchor="t"/>
          <a:lstStyle/>
          <a:p>
            <a:pPr indent="0" marL="0">
              <a:buNone/>
            </a:pPr>
            <a:r>
              <a:rPr lang="en-US" sz="1800" dirty="0">
                <a:solidFill>
                  <a:srgbClr val="C9D3E3"/>
                </a:solidFill>
                <a:latin typeface="Calibri" pitchFamily="34" charset="0"/>
                <a:ea typeface="Calibri" pitchFamily="34" charset="-122"/>
                <a:cs typeface="Calibri" pitchFamily="34" charset="-120"/>
              </a:rPr>
              <a:t>Three governance questions, and the evidence they must produce</a:t>
            </a:r>
            <a:endParaRPr lang="en-US" sz="1800" dirty="0"/>
          </a:p>
        </p:txBody>
      </p:sp>
      <p:sp>
        <p:nvSpPr>
          <p:cNvPr id="5" name="Text 3"/>
          <p:cNvSpPr txBox="1"/>
          <p:nvPr/>
        </p:nvSpPr>
        <p:spPr>
          <a:xfrm>
            <a:off x="457200" y="5394960"/>
            <a:ext cx="1788109"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A  </a:t>
            </a:r>
            <a:pPr indent="0" marL="0">
              <a:buNone/>
            </a:pPr>
            <a:r>
              <a:rPr lang="en-US" sz="1200" b="1" dirty="0">
                <a:solidFill>
                  <a:srgbClr val="FFFFFF"/>
                </a:solidFill>
                <a:latin typeface="Calibri" pitchFamily="34" charset="0"/>
                <a:ea typeface="Calibri" pitchFamily="34" charset="-122"/>
                <a:cs typeface="Calibri" pitchFamily="34" charset="-120"/>
              </a:rPr>
              <a:t>Why this exists</a:t>
            </a:r>
            <a:endParaRPr lang="en-US" sz="1200" dirty="0"/>
          </a:p>
        </p:txBody>
      </p:sp>
      <p:sp>
        <p:nvSpPr>
          <p:cNvPr id="6" name="Shape 4"/>
          <p:cNvSpPr/>
          <p:nvPr/>
        </p:nvSpPr>
        <p:spPr>
          <a:xfrm>
            <a:off x="457200" y="5303520"/>
            <a:ext cx="1742389" cy="36576"/>
          </a:xfrm>
          <a:prstGeom prst="rect">
            <a:avLst/>
          </a:prstGeom>
          <a:solidFill>
            <a:srgbClr val="C8553D"/>
          </a:solidFill>
          <a:ln w="12700">
            <a:solidFill>
              <a:srgbClr val="C8553D"/>
            </a:solidFill>
            <a:prstDash val="solid"/>
          </a:ln>
        </p:spPr>
      </p:sp>
      <p:sp>
        <p:nvSpPr>
          <p:cNvPr id="7" name="Text 5"/>
          <p:cNvSpPr txBox="1"/>
          <p:nvPr/>
        </p:nvSpPr>
        <p:spPr>
          <a:xfrm>
            <a:off x="2336749"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B  </a:t>
            </a:r>
            <a:pPr indent="0" marL="0">
              <a:buNone/>
            </a:pPr>
            <a:r>
              <a:rPr lang="en-US" sz="1200" dirty="0">
                <a:solidFill>
                  <a:srgbClr val="8391A8"/>
                </a:solidFill>
                <a:latin typeface="Calibri" pitchFamily="34" charset="0"/>
                <a:ea typeface="Calibri" pitchFamily="34" charset="-122"/>
                <a:cs typeface="Calibri" pitchFamily="34" charset="-120"/>
              </a:rPr>
              <a:t>What we built</a:t>
            </a:r>
            <a:endParaRPr lang="en-US" sz="1200" dirty="0"/>
          </a:p>
        </p:txBody>
      </p:sp>
      <p:sp>
        <p:nvSpPr>
          <p:cNvPr id="8" name="Shape 6"/>
          <p:cNvSpPr/>
          <p:nvPr/>
        </p:nvSpPr>
        <p:spPr>
          <a:xfrm>
            <a:off x="2336749" y="5303520"/>
            <a:ext cx="1742389" cy="36576"/>
          </a:xfrm>
          <a:prstGeom prst="rect">
            <a:avLst/>
          </a:prstGeom>
          <a:solidFill>
            <a:srgbClr val="3A4A6A"/>
          </a:solidFill>
          <a:ln w="12700">
            <a:solidFill>
              <a:srgbClr val="3A4A6A"/>
            </a:solidFill>
            <a:prstDash val="solid"/>
          </a:ln>
        </p:spPr>
      </p:sp>
      <p:sp>
        <p:nvSpPr>
          <p:cNvPr id="9" name="Text 7"/>
          <p:cNvSpPr txBox="1"/>
          <p:nvPr/>
        </p:nvSpPr>
        <p:spPr>
          <a:xfrm>
            <a:off x="4216298"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C  </a:t>
            </a:r>
            <a:pPr indent="0" marL="0">
              <a:buNone/>
            </a:pPr>
            <a:r>
              <a:rPr lang="en-US" sz="1200" dirty="0">
                <a:solidFill>
                  <a:srgbClr val="8391A8"/>
                </a:solidFill>
                <a:latin typeface="Calibri" pitchFamily="34" charset="0"/>
                <a:ea typeface="Calibri" pitchFamily="34" charset="-122"/>
                <a:cs typeface="Calibri" pitchFamily="34" charset="-120"/>
              </a:rPr>
              <a:t>How it works</a:t>
            </a:r>
            <a:endParaRPr lang="en-US" sz="1200" dirty="0"/>
          </a:p>
        </p:txBody>
      </p:sp>
      <p:sp>
        <p:nvSpPr>
          <p:cNvPr id="10" name="Shape 8"/>
          <p:cNvSpPr/>
          <p:nvPr/>
        </p:nvSpPr>
        <p:spPr>
          <a:xfrm>
            <a:off x="4216298" y="5303520"/>
            <a:ext cx="1742389" cy="36576"/>
          </a:xfrm>
          <a:prstGeom prst="rect">
            <a:avLst/>
          </a:prstGeom>
          <a:solidFill>
            <a:srgbClr val="3A4A6A"/>
          </a:solidFill>
          <a:ln w="12700">
            <a:solidFill>
              <a:srgbClr val="3A4A6A"/>
            </a:solidFill>
            <a:prstDash val="solid"/>
          </a:ln>
        </p:spPr>
      </p:sp>
      <p:sp>
        <p:nvSpPr>
          <p:cNvPr id="11" name="Text 9"/>
          <p:cNvSpPr txBox="1"/>
          <p:nvPr/>
        </p:nvSpPr>
        <p:spPr>
          <a:xfrm>
            <a:off x="6095848"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D  </a:t>
            </a:r>
            <a:pPr indent="0" marL="0">
              <a:buNone/>
            </a:pPr>
            <a:r>
              <a:rPr lang="en-US" sz="1200" dirty="0">
                <a:solidFill>
                  <a:srgbClr val="8391A8"/>
                </a:solidFill>
                <a:latin typeface="Calibri" pitchFamily="34" charset="0"/>
                <a:ea typeface="Calibri" pitchFamily="34" charset="-122"/>
                <a:cs typeface="Calibri" pitchFamily="34" charset="-120"/>
              </a:rPr>
              <a:t>Evidence</a:t>
            </a:r>
            <a:endParaRPr lang="en-US" sz="1200" dirty="0"/>
          </a:p>
        </p:txBody>
      </p:sp>
      <p:sp>
        <p:nvSpPr>
          <p:cNvPr id="12" name="Shape 10"/>
          <p:cNvSpPr/>
          <p:nvPr/>
        </p:nvSpPr>
        <p:spPr>
          <a:xfrm>
            <a:off x="6095848" y="5303520"/>
            <a:ext cx="1742389" cy="36576"/>
          </a:xfrm>
          <a:prstGeom prst="rect">
            <a:avLst/>
          </a:prstGeom>
          <a:solidFill>
            <a:srgbClr val="3A4A6A"/>
          </a:solidFill>
          <a:ln w="12700">
            <a:solidFill>
              <a:srgbClr val="3A4A6A"/>
            </a:solidFill>
            <a:prstDash val="solid"/>
          </a:ln>
        </p:spPr>
      </p:sp>
      <p:sp>
        <p:nvSpPr>
          <p:cNvPr id="13" name="Text 11"/>
          <p:cNvSpPr txBox="1"/>
          <p:nvPr/>
        </p:nvSpPr>
        <p:spPr>
          <a:xfrm>
            <a:off x="7975397"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E  </a:t>
            </a:r>
            <a:pPr indent="0" marL="0">
              <a:buNone/>
            </a:pPr>
            <a:r>
              <a:rPr lang="en-US" sz="1200" dirty="0">
                <a:solidFill>
                  <a:srgbClr val="8391A8"/>
                </a:solidFill>
                <a:latin typeface="Calibri" pitchFamily="34" charset="0"/>
                <a:ea typeface="Calibri" pitchFamily="34" charset="-122"/>
                <a:cs typeface="Calibri" pitchFamily="34" charset="-120"/>
              </a:rPr>
              <a:t>What is not done</a:t>
            </a:r>
            <a:endParaRPr lang="en-US" sz="1200" dirty="0"/>
          </a:p>
        </p:txBody>
      </p:sp>
      <p:sp>
        <p:nvSpPr>
          <p:cNvPr id="14" name="Shape 12"/>
          <p:cNvSpPr/>
          <p:nvPr/>
        </p:nvSpPr>
        <p:spPr>
          <a:xfrm>
            <a:off x="7975397" y="5303520"/>
            <a:ext cx="1742389" cy="36576"/>
          </a:xfrm>
          <a:prstGeom prst="rect">
            <a:avLst/>
          </a:prstGeom>
          <a:solidFill>
            <a:srgbClr val="3A4A6A"/>
          </a:solidFill>
          <a:ln w="12700">
            <a:solidFill>
              <a:srgbClr val="3A4A6A"/>
            </a:solidFill>
            <a:prstDash val="solid"/>
          </a:ln>
        </p:spPr>
      </p:sp>
      <p:sp>
        <p:nvSpPr>
          <p:cNvPr id="15" name="Text 13"/>
          <p:cNvSpPr txBox="1"/>
          <p:nvPr/>
        </p:nvSpPr>
        <p:spPr>
          <a:xfrm>
            <a:off x="9854946"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F  </a:t>
            </a:r>
            <a:pPr indent="0" marL="0">
              <a:buNone/>
            </a:pPr>
            <a:r>
              <a:rPr lang="en-US" sz="1200" dirty="0">
                <a:solidFill>
                  <a:srgbClr val="8391A8"/>
                </a:solidFill>
                <a:latin typeface="Calibri" pitchFamily="34" charset="0"/>
                <a:ea typeface="Calibri" pitchFamily="34" charset="-122"/>
                <a:cs typeface="Calibri" pitchFamily="34" charset="-120"/>
              </a:rPr>
              <a:t>Road to production</a:t>
            </a:r>
            <a:endParaRPr lang="en-US" sz="1200" dirty="0"/>
          </a:p>
        </p:txBody>
      </p:sp>
      <p:sp>
        <p:nvSpPr>
          <p:cNvPr id="16" name="Shape 14"/>
          <p:cNvSpPr/>
          <p:nvPr/>
        </p:nvSpPr>
        <p:spPr>
          <a:xfrm>
            <a:off x="9854946" y="5303520"/>
            <a:ext cx="1742389" cy="36576"/>
          </a:xfrm>
          <a:prstGeom prst="rect">
            <a:avLst/>
          </a:prstGeom>
          <a:solidFill>
            <a:srgbClr val="3A4A6A"/>
          </a:solidFill>
          <a:ln w="12700">
            <a:solidFill>
              <a:srgbClr val="3A4A6A"/>
            </a:solidFill>
            <a:prstDash val="solid"/>
          </a:ln>
        </p:spPr>
      </p:sp>
      <p:sp>
        <p:nvSpPr>
          <p:cNvPr id="17" name="Text 15"/>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C9D3E3"/>
                </a:solidFill>
                <a:latin typeface="Calibri" pitchFamily="34" charset="0"/>
                <a:ea typeface="Calibri" pitchFamily="34" charset="-122"/>
                <a:cs typeface="Calibri" pitchFamily="34" charset="-120"/>
              </a:rPr>
              <a:t>Consilium  |  </a:t>
            </a:r>
            <a:pPr algn="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A  ·  WHY THIS EXISTS</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Governance comes down to three questions. Consilium answers each one in a single place, on a shared Core</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 docs/product/01-requirements-baseline.md §3 and Appendices A–B (64 mandatory requirements, all marked Mandatory in the source; 7 supplementary O-1…O-7 brought into scope); HANDOVER.md §0.</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5</a:t>
            </a:r>
            <a:endParaRPr lang="en-US" sz="900" dirty="0"/>
          </a:p>
        </p:txBody>
      </p:sp>
      <p:sp>
        <p:nvSpPr>
          <p:cNvPr id="7" name="Text 4"/>
          <p:cNvSpPr txBox="1"/>
          <p:nvPr/>
        </p:nvSpPr>
        <p:spPr>
          <a:xfrm>
            <a:off x="457200" y="1600200"/>
            <a:ext cx="3576218" cy="548640"/>
          </a:xfrm>
          <a:prstGeom prst="rect">
            <a:avLst/>
          </a:prstGeom>
          <a:noFill/>
          <a:ln/>
        </p:spPr>
        <p:txBody>
          <a:bodyPr wrap="square" lIns="0" tIns="0" rIns="0" bIns="0" rtlCol="0" anchor="b"/>
          <a:lstStyle/>
          <a:p>
            <a:pPr algn="l" indent="0" marL="0">
              <a:buNone/>
            </a:pPr>
            <a:r>
              <a:rPr lang="en-US" sz="1500" b="1" dirty="0">
                <a:solidFill>
                  <a:srgbClr val="C8553D"/>
                </a:solidFill>
                <a:latin typeface="Calibri" pitchFamily="34" charset="0"/>
                <a:ea typeface="Calibri" pitchFamily="34" charset="-122"/>
                <a:cs typeface="Calibri" pitchFamily="34" charset="-120"/>
              </a:rPr>
              <a:t>Who decides?</a:t>
            </a:r>
            <a:endParaRPr lang="en-US" sz="1500" dirty="0"/>
          </a:p>
        </p:txBody>
      </p:sp>
      <p:sp>
        <p:nvSpPr>
          <p:cNvPr id="8" name="Shape 5"/>
          <p:cNvSpPr/>
          <p:nvPr/>
        </p:nvSpPr>
        <p:spPr>
          <a:xfrm>
            <a:off x="457200" y="2240280"/>
            <a:ext cx="3576218" cy="3017520"/>
          </a:xfrm>
          <a:prstGeom prst="rect">
            <a:avLst/>
          </a:prstGeom>
          <a:solidFill>
            <a:srgbClr val="F2F4F7"/>
          </a:solidFill>
          <a:ln w="12700">
            <a:solidFill>
              <a:srgbClr val="F2F4F7"/>
            </a:solidFill>
            <a:prstDash val="solid"/>
          </a:ln>
        </p:spPr>
      </p:sp>
      <p:sp>
        <p:nvSpPr>
          <p:cNvPr id="9" name="Text 6"/>
          <p:cNvSpPr txBox="1"/>
          <p:nvPr/>
        </p:nvSpPr>
        <p:spPr>
          <a:xfrm>
            <a:off x="685800" y="2377440"/>
            <a:ext cx="3119018" cy="822960"/>
          </a:xfrm>
          <a:prstGeom prst="rect">
            <a:avLst/>
          </a:prstGeom>
          <a:noFill/>
          <a:ln/>
        </p:spPr>
        <p:txBody>
          <a:bodyPr wrap="square" lIns="0" tIns="0" rIns="0" bIns="0" rtlCol="0" anchor="t"/>
          <a:lstStyle/>
          <a:p>
            <a:pPr algn="l" indent="0" marL="0">
              <a:spcAft>
                <a:spcPts val="200"/>
              </a:spcAft>
              <a:buNone/>
            </a:pPr>
            <a:r>
              <a:rPr lang="en-US" sz="1800" b="1" dirty="0">
                <a:solidFill>
                  <a:srgbClr val="14213D"/>
                </a:solidFill>
                <a:latin typeface="Calibri" pitchFamily="34" charset="0"/>
                <a:ea typeface="Calibri" pitchFamily="34" charset="-122"/>
                <a:cs typeface="Calibri" pitchFamily="34" charset="-120"/>
              </a:rPr>
              <a:t>Governance forums</a:t>
            </a:r>
            <a:endParaRPr lang="en-US" sz="1800" dirty="0"/>
          </a:p>
          <a:p>
            <a:pPr algn="l" indent="0" marL="0">
              <a:spcAft>
                <a:spcPts val="1000"/>
              </a:spcAft>
              <a:buNone/>
            </a:pPr>
            <a:r>
              <a:rPr lang="en-US" sz="1100" dirty="0">
                <a:solidFill>
                  <a:srgbClr val="6B7380"/>
                </a:solidFill>
                <a:latin typeface="Calibri" pitchFamily="34" charset="0"/>
                <a:ea typeface="Calibri" pitchFamily="34" charset="-122"/>
                <a:cs typeface="Calibri" pitchFamily="34" charset="-120"/>
              </a:rPr>
              <a:t>19 mandatory requirements  ·  G-1 … G-19</a:t>
            </a:r>
            <a:endParaRPr lang="en-US" sz="1800" dirty="0"/>
          </a:p>
        </p:txBody>
      </p:sp>
      <p:sp>
        <p:nvSpPr>
          <p:cNvPr id="10" name="Text 7"/>
          <p:cNvSpPr txBox="1"/>
          <p:nvPr/>
        </p:nvSpPr>
        <p:spPr>
          <a:xfrm>
            <a:off x="685800" y="3154680"/>
            <a:ext cx="3119018" cy="2057400"/>
          </a:xfrm>
          <a:prstGeom prst="rect">
            <a:avLst/>
          </a:prstGeom>
          <a:noFill/>
          <a:ln/>
        </p:spPr>
        <p:txBody>
          <a:bodyPr wrap="square" lIns="0" tIns="0" rIns="0" bIns="0" rtlCol="0" anchor="t"/>
          <a:lstStyle/>
          <a:p>
            <a:pPr algn="l" marL="177800" indent="-177800">
              <a:spcAft>
                <a:spcPts val="800"/>
              </a:spcAft>
              <a:buSzPct val="100000"/>
              <a:buChar char="•"/>
            </a:pPr>
            <a:r>
              <a:rPr lang="en-US" sz="1350" dirty="0">
                <a:solidFill>
                  <a:srgbClr val="2A2F36"/>
                </a:solidFill>
                <a:latin typeface="Calibri" pitchFamily="34" charset="0"/>
                <a:ea typeface="Calibri" pitchFamily="34" charset="-122"/>
                <a:cs typeface="Calibri" pitchFamily="34" charset="-120"/>
              </a:rPr>
              <a:t>Inventory of boards, committees, councils, working groups</a:t>
            </a:r>
            <a:endParaRPr lang="en-US" sz="1350" dirty="0"/>
          </a:p>
          <a:p>
            <a:pPr algn="l" marL="177800" indent="-177800">
              <a:spcAft>
                <a:spcPts val="800"/>
              </a:spcAft>
              <a:buSzPct val="100000"/>
              <a:buChar char="•"/>
            </a:pPr>
            <a:r>
              <a:rPr lang="en-US" sz="1350" dirty="0">
                <a:solidFill>
                  <a:srgbClr val="2A2F36"/>
                </a:solidFill>
                <a:latin typeface="Calibri" pitchFamily="34" charset="0"/>
                <a:ea typeface="Calibri" pitchFamily="34" charset="-122"/>
                <a:cs typeface="Calibri" pitchFamily="34" charset="-120"/>
              </a:rPr>
              <a:t>Formation requests evaluated and approved</a:t>
            </a:r>
            <a:endParaRPr lang="en-US" sz="1350" dirty="0"/>
          </a:p>
          <a:p>
            <a:pPr algn="l" marL="177800" indent="-177800">
              <a:spcAft>
                <a:spcPts val="800"/>
              </a:spcAft>
              <a:buSzPct val="100000"/>
              <a:buChar char="•"/>
            </a:pPr>
            <a:r>
              <a:rPr lang="en-US" sz="1350" dirty="0">
                <a:solidFill>
                  <a:srgbClr val="2A2F36"/>
                </a:solidFill>
                <a:latin typeface="Calibri" pitchFamily="34" charset="0"/>
                <a:ea typeface="Calibri" pitchFamily="34" charset="-122"/>
                <a:cs typeface="Calibri" pitchFamily="34" charset="-120"/>
              </a:rPr>
              <a:t>Membership, meetings, motions and votes</a:t>
            </a:r>
            <a:endParaRPr lang="en-US" sz="1350" dirty="0"/>
          </a:p>
          <a:p>
            <a:pPr algn="l" marL="177800" indent="-177800">
              <a:spcAft>
                <a:spcPts val="800"/>
              </a:spcAft>
              <a:buSzPct val="100000"/>
              <a:buChar char="•"/>
            </a:pPr>
            <a:r>
              <a:rPr lang="en-US" sz="1350" dirty="0">
                <a:solidFill>
                  <a:srgbClr val="2A2F36"/>
                </a:solidFill>
                <a:latin typeface="Calibri" pitchFamily="34" charset="0"/>
                <a:ea typeface="Calibri" pitchFamily="34" charset="-122"/>
                <a:cs typeface="Calibri" pitchFamily="34" charset="-120"/>
              </a:rPr>
              <a:t>Compliance standing, annual attestation, disbandment</a:t>
            </a:r>
            <a:endParaRPr lang="en-US" sz="1350" dirty="0"/>
          </a:p>
        </p:txBody>
      </p:sp>
      <p:sp>
        <p:nvSpPr>
          <p:cNvPr id="11" name="Text 8"/>
          <p:cNvSpPr txBox="1"/>
          <p:nvPr/>
        </p:nvSpPr>
        <p:spPr>
          <a:xfrm>
            <a:off x="4307738" y="1600200"/>
            <a:ext cx="3576218" cy="548640"/>
          </a:xfrm>
          <a:prstGeom prst="rect">
            <a:avLst/>
          </a:prstGeom>
          <a:noFill/>
          <a:ln/>
        </p:spPr>
        <p:txBody>
          <a:bodyPr wrap="square" lIns="0" tIns="0" rIns="0" bIns="0" rtlCol="0" anchor="b"/>
          <a:lstStyle/>
          <a:p>
            <a:pPr algn="l" indent="0" marL="0">
              <a:buNone/>
            </a:pPr>
            <a:r>
              <a:rPr lang="en-US" sz="1500" b="1" dirty="0">
                <a:solidFill>
                  <a:srgbClr val="C8553D"/>
                </a:solidFill>
                <a:latin typeface="Calibri" pitchFamily="34" charset="0"/>
                <a:ea typeface="Calibri" pitchFamily="34" charset="-122"/>
                <a:cs typeface="Calibri" pitchFamily="34" charset="-120"/>
              </a:rPr>
              <a:t>What are the rules?</a:t>
            </a:r>
            <a:endParaRPr lang="en-US" sz="1500" dirty="0"/>
          </a:p>
        </p:txBody>
      </p:sp>
      <p:sp>
        <p:nvSpPr>
          <p:cNvPr id="12" name="Shape 9"/>
          <p:cNvSpPr/>
          <p:nvPr/>
        </p:nvSpPr>
        <p:spPr>
          <a:xfrm>
            <a:off x="4307738" y="2240280"/>
            <a:ext cx="3576218" cy="3017520"/>
          </a:xfrm>
          <a:prstGeom prst="rect">
            <a:avLst/>
          </a:prstGeom>
          <a:solidFill>
            <a:srgbClr val="F2F4F7"/>
          </a:solidFill>
          <a:ln w="12700">
            <a:solidFill>
              <a:srgbClr val="F2F4F7"/>
            </a:solidFill>
            <a:prstDash val="solid"/>
          </a:ln>
        </p:spPr>
      </p:sp>
      <p:sp>
        <p:nvSpPr>
          <p:cNvPr id="13" name="Text 10"/>
          <p:cNvSpPr txBox="1"/>
          <p:nvPr/>
        </p:nvSpPr>
        <p:spPr>
          <a:xfrm>
            <a:off x="4536338" y="2377440"/>
            <a:ext cx="3119018" cy="822960"/>
          </a:xfrm>
          <a:prstGeom prst="rect">
            <a:avLst/>
          </a:prstGeom>
          <a:noFill/>
          <a:ln/>
        </p:spPr>
        <p:txBody>
          <a:bodyPr wrap="square" lIns="0" tIns="0" rIns="0" bIns="0" rtlCol="0" anchor="t"/>
          <a:lstStyle/>
          <a:p>
            <a:pPr algn="l" indent="0" marL="0">
              <a:spcAft>
                <a:spcPts val="200"/>
              </a:spcAft>
              <a:buNone/>
            </a:pPr>
            <a:r>
              <a:rPr lang="en-US" sz="1800" b="1" dirty="0">
                <a:solidFill>
                  <a:srgbClr val="14213D"/>
                </a:solidFill>
                <a:latin typeface="Calibri" pitchFamily="34" charset="0"/>
                <a:ea typeface="Calibri" pitchFamily="34" charset="-122"/>
                <a:cs typeface="Calibri" pitchFamily="34" charset="-120"/>
              </a:rPr>
              <a:t>Policy</a:t>
            </a:r>
            <a:endParaRPr lang="en-US" sz="1800" dirty="0"/>
          </a:p>
          <a:p>
            <a:pPr algn="l" indent="0" marL="0">
              <a:spcAft>
                <a:spcPts val="1000"/>
              </a:spcAft>
              <a:buNone/>
            </a:pPr>
            <a:r>
              <a:rPr lang="en-US" sz="1100" dirty="0">
                <a:solidFill>
                  <a:srgbClr val="6B7380"/>
                </a:solidFill>
                <a:latin typeface="Calibri" pitchFamily="34" charset="0"/>
                <a:ea typeface="Calibri" pitchFamily="34" charset="-122"/>
                <a:cs typeface="Calibri" pitchFamily="34" charset="-120"/>
              </a:rPr>
              <a:t>26 mandatory requirements  ·  P-1 … P-26</a:t>
            </a:r>
            <a:endParaRPr lang="en-US" sz="1800" dirty="0"/>
          </a:p>
        </p:txBody>
      </p:sp>
      <p:sp>
        <p:nvSpPr>
          <p:cNvPr id="14" name="Text 11"/>
          <p:cNvSpPr txBox="1"/>
          <p:nvPr/>
        </p:nvSpPr>
        <p:spPr>
          <a:xfrm>
            <a:off x="4536338" y="3154680"/>
            <a:ext cx="3119018" cy="2057400"/>
          </a:xfrm>
          <a:prstGeom prst="rect">
            <a:avLst/>
          </a:prstGeom>
          <a:noFill/>
          <a:ln/>
        </p:spPr>
        <p:txBody>
          <a:bodyPr wrap="square" lIns="0" tIns="0" rIns="0" bIns="0" rtlCol="0" anchor="t"/>
          <a:lstStyle/>
          <a:p>
            <a:pPr algn="l" marL="177800" indent="-177800">
              <a:spcAft>
                <a:spcPts val="800"/>
              </a:spcAft>
              <a:buSzPct val="100000"/>
              <a:buChar char="•"/>
            </a:pPr>
            <a:r>
              <a:rPr lang="en-US" sz="1350" dirty="0">
                <a:solidFill>
                  <a:srgbClr val="2A2F36"/>
                </a:solidFill>
                <a:latin typeface="Calibri" pitchFamily="34" charset="0"/>
                <a:ea typeface="Calibri" pitchFamily="34" charset="-122"/>
                <a:cs typeface="Calibri" pitchFamily="34" charset="-120"/>
              </a:rPr>
              <a:t>Frameworks, policies, standards, procedures</a:t>
            </a:r>
            <a:endParaRPr lang="en-US" sz="1350" dirty="0"/>
          </a:p>
          <a:p>
            <a:pPr algn="l" marL="177800" indent="-177800">
              <a:spcAft>
                <a:spcPts val="800"/>
              </a:spcAft>
              <a:buSzPct val="100000"/>
              <a:buChar char="•"/>
            </a:pPr>
            <a:r>
              <a:rPr lang="en-US" sz="1350" dirty="0">
                <a:solidFill>
                  <a:srgbClr val="2A2F36"/>
                </a:solidFill>
                <a:latin typeface="Calibri" pitchFamily="34" charset="0"/>
                <a:ea typeface="Calibri" pitchFamily="34" charset="-122"/>
                <a:cs typeface="Calibri" pitchFamily="34" charset="-120"/>
              </a:rPr>
              <a:t>Intake, drafting, review, approval, publication</a:t>
            </a:r>
            <a:endParaRPr lang="en-US" sz="1350" dirty="0"/>
          </a:p>
          <a:p>
            <a:pPr algn="l" marL="177800" indent="-177800">
              <a:spcAft>
                <a:spcPts val="800"/>
              </a:spcAft>
              <a:buSzPct val="100000"/>
              <a:buChar char="•"/>
            </a:pPr>
            <a:r>
              <a:rPr lang="en-US" sz="1350" dirty="0">
                <a:solidFill>
                  <a:srgbClr val="2A2F36"/>
                </a:solidFill>
                <a:latin typeface="Calibri" pitchFamily="34" charset="0"/>
                <a:ea typeface="Calibri" pitchFamily="34" charset="-122"/>
                <a:cs typeface="Calibri" pitchFamily="34" charset="-120"/>
              </a:rPr>
              <a:t>Applicability, exemptions, monitoring, violations</a:t>
            </a:r>
            <a:endParaRPr lang="en-US" sz="1350" dirty="0"/>
          </a:p>
          <a:p>
            <a:pPr algn="l" marL="177800" indent="-177800">
              <a:spcAft>
                <a:spcPts val="800"/>
              </a:spcAft>
              <a:buSzPct val="100000"/>
              <a:buChar char="•"/>
            </a:pPr>
            <a:r>
              <a:rPr lang="en-US" sz="1350" dirty="0">
                <a:solidFill>
                  <a:srgbClr val="2A2F36"/>
                </a:solidFill>
                <a:latin typeface="Calibri" pitchFamily="34" charset="0"/>
                <a:ea typeface="Calibri" pitchFamily="34" charset="-122"/>
                <a:cs typeface="Calibri" pitchFamily="34" charset="-120"/>
              </a:rPr>
              <a:t>Periodic review, attestation, retirement</a:t>
            </a:r>
            <a:endParaRPr lang="en-US" sz="1350" dirty="0"/>
          </a:p>
        </p:txBody>
      </p:sp>
      <p:sp>
        <p:nvSpPr>
          <p:cNvPr id="15" name="Text 12"/>
          <p:cNvSpPr txBox="1"/>
          <p:nvPr/>
        </p:nvSpPr>
        <p:spPr>
          <a:xfrm>
            <a:off x="8158277" y="1600200"/>
            <a:ext cx="3576218" cy="548640"/>
          </a:xfrm>
          <a:prstGeom prst="rect">
            <a:avLst/>
          </a:prstGeom>
          <a:noFill/>
          <a:ln/>
        </p:spPr>
        <p:txBody>
          <a:bodyPr wrap="square" lIns="0" tIns="0" rIns="0" bIns="0" rtlCol="0" anchor="b"/>
          <a:lstStyle/>
          <a:p>
            <a:pPr algn="l" indent="0" marL="0">
              <a:buNone/>
            </a:pPr>
            <a:r>
              <a:rPr lang="en-US" sz="1500" b="1" dirty="0">
                <a:solidFill>
                  <a:srgbClr val="C8553D"/>
                </a:solidFill>
                <a:latin typeface="Calibri" pitchFamily="34" charset="0"/>
                <a:ea typeface="Calibri" pitchFamily="34" charset="-122"/>
                <a:cs typeface="Calibri" pitchFamily="34" charset="-120"/>
              </a:rPr>
              <a:t>What happens when something goes wrong?</a:t>
            </a:r>
            <a:endParaRPr lang="en-US" sz="1500" dirty="0"/>
          </a:p>
        </p:txBody>
      </p:sp>
      <p:sp>
        <p:nvSpPr>
          <p:cNvPr id="16" name="Shape 13"/>
          <p:cNvSpPr/>
          <p:nvPr/>
        </p:nvSpPr>
        <p:spPr>
          <a:xfrm>
            <a:off x="8158277" y="2240280"/>
            <a:ext cx="3576218" cy="3017520"/>
          </a:xfrm>
          <a:prstGeom prst="rect">
            <a:avLst/>
          </a:prstGeom>
          <a:solidFill>
            <a:srgbClr val="F2F4F7"/>
          </a:solidFill>
          <a:ln w="12700">
            <a:solidFill>
              <a:srgbClr val="F2F4F7"/>
            </a:solidFill>
            <a:prstDash val="solid"/>
          </a:ln>
        </p:spPr>
      </p:sp>
      <p:sp>
        <p:nvSpPr>
          <p:cNvPr id="17" name="Text 14"/>
          <p:cNvSpPr txBox="1"/>
          <p:nvPr/>
        </p:nvSpPr>
        <p:spPr>
          <a:xfrm>
            <a:off x="8386877" y="2377440"/>
            <a:ext cx="3119018" cy="822960"/>
          </a:xfrm>
          <a:prstGeom prst="rect">
            <a:avLst/>
          </a:prstGeom>
          <a:noFill/>
          <a:ln/>
        </p:spPr>
        <p:txBody>
          <a:bodyPr wrap="square" lIns="0" tIns="0" rIns="0" bIns="0" rtlCol="0" anchor="t"/>
          <a:lstStyle/>
          <a:p>
            <a:pPr algn="l" indent="0" marL="0">
              <a:spcAft>
                <a:spcPts val="200"/>
              </a:spcAft>
              <a:buNone/>
            </a:pPr>
            <a:r>
              <a:rPr lang="en-US" sz="1800" b="1" dirty="0">
                <a:solidFill>
                  <a:srgbClr val="14213D"/>
                </a:solidFill>
                <a:latin typeface="Calibri" pitchFamily="34" charset="0"/>
                <a:ea typeface="Calibri" pitchFamily="34" charset="-122"/>
                <a:cs typeface="Calibri" pitchFamily="34" charset="-120"/>
              </a:rPr>
              <a:t>Escalation</a:t>
            </a:r>
            <a:endParaRPr lang="en-US" sz="1800" dirty="0"/>
          </a:p>
          <a:p>
            <a:pPr algn="l" indent="0" marL="0">
              <a:spcAft>
                <a:spcPts val="1000"/>
              </a:spcAft>
              <a:buNone/>
            </a:pPr>
            <a:r>
              <a:rPr lang="en-US" sz="1100" dirty="0">
                <a:solidFill>
                  <a:srgbClr val="6B7380"/>
                </a:solidFill>
                <a:latin typeface="Calibri" pitchFamily="34" charset="0"/>
                <a:ea typeface="Calibri" pitchFamily="34" charset="-122"/>
                <a:cs typeface="Calibri" pitchFamily="34" charset="-120"/>
              </a:rPr>
              <a:t>19 mandatory requirements  ·  E-1 … E-19</a:t>
            </a:r>
            <a:endParaRPr lang="en-US" sz="1800" dirty="0"/>
          </a:p>
        </p:txBody>
      </p:sp>
      <p:sp>
        <p:nvSpPr>
          <p:cNvPr id="18" name="Text 15"/>
          <p:cNvSpPr txBox="1"/>
          <p:nvPr/>
        </p:nvSpPr>
        <p:spPr>
          <a:xfrm>
            <a:off x="8386877" y="3154680"/>
            <a:ext cx="3119018" cy="2057400"/>
          </a:xfrm>
          <a:prstGeom prst="rect">
            <a:avLst/>
          </a:prstGeom>
          <a:noFill/>
          <a:ln/>
        </p:spPr>
        <p:txBody>
          <a:bodyPr wrap="square" lIns="0" tIns="0" rIns="0" bIns="0" rtlCol="0" anchor="t"/>
          <a:lstStyle/>
          <a:p>
            <a:pPr algn="l" marL="177800" indent="-177800">
              <a:spcAft>
                <a:spcPts val="800"/>
              </a:spcAft>
              <a:buSzPct val="100000"/>
              <a:buChar char="•"/>
            </a:pPr>
            <a:r>
              <a:rPr lang="en-US" sz="1350" dirty="0">
                <a:solidFill>
                  <a:srgbClr val="2A2F36"/>
                </a:solidFill>
                <a:latin typeface="Calibri" pitchFamily="34" charset="0"/>
                <a:ea typeface="Calibri" pitchFamily="34" charset="-122"/>
                <a:cs typeface="Calibri" pitchFamily="34" charset="-120"/>
              </a:rPr>
              <a:t>Intake against configurable templates</a:t>
            </a:r>
            <a:endParaRPr lang="en-US" sz="1350" dirty="0"/>
          </a:p>
          <a:p>
            <a:pPr algn="l" marL="177800" indent="-177800">
              <a:spcAft>
                <a:spcPts val="800"/>
              </a:spcAft>
              <a:buSzPct val="100000"/>
              <a:buChar char="•"/>
            </a:pPr>
            <a:r>
              <a:rPr lang="en-US" sz="1350" dirty="0">
                <a:solidFill>
                  <a:srgbClr val="2A2F36"/>
                </a:solidFill>
                <a:latin typeface="Calibri" pitchFamily="34" charset="0"/>
                <a:ea typeface="Calibri" pitchFamily="34" charset="-122"/>
                <a:cs typeface="Calibri" pitchFamily="34" charset="-120"/>
              </a:rPr>
              <a:t>Severity and routing from an approved matrix</a:t>
            </a:r>
            <a:endParaRPr lang="en-US" sz="1350" dirty="0"/>
          </a:p>
          <a:p>
            <a:pPr algn="l" marL="177800" indent="-177800">
              <a:spcAft>
                <a:spcPts val="800"/>
              </a:spcAft>
              <a:buSzPct val="100000"/>
              <a:buChar char="•"/>
            </a:pPr>
            <a:r>
              <a:rPr lang="en-US" sz="1350" dirty="0">
                <a:solidFill>
                  <a:srgbClr val="2A2F36"/>
                </a:solidFill>
                <a:latin typeface="Calibri" pitchFamily="34" charset="0"/>
                <a:ea typeface="Calibri" pitchFamily="34" charset="-122"/>
                <a:cs typeface="Calibri" pitchFamily="34" charset="-120"/>
              </a:rPr>
              <a:t>Action plans, risk acceptances, time limits</a:t>
            </a:r>
            <a:endParaRPr lang="en-US" sz="1350" dirty="0"/>
          </a:p>
          <a:p>
            <a:pPr algn="l" marL="177800" indent="-177800">
              <a:spcAft>
                <a:spcPts val="800"/>
              </a:spcAft>
              <a:buSzPct val="100000"/>
              <a:buChar char="•"/>
            </a:pPr>
            <a:r>
              <a:rPr lang="en-US" sz="1350" dirty="0">
                <a:solidFill>
                  <a:srgbClr val="2A2F36"/>
                </a:solidFill>
                <a:latin typeface="Calibri" pitchFamily="34" charset="0"/>
                <a:ea typeface="Calibri" pitchFamily="34" charset="-122"/>
                <a:cs typeface="Calibri" pitchFamily="34" charset="-120"/>
              </a:rPr>
              <a:t>Closure with evidence, or handed off externally</a:t>
            </a:r>
            <a:endParaRPr lang="en-US" sz="1350" dirty="0"/>
          </a:p>
        </p:txBody>
      </p:sp>
      <p:sp>
        <p:nvSpPr>
          <p:cNvPr id="19" name="Shape 16"/>
          <p:cNvSpPr/>
          <p:nvPr/>
        </p:nvSpPr>
        <p:spPr>
          <a:xfrm>
            <a:off x="457200" y="5440680"/>
            <a:ext cx="11277295" cy="685800"/>
          </a:xfrm>
          <a:prstGeom prst="rect">
            <a:avLst/>
          </a:prstGeom>
          <a:solidFill>
            <a:srgbClr val="14213D"/>
          </a:solidFill>
          <a:ln w="12700">
            <a:solidFill>
              <a:srgbClr val="14213D"/>
            </a:solidFill>
            <a:prstDash val="solid"/>
          </a:ln>
        </p:spPr>
      </p:sp>
      <p:sp>
        <p:nvSpPr>
          <p:cNvPr id="20" name="Text 17"/>
          <p:cNvSpPr txBox="1"/>
          <p:nvPr/>
        </p:nvSpPr>
        <p:spPr>
          <a:xfrm>
            <a:off x="685800" y="5440680"/>
            <a:ext cx="10820095" cy="68580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Shared Core, built once:</a:t>
            </a:r>
            <a:pPr algn="l" indent="0" marL="0">
              <a:buNone/>
            </a:pPr>
            <a:r>
              <a:rPr lang="en-US" sz="1250" dirty="0">
                <a:solidFill>
                  <a:srgbClr val="FFFFFF"/>
                </a:solidFill>
                <a:latin typeface="Calibri" pitchFamily="34" charset="0"/>
                <a:ea typeface="Calibri" pitchFamily="34" charset="-122"/>
                <a:cs typeface="Calibri" pitchFamily="34" charset="-120"/>
              </a:rPr>
              <a:t> taxonomy, identity and delegation, attestation, classification rules, versioning and revert, retention, import and export, notification, service levels.   </a:t>
            </a:r>
            <a:pPr algn="l" indent="0" marL="0">
              <a:buNone/>
            </a:pPr>
            <a:r>
              <a:rPr lang="en-US" sz="1250" b="1" dirty="0">
                <a:solidFill>
                  <a:srgbClr val="FFFFFF"/>
                </a:solidFill>
                <a:latin typeface="Calibri" pitchFamily="34" charset="0"/>
                <a:ea typeface="Calibri" pitchFamily="34" charset="-122"/>
                <a:cs typeface="Calibri" pitchFamily="34" charset="-120"/>
              </a:rPr>
              <a:t>64</a:t>
            </a:r>
            <a:pPr algn="l" indent="0" marL="0">
              <a:buNone/>
            </a:pPr>
            <a:r>
              <a:rPr lang="en-US" sz="1250" dirty="0">
                <a:solidFill>
                  <a:srgbClr val="FFFFFF"/>
                </a:solidFill>
                <a:latin typeface="Calibri" pitchFamily="34" charset="0"/>
                <a:ea typeface="Calibri" pitchFamily="34" charset="-122"/>
                <a:cs typeface="Calibri" pitchFamily="34" charset="-120"/>
              </a:rPr>
              <a:t> mandatory  +  </a:t>
            </a:r>
            <a:pPr algn="l" indent="0" marL="0">
              <a:buNone/>
            </a:pPr>
            <a:r>
              <a:rPr lang="en-US" sz="1250" b="1" dirty="0">
                <a:solidFill>
                  <a:srgbClr val="FFFFFF"/>
                </a:solidFill>
                <a:latin typeface="Calibri" pitchFamily="34" charset="0"/>
                <a:ea typeface="Calibri" pitchFamily="34" charset="-122"/>
                <a:cs typeface="Calibri" pitchFamily="34" charset="-120"/>
              </a:rPr>
              <a:t>7</a:t>
            </a:r>
            <a:pPr algn="l" indent="0" marL="0">
              <a:buNone/>
            </a:pPr>
            <a:r>
              <a:rPr lang="en-US" sz="1250" dirty="0">
                <a:solidFill>
                  <a:srgbClr val="FFFFFF"/>
                </a:solidFill>
                <a:latin typeface="Calibri" pitchFamily="34" charset="0"/>
                <a:ea typeface="Calibri" pitchFamily="34" charset="-122"/>
                <a:cs typeface="Calibri" pitchFamily="34" charset="-120"/>
              </a:rPr>
              <a:t> supplementary requirements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A  ·  WHY THIS EXISTS</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The requirements set a high bar for evidence: every decision, approval and refusal must be provable after the fact</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 docs/product/01-requirements-baseline.md §3 (requirement statements, paraphrased). All 64 requirements are Mandatory in the source documents.</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7295" cy="914400"/>
        </p:xfrm>
        <a:graphic>
          <a:graphicData uri="http://schemas.openxmlformats.org/drawingml/2006/table">
            <a:tbl>
              <a:tblPr/>
              <a:tblGrid>
                <a:gridCol w="2240280"/>
                <a:gridCol w="4434840"/>
                <a:gridCol w="1463040"/>
                <a:gridCol w="3136392"/>
              </a:tblGrid>
              <a:tr h="3657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must be provable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the requirements demand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Requirements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 it is hard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685800">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Who did what, and when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Every change and user action logged with timestamp and actor. Prior versions retained, and an authorised user can revert.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G-9, P-9, E-12</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Revert is not a framework feature. It is built forward-only, so history is never rewritten.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85800">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Nothing published without approval</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Every approval required for the change's classification is complete before publication. No bypass without a documented exception.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P-25, P-16</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The gate must hold on every route, not just the intended one (see the defect on slide 30).</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Challenge happened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Second-line review and challenge, with service levels, before escalation to executives or forums.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E-9</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Needs time limits per step, not just per matter.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People confirmed the facts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Annual first-quarter attestation of the forum inventory; annual policy attestation.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G-10, P-8</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Three attestation events share one engine.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58368">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Restricted means restricted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Confidential documents and sensitive escalations limited to authorised users for view, download, print and share.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P-1, P-13, E-16</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Must hold on list, form, report, search, export and API.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58368">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Records cannot be altered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Data and documents retained per policy, in write-once, read-many form for the period.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G-16, P-18, E-18</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Moved from an external hook to in-platform: the largest single scope increase.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A  ·  WHY THIS EXISTS</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Stakeholder decisions turned three separately scoped systems and four live connectors into one platform, reshaping 37 of the 64 requirements</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 docs/product/01-requirements-baseline.md §2 (decisions S-1…S-11), §4 and requirement tables (Δ markers; the tables are authoritative per 07 'Known inconsistencies' — the 06 summary states 15 and 26); E-11 statement.</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7</a:t>
            </a:r>
            <a:endParaRPr lang="en-US" sz="900" dirty="0"/>
          </a:p>
        </p:txBody>
      </p:sp>
      <p:sp>
        <p:nvSpPr>
          <p:cNvPr id="7" name="Text 4"/>
          <p:cNvSpPr txBox="1"/>
          <p:nvPr/>
        </p:nvSpPr>
        <p:spPr>
          <a:xfrm>
            <a:off x="457200" y="1600200"/>
            <a:ext cx="3108960" cy="274320"/>
          </a:xfrm>
          <a:prstGeom prst="rect">
            <a:avLst/>
          </a:prstGeom>
          <a:noFill/>
          <a:ln/>
        </p:spPr>
        <p:txBody>
          <a:bodyPr wrap="square" lIns="0" tIns="0" rIns="0" bIns="0" rtlCol="0" anchor="t"/>
          <a:lstStyle/>
          <a:p>
            <a:pPr algn="l" indent="0" marL="0">
              <a:buNone/>
            </a:pPr>
            <a:r>
              <a:rPr lang="en-US" sz="1000" b="1" dirty="0">
                <a:solidFill>
                  <a:srgbClr val="6B7380"/>
                </a:solidFill>
                <a:latin typeface="Calibri" pitchFamily="34" charset="0"/>
                <a:ea typeface="Calibri" pitchFamily="34" charset="-122"/>
                <a:cs typeface="Calibri" pitchFamily="34" charset="-120"/>
              </a:rPr>
              <a:t>FROM</a:t>
            </a:r>
            <a:endParaRPr lang="en-US" sz="1000" dirty="0"/>
          </a:p>
        </p:txBody>
      </p:sp>
      <p:sp>
        <p:nvSpPr>
          <p:cNvPr id="8" name="Text 5"/>
          <p:cNvSpPr txBox="1"/>
          <p:nvPr/>
        </p:nvSpPr>
        <p:spPr>
          <a:xfrm>
            <a:off x="3977640" y="1600200"/>
            <a:ext cx="3291840" cy="274320"/>
          </a:xfrm>
          <a:prstGeom prst="rect">
            <a:avLst/>
          </a:prstGeom>
          <a:noFill/>
          <a:ln/>
        </p:spPr>
        <p:txBody>
          <a:bodyPr wrap="square" lIns="0" tIns="0" rIns="0" bIns="0" rtlCol="0" anchor="t"/>
          <a:lstStyle/>
          <a:p>
            <a:pPr algn="l" indent="0" marL="0">
              <a:buNone/>
            </a:pPr>
            <a:r>
              <a:rPr lang="en-US" sz="1000" b="1" dirty="0">
                <a:solidFill>
                  <a:srgbClr val="6B7380"/>
                </a:solidFill>
                <a:latin typeface="Calibri" pitchFamily="34" charset="0"/>
                <a:ea typeface="Calibri" pitchFamily="34" charset="-122"/>
                <a:cs typeface="Calibri" pitchFamily="34" charset="-120"/>
              </a:rPr>
              <a:t>TO</a:t>
            </a:r>
            <a:endParaRPr lang="en-US" sz="1000" dirty="0"/>
          </a:p>
        </p:txBody>
      </p:sp>
      <p:sp>
        <p:nvSpPr>
          <p:cNvPr id="9" name="Shape 6"/>
          <p:cNvSpPr/>
          <p:nvPr/>
        </p:nvSpPr>
        <p:spPr>
          <a:xfrm>
            <a:off x="457200" y="1920240"/>
            <a:ext cx="3154680" cy="749808"/>
          </a:xfrm>
          <a:prstGeom prst="rect">
            <a:avLst/>
          </a:prstGeom>
          <a:solidFill>
            <a:srgbClr val="F2F4F7"/>
          </a:solidFill>
          <a:ln w="12700">
            <a:solidFill>
              <a:srgbClr val="F2F4F7"/>
            </a:solidFill>
            <a:prstDash val="solid"/>
          </a:ln>
        </p:spPr>
      </p:sp>
      <p:sp>
        <p:nvSpPr>
          <p:cNvPr id="10" name="Text 7"/>
          <p:cNvSpPr txBox="1"/>
          <p:nvPr/>
        </p:nvSpPr>
        <p:spPr>
          <a:xfrm>
            <a:off x="594360" y="1920240"/>
            <a:ext cx="2926080" cy="749808"/>
          </a:xfrm>
          <a:prstGeom prst="rect">
            <a:avLst/>
          </a:prstGeom>
          <a:noFill/>
          <a:ln/>
        </p:spPr>
        <p:txBody>
          <a:bodyPr wrap="square" lIns="0" tIns="0" rIns="0" bIns="0" rtlCol="0" anchor="ctr"/>
          <a:lstStyle/>
          <a:p>
            <a:pPr algn="l" indent="0" marL="0">
              <a:buNone/>
            </a:pPr>
            <a:r>
              <a:rPr lang="en-US" sz="1150" dirty="0">
                <a:solidFill>
                  <a:srgbClr val="5B6B82"/>
                </a:solidFill>
                <a:latin typeface="Calibri" pitchFamily="34" charset="0"/>
                <a:ea typeface="Calibri" pitchFamily="34" charset="-122"/>
                <a:cs typeface="Calibri" pitchFamily="34" charset="-120"/>
              </a:rPr>
              <a:t>Three separately scoped systems</a:t>
            </a:r>
            <a:endParaRPr lang="en-US" sz="1150" dirty="0"/>
          </a:p>
        </p:txBody>
      </p:sp>
      <p:sp>
        <p:nvSpPr>
          <p:cNvPr id="11" name="Shape 8"/>
          <p:cNvSpPr/>
          <p:nvPr/>
        </p:nvSpPr>
        <p:spPr>
          <a:xfrm>
            <a:off x="3657600" y="2176272"/>
            <a:ext cx="274320" cy="237744"/>
          </a:xfrm>
          <a:prstGeom prst="rightArrow">
            <a:avLst/>
          </a:prstGeom>
          <a:solidFill>
            <a:srgbClr val="C8553D"/>
          </a:solidFill>
          <a:ln w="12700">
            <a:solidFill>
              <a:srgbClr val="C8553D"/>
            </a:solidFill>
            <a:prstDash val="solid"/>
          </a:ln>
        </p:spPr>
      </p:sp>
      <p:sp>
        <p:nvSpPr>
          <p:cNvPr id="12" name="Shape 9"/>
          <p:cNvSpPr/>
          <p:nvPr/>
        </p:nvSpPr>
        <p:spPr>
          <a:xfrm>
            <a:off x="3977640" y="1920240"/>
            <a:ext cx="3337560" cy="749808"/>
          </a:xfrm>
          <a:prstGeom prst="rect">
            <a:avLst/>
          </a:prstGeom>
          <a:solidFill>
            <a:srgbClr val="E8EDF5"/>
          </a:solidFill>
          <a:ln w="12700">
            <a:solidFill>
              <a:srgbClr val="E8EDF5"/>
            </a:solidFill>
            <a:prstDash val="solid"/>
          </a:ln>
        </p:spPr>
      </p:sp>
      <p:sp>
        <p:nvSpPr>
          <p:cNvPr id="13" name="Text 10"/>
          <p:cNvSpPr txBox="1"/>
          <p:nvPr/>
        </p:nvSpPr>
        <p:spPr>
          <a:xfrm>
            <a:off x="4114800" y="1920240"/>
            <a:ext cx="2743200" cy="749808"/>
          </a:xfrm>
          <a:prstGeom prst="rect">
            <a:avLst/>
          </a:prstGeom>
          <a:noFill/>
          <a:ln/>
        </p:spPr>
        <p:txBody>
          <a:bodyPr wrap="square" lIns="0" tIns="0" rIns="0" bIns="0" rtlCol="0" anchor="ctr"/>
          <a:lstStyle/>
          <a:p>
            <a:pPr algn="l" indent="0" marL="0">
              <a:buNone/>
            </a:pPr>
            <a:r>
              <a:rPr lang="en-US" sz="1150" b="1" dirty="0">
                <a:solidFill>
                  <a:srgbClr val="14213D"/>
                </a:solidFill>
                <a:latin typeface="Calibri" pitchFamily="34" charset="0"/>
                <a:ea typeface="Calibri" pitchFamily="34" charset="-122"/>
                <a:cs typeface="Calibri" pitchFamily="34" charset="-120"/>
              </a:rPr>
              <a:t>One platform, three modules, shared Core</a:t>
            </a:r>
            <a:endParaRPr lang="en-US" sz="1150" dirty="0"/>
          </a:p>
        </p:txBody>
      </p:sp>
      <p:sp>
        <p:nvSpPr>
          <p:cNvPr id="14" name="Text 11"/>
          <p:cNvSpPr txBox="1"/>
          <p:nvPr/>
        </p:nvSpPr>
        <p:spPr>
          <a:xfrm>
            <a:off x="6858000" y="1920240"/>
            <a:ext cx="411480" cy="749808"/>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S-1</a:t>
            </a:r>
            <a:endParaRPr lang="en-US" sz="900" dirty="0"/>
          </a:p>
        </p:txBody>
      </p:sp>
      <p:sp>
        <p:nvSpPr>
          <p:cNvPr id="15" name="Shape 12"/>
          <p:cNvSpPr/>
          <p:nvPr/>
        </p:nvSpPr>
        <p:spPr>
          <a:xfrm>
            <a:off x="457200" y="2761488"/>
            <a:ext cx="3154680" cy="749808"/>
          </a:xfrm>
          <a:prstGeom prst="rect">
            <a:avLst/>
          </a:prstGeom>
          <a:solidFill>
            <a:srgbClr val="F2F4F7"/>
          </a:solidFill>
          <a:ln w="12700">
            <a:solidFill>
              <a:srgbClr val="F2F4F7"/>
            </a:solidFill>
            <a:prstDash val="solid"/>
          </a:ln>
        </p:spPr>
      </p:sp>
      <p:sp>
        <p:nvSpPr>
          <p:cNvPr id="16" name="Text 13"/>
          <p:cNvSpPr txBox="1"/>
          <p:nvPr/>
        </p:nvSpPr>
        <p:spPr>
          <a:xfrm>
            <a:off x="594360" y="2761488"/>
            <a:ext cx="2926080" cy="749808"/>
          </a:xfrm>
          <a:prstGeom prst="rect">
            <a:avLst/>
          </a:prstGeom>
          <a:noFill/>
          <a:ln/>
        </p:spPr>
        <p:txBody>
          <a:bodyPr wrap="square" lIns="0" tIns="0" rIns="0" bIns="0" rtlCol="0" anchor="ctr"/>
          <a:lstStyle/>
          <a:p>
            <a:pPr algn="l" indent="0" marL="0">
              <a:buNone/>
            </a:pPr>
            <a:r>
              <a:rPr lang="en-US" sz="1150" dirty="0">
                <a:solidFill>
                  <a:srgbClr val="5B6B82"/>
                </a:solidFill>
                <a:latin typeface="Calibri" pitchFamily="34" charset="0"/>
                <a:ea typeface="Calibri" pitchFamily="34" charset="-122"/>
                <a:cs typeface="Calibri" pitchFamily="34" charset="-120"/>
              </a:rPr>
              <a:t>Live connectors to the risk register, risk appetite system, GRC platform and regulatory-change feed</a:t>
            </a:r>
            <a:endParaRPr lang="en-US" sz="1150" dirty="0"/>
          </a:p>
        </p:txBody>
      </p:sp>
      <p:sp>
        <p:nvSpPr>
          <p:cNvPr id="17" name="Shape 14"/>
          <p:cNvSpPr/>
          <p:nvPr/>
        </p:nvSpPr>
        <p:spPr>
          <a:xfrm>
            <a:off x="3657600" y="3017520"/>
            <a:ext cx="274320" cy="237744"/>
          </a:xfrm>
          <a:prstGeom prst="rightArrow">
            <a:avLst/>
          </a:prstGeom>
          <a:solidFill>
            <a:srgbClr val="C8553D"/>
          </a:solidFill>
          <a:ln w="12700">
            <a:solidFill>
              <a:srgbClr val="C8553D"/>
            </a:solidFill>
            <a:prstDash val="solid"/>
          </a:ln>
        </p:spPr>
      </p:sp>
      <p:sp>
        <p:nvSpPr>
          <p:cNvPr id="18" name="Shape 15"/>
          <p:cNvSpPr/>
          <p:nvPr/>
        </p:nvSpPr>
        <p:spPr>
          <a:xfrm>
            <a:off x="3977640" y="2761488"/>
            <a:ext cx="3337560" cy="749808"/>
          </a:xfrm>
          <a:prstGeom prst="rect">
            <a:avLst/>
          </a:prstGeom>
          <a:solidFill>
            <a:srgbClr val="E8EDF5"/>
          </a:solidFill>
          <a:ln w="12700">
            <a:solidFill>
              <a:srgbClr val="E8EDF5"/>
            </a:solidFill>
            <a:prstDash val="solid"/>
          </a:ln>
        </p:spPr>
      </p:sp>
      <p:sp>
        <p:nvSpPr>
          <p:cNvPr id="19" name="Text 16"/>
          <p:cNvSpPr txBox="1"/>
          <p:nvPr/>
        </p:nvSpPr>
        <p:spPr>
          <a:xfrm>
            <a:off x="4114800" y="2761488"/>
            <a:ext cx="2743200" cy="749808"/>
          </a:xfrm>
          <a:prstGeom prst="rect">
            <a:avLst/>
          </a:prstGeom>
          <a:noFill/>
          <a:ln/>
        </p:spPr>
        <p:txBody>
          <a:bodyPr wrap="square" lIns="0" tIns="0" rIns="0" bIns="0" rtlCol="0" anchor="ctr"/>
          <a:lstStyle/>
          <a:p>
            <a:pPr algn="l" indent="0" marL="0">
              <a:buNone/>
            </a:pPr>
            <a:r>
              <a:rPr lang="en-US" sz="1150" b="1" dirty="0">
                <a:solidFill>
                  <a:srgbClr val="14213D"/>
                </a:solidFill>
                <a:latin typeface="Calibri" pitchFamily="34" charset="0"/>
                <a:ea typeface="Calibri" pitchFamily="34" charset="-122"/>
                <a:cs typeface="Calibri" pitchFamily="34" charset="-120"/>
              </a:rPr>
              <a:t>One governed file import and export pipeline, with mapping, validation and a full audit trail</a:t>
            </a:r>
            <a:endParaRPr lang="en-US" sz="1150" dirty="0"/>
          </a:p>
        </p:txBody>
      </p:sp>
      <p:sp>
        <p:nvSpPr>
          <p:cNvPr id="20" name="Text 17"/>
          <p:cNvSpPr txBox="1"/>
          <p:nvPr/>
        </p:nvSpPr>
        <p:spPr>
          <a:xfrm>
            <a:off x="6858000" y="2761488"/>
            <a:ext cx="411480" cy="749808"/>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S-2</a:t>
            </a:r>
            <a:endParaRPr lang="en-US" sz="900" dirty="0"/>
          </a:p>
        </p:txBody>
      </p:sp>
      <p:sp>
        <p:nvSpPr>
          <p:cNvPr id="21" name="Shape 18"/>
          <p:cNvSpPr/>
          <p:nvPr/>
        </p:nvSpPr>
        <p:spPr>
          <a:xfrm>
            <a:off x="457200" y="3602736"/>
            <a:ext cx="3154680" cy="749808"/>
          </a:xfrm>
          <a:prstGeom prst="rect">
            <a:avLst/>
          </a:prstGeom>
          <a:solidFill>
            <a:srgbClr val="F2F4F7"/>
          </a:solidFill>
          <a:ln w="12700">
            <a:solidFill>
              <a:srgbClr val="F2F4F7"/>
            </a:solidFill>
            <a:prstDash val="solid"/>
          </a:ln>
        </p:spPr>
      </p:sp>
      <p:sp>
        <p:nvSpPr>
          <p:cNvPr id="22" name="Text 19"/>
          <p:cNvSpPr txBox="1"/>
          <p:nvPr/>
        </p:nvSpPr>
        <p:spPr>
          <a:xfrm>
            <a:off x="594360" y="3602736"/>
            <a:ext cx="2926080" cy="749808"/>
          </a:xfrm>
          <a:prstGeom prst="rect">
            <a:avLst/>
          </a:prstGeom>
          <a:noFill/>
          <a:ln/>
        </p:spPr>
        <p:txBody>
          <a:bodyPr wrap="square" lIns="0" tIns="0" rIns="0" bIns="0" rtlCol="0" anchor="ctr"/>
          <a:lstStyle/>
          <a:p>
            <a:pPr algn="l" indent="0" marL="0">
              <a:buNone/>
            </a:pPr>
            <a:r>
              <a:rPr lang="en-US" sz="1150" dirty="0">
                <a:solidFill>
                  <a:srgbClr val="5B6B82"/>
                </a:solidFill>
                <a:latin typeface="Calibri" pitchFamily="34" charset="0"/>
                <a:ea typeface="Calibri" pitchFamily="34" charset="-122"/>
                <a:cs typeface="Calibri" pitchFamily="34" charset="-120"/>
              </a:rPr>
              <a:t>Retention handed off to an external records system</a:t>
            </a:r>
            <a:endParaRPr lang="en-US" sz="1150" dirty="0"/>
          </a:p>
        </p:txBody>
      </p:sp>
      <p:sp>
        <p:nvSpPr>
          <p:cNvPr id="23" name="Shape 20"/>
          <p:cNvSpPr/>
          <p:nvPr/>
        </p:nvSpPr>
        <p:spPr>
          <a:xfrm>
            <a:off x="3657600" y="3858768"/>
            <a:ext cx="274320" cy="237744"/>
          </a:xfrm>
          <a:prstGeom prst="rightArrow">
            <a:avLst/>
          </a:prstGeom>
          <a:solidFill>
            <a:srgbClr val="C8553D"/>
          </a:solidFill>
          <a:ln w="12700">
            <a:solidFill>
              <a:srgbClr val="C8553D"/>
            </a:solidFill>
            <a:prstDash val="solid"/>
          </a:ln>
        </p:spPr>
      </p:sp>
      <p:sp>
        <p:nvSpPr>
          <p:cNvPr id="24" name="Shape 21"/>
          <p:cNvSpPr/>
          <p:nvPr/>
        </p:nvSpPr>
        <p:spPr>
          <a:xfrm>
            <a:off x="3977640" y="3602736"/>
            <a:ext cx="3337560" cy="749808"/>
          </a:xfrm>
          <a:prstGeom prst="rect">
            <a:avLst/>
          </a:prstGeom>
          <a:solidFill>
            <a:srgbClr val="E8EDF5"/>
          </a:solidFill>
          <a:ln w="12700">
            <a:solidFill>
              <a:srgbClr val="E8EDF5"/>
            </a:solidFill>
            <a:prstDash val="solid"/>
          </a:ln>
        </p:spPr>
      </p:sp>
      <p:sp>
        <p:nvSpPr>
          <p:cNvPr id="25" name="Text 22"/>
          <p:cNvSpPr txBox="1"/>
          <p:nvPr/>
        </p:nvSpPr>
        <p:spPr>
          <a:xfrm>
            <a:off x="4114800" y="3602736"/>
            <a:ext cx="2743200" cy="749808"/>
          </a:xfrm>
          <a:prstGeom prst="rect">
            <a:avLst/>
          </a:prstGeom>
          <a:noFill/>
          <a:ln/>
        </p:spPr>
        <p:txBody>
          <a:bodyPr wrap="square" lIns="0" tIns="0" rIns="0" bIns="0" rtlCol="0" anchor="ctr"/>
          <a:lstStyle/>
          <a:p>
            <a:pPr algn="l" indent="0" marL="0">
              <a:buNone/>
            </a:pPr>
            <a:r>
              <a:rPr lang="en-US" sz="1150" b="1" dirty="0">
                <a:solidFill>
                  <a:srgbClr val="14213D"/>
                </a:solidFill>
                <a:latin typeface="Calibri" pitchFamily="34" charset="0"/>
                <a:ea typeface="Calibri" pitchFamily="34" charset="-122"/>
                <a:cs typeface="Calibri" pitchFamily="34" charset="-120"/>
              </a:rPr>
              <a:t>Retention classes, legal hold and a hash-chained archive, built in the platform</a:t>
            </a:r>
            <a:endParaRPr lang="en-US" sz="1150" dirty="0"/>
          </a:p>
        </p:txBody>
      </p:sp>
      <p:sp>
        <p:nvSpPr>
          <p:cNvPr id="26" name="Text 23"/>
          <p:cNvSpPr txBox="1"/>
          <p:nvPr/>
        </p:nvSpPr>
        <p:spPr>
          <a:xfrm>
            <a:off x="6858000" y="3602736"/>
            <a:ext cx="411480" cy="749808"/>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S-3</a:t>
            </a:r>
            <a:endParaRPr lang="en-US" sz="900" dirty="0"/>
          </a:p>
        </p:txBody>
      </p:sp>
      <p:sp>
        <p:nvSpPr>
          <p:cNvPr id="27" name="Shape 24"/>
          <p:cNvSpPr/>
          <p:nvPr/>
        </p:nvSpPr>
        <p:spPr>
          <a:xfrm>
            <a:off x="457200" y="4443984"/>
            <a:ext cx="3154680" cy="749808"/>
          </a:xfrm>
          <a:prstGeom prst="rect">
            <a:avLst/>
          </a:prstGeom>
          <a:solidFill>
            <a:srgbClr val="F2F4F7"/>
          </a:solidFill>
          <a:ln w="12700">
            <a:solidFill>
              <a:srgbClr val="F2F4F7"/>
            </a:solidFill>
            <a:prstDash val="solid"/>
          </a:ln>
        </p:spPr>
      </p:sp>
      <p:sp>
        <p:nvSpPr>
          <p:cNvPr id="28" name="Text 25"/>
          <p:cNvSpPr txBox="1"/>
          <p:nvPr/>
        </p:nvSpPr>
        <p:spPr>
          <a:xfrm>
            <a:off x="594360" y="4443984"/>
            <a:ext cx="2926080" cy="749808"/>
          </a:xfrm>
          <a:prstGeom prst="rect">
            <a:avLst/>
          </a:prstGeom>
          <a:noFill/>
          <a:ln/>
        </p:spPr>
        <p:txBody>
          <a:bodyPr wrap="square" lIns="0" tIns="0" rIns="0" bIns="0" rtlCol="0" anchor="ctr"/>
          <a:lstStyle/>
          <a:p>
            <a:pPr algn="l" indent="0" marL="0">
              <a:buNone/>
            </a:pPr>
            <a:r>
              <a:rPr lang="en-US" sz="1150" dirty="0">
                <a:solidFill>
                  <a:srgbClr val="5B6B82"/>
                </a:solidFill>
                <a:latin typeface="Calibri" pitchFamily="34" charset="0"/>
                <a:ea typeface="Calibri" pitchFamily="34" charset="-122"/>
                <a:cs typeface="Calibri" pitchFamily="34" charset="-120"/>
              </a:rPr>
              <a:t>Collaborative editing built here</a:t>
            </a:r>
            <a:endParaRPr lang="en-US" sz="1150" dirty="0"/>
          </a:p>
        </p:txBody>
      </p:sp>
      <p:sp>
        <p:nvSpPr>
          <p:cNvPr id="29" name="Shape 26"/>
          <p:cNvSpPr/>
          <p:nvPr/>
        </p:nvSpPr>
        <p:spPr>
          <a:xfrm>
            <a:off x="3657600" y="4700016"/>
            <a:ext cx="274320" cy="237744"/>
          </a:xfrm>
          <a:prstGeom prst="rightArrow">
            <a:avLst/>
          </a:prstGeom>
          <a:solidFill>
            <a:srgbClr val="C8553D"/>
          </a:solidFill>
          <a:ln w="12700">
            <a:solidFill>
              <a:srgbClr val="C8553D"/>
            </a:solidFill>
            <a:prstDash val="solid"/>
          </a:ln>
        </p:spPr>
      </p:sp>
      <p:sp>
        <p:nvSpPr>
          <p:cNvPr id="30" name="Shape 27"/>
          <p:cNvSpPr/>
          <p:nvPr/>
        </p:nvSpPr>
        <p:spPr>
          <a:xfrm>
            <a:off x="3977640" y="4443984"/>
            <a:ext cx="3337560" cy="749808"/>
          </a:xfrm>
          <a:prstGeom prst="rect">
            <a:avLst/>
          </a:prstGeom>
          <a:solidFill>
            <a:srgbClr val="E8EDF5"/>
          </a:solidFill>
          <a:ln w="12700">
            <a:solidFill>
              <a:srgbClr val="E8EDF5"/>
            </a:solidFill>
            <a:prstDash val="solid"/>
          </a:ln>
        </p:spPr>
      </p:sp>
      <p:sp>
        <p:nvSpPr>
          <p:cNvPr id="31" name="Text 28"/>
          <p:cNvSpPr txBox="1"/>
          <p:nvPr/>
        </p:nvSpPr>
        <p:spPr>
          <a:xfrm>
            <a:off x="4114800" y="4443984"/>
            <a:ext cx="2743200" cy="749808"/>
          </a:xfrm>
          <a:prstGeom prst="rect">
            <a:avLst/>
          </a:prstGeom>
          <a:noFill/>
          <a:ln/>
        </p:spPr>
        <p:txBody>
          <a:bodyPr wrap="square" lIns="0" tIns="0" rIns="0" bIns="0" rtlCol="0" anchor="ctr"/>
          <a:lstStyle/>
          <a:p>
            <a:pPr algn="l" indent="0" marL="0">
              <a:buNone/>
            </a:pPr>
            <a:r>
              <a:rPr lang="en-US" sz="1150" b="1" dirty="0">
                <a:solidFill>
                  <a:srgbClr val="14213D"/>
                </a:solidFill>
                <a:latin typeface="Calibri" pitchFamily="34" charset="0"/>
                <a:ea typeface="Calibri" pitchFamily="34" charset="-122"/>
                <a:cs typeface="Calibri" pitchFamily="34" charset="-120"/>
              </a:rPr>
              <a:t>External editor. We hold the authoritative document body and its version chain, with revert</a:t>
            </a:r>
            <a:endParaRPr lang="en-US" sz="1150" dirty="0"/>
          </a:p>
        </p:txBody>
      </p:sp>
      <p:sp>
        <p:nvSpPr>
          <p:cNvPr id="32" name="Text 29"/>
          <p:cNvSpPr txBox="1"/>
          <p:nvPr/>
        </p:nvSpPr>
        <p:spPr>
          <a:xfrm>
            <a:off x="6858000" y="4443984"/>
            <a:ext cx="411480" cy="749808"/>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S-4, S-5</a:t>
            </a:r>
            <a:endParaRPr lang="en-US" sz="900" dirty="0"/>
          </a:p>
        </p:txBody>
      </p:sp>
      <p:sp>
        <p:nvSpPr>
          <p:cNvPr id="33" name="Shape 30"/>
          <p:cNvSpPr/>
          <p:nvPr/>
        </p:nvSpPr>
        <p:spPr>
          <a:xfrm>
            <a:off x="457200" y="5285232"/>
            <a:ext cx="3154680" cy="749808"/>
          </a:xfrm>
          <a:prstGeom prst="rect">
            <a:avLst/>
          </a:prstGeom>
          <a:solidFill>
            <a:srgbClr val="F2F4F7"/>
          </a:solidFill>
          <a:ln w="12700">
            <a:solidFill>
              <a:srgbClr val="F2F4F7"/>
            </a:solidFill>
            <a:prstDash val="solid"/>
          </a:ln>
        </p:spPr>
      </p:sp>
      <p:sp>
        <p:nvSpPr>
          <p:cNvPr id="34" name="Text 31"/>
          <p:cNvSpPr txBox="1"/>
          <p:nvPr/>
        </p:nvSpPr>
        <p:spPr>
          <a:xfrm>
            <a:off x="594360" y="5285232"/>
            <a:ext cx="2926080" cy="749808"/>
          </a:xfrm>
          <a:prstGeom prst="rect">
            <a:avLst/>
          </a:prstGeom>
          <a:noFill/>
          <a:ln/>
        </p:spPr>
        <p:txBody>
          <a:bodyPr wrap="square" lIns="0" tIns="0" rIns="0" bIns="0" rtlCol="0" anchor="ctr"/>
          <a:lstStyle/>
          <a:p>
            <a:pPr algn="l" indent="0" marL="0">
              <a:buNone/>
            </a:pPr>
            <a:r>
              <a:rPr lang="en-US" sz="1150" dirty="0">
                <a:solidFill>
                  <a:srgbClr val="5B6B82"/>
                </a:solidFill>
                <a:latin typeface="Calibri" pitchFamily="34" charset="0"/>
                <a:ea typeface="Calibri" pitchFamily="34" charset="-122"/>
                <a:cs typeface="Calibri" pitchFamily="34" charset="-120"/>
              </a:rPr>
              <a:t>Periodic escalation submissions compiled by hand</a:t>
            </a:r>
            <a:endParaRPr lang="en-US" sz="1150" dirty="0"/>
          </a:p>
        </p:txBody>
      </p:sp>
      <p:sp>
        <p:nvSpPr>
          <p:cNvPr id="35" name="Shape 32"/>
          <p:cNvSpPr/>
          <p:nvPr/>
        </p:nvSpPr>
        <p:spPr>
          <a:xfrm>
            <a:off x="3657600" y="5541264"/>
            <a:ext cx="274320" cy="237744"/>
          </a:xfrm>
          <a:prstGeom prst="rightArrow">
            <a:avLst/>
          </a:prstGeom>
          <a:solidFill>
            <a:srgbClr val="C8553D"/>
          </a:solidFill>
          <a:ln w="12700">
            <a:solidFill>
              <a:srgbClr val="C8553D"/>
            </a:solidFill>
            <a:prstDash val="solid"/>
          </a:ln>
        </p:spPr>
      </p:sp>
      <p:sp>
        <p:nvSpPr>
          <p:cNvPr id="36" name="Shape 33"/>
          <p:cNvSpPr/>
          <p:nvPr/>
        </p:nvSpPr>
        <p:spPr>
          <a:xfrm>
            <a:off x="3977640" y="5285232"/>
            <a:ext cx="3337560" cy="749808"/>
          </a:xfrm>
          <a:prstGeom prst="rect">
            <a:avLst/>
          </a:prstGeom>
          <a:solidFill>
            <a:srgbClr val="E8EDF5"/>
          </a:solidFill>
          <a:ln w="12700">
            <a:solidFill>
              <a:srgbClr val="E8EDF5"/>
            </a:solidFill>
            <a:prstDash val="solid"/>
          </a:ln>
        </p:spPr>
      </p:sp>
      <p:sp>
        <p:nvSpPr>
          <p:cNvPr id="37" name="Text 34"/>
          <p:cNvSpPr txBox="1"/>
          <p:nvPr/>
        </p:nvSpPr>
        <p:spPr>
          <a:xfrm>
            <a:off x="4114800" y="5285232"/>
            <a:ext cx="2743200" cy="749808"/>
          </a:xfrm>
          <a:prstGeom prst="rect">
            <a:avLst/>
          </a:prstGeom>
          <a:noFill/>
          <a:ln/>
        </p:spPr>
        <p:txBody>
          <a:bodyPr wrap="square" lIns="0" tIns="0" rIns="0" bIns="0" rtlCol="0" anchor="ctr"/>
          <a:lstStyle/>
          <a:p>
            <a:pPr algn="l" indent="0" marL="0">
              <a:buNone/>
            </a:pPr>
            <a:r>
              <a:rPr lang="en-US" sz="1150" b="1" dirty="0">
                <a:solidFill>
                  <a:srgbClr val="14213D"/>
                </a:solidFill>
                <a:latin typeface="Calibri" pitchFamily="34" charset="0"/>
                <a:ea typeface="Calibri" pitchFamily="34" charset="-122"/>
                <a:cs typeface="Calibri" pitchFamily="34" charset="-120"/>
              </a:rPr>
              <a:t>Reports generated directly, with quarterly tracking and nil returns</a:t>
            </a:r>
            <a:endParaRPr lang="en-US" sz="1150" dirty="0"/>
          </a:p>
        </p:txBody>
      </p:sp>
      <p:sp>
        <p:nvSpPr>
          <p:cNvPr id="38" name="Text 35"/>
          <p:cNvSpPr txBox="1"/>
          <p:nvPr/>
        </p:nvSpPr>
        <p:spPr>
          <a:xfrm>
            <a:off x="6858000" y="5285232"/>
            <a:ext cx="411480" cy="749808"/>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E-11</a:t>
            </a:r>
            <a:endParaRPr lang="en-US" sz="900" dirty="0"/>
          </a:p>
        </p:txBody>
      </p:sp>
      <p:sp>
        <p:nvSpPr>
          <p:cNvPr id="39" name="Text 36"/>
          <p:cNvSpPr txBox="1"/>
          <p:nvPr/>
        </p:nvSpPr>
        <p:spPr>
          <a:xfrm>
            <a:off x="7726680" y="1600200"/>
            <a:ext cx="4023360" cy="457200"/>
          </a:xfrm>
          <a:prstGeom prst="rect">
            <a:avLst/>
          </a:prstGeom>
          <a:noFill/>
          <a:ln/>
        </p:spPr>
        <p:txBody>
          <a:bodyPr wrap="square" lIns="0" tIns="0" rIns="0" bIns="0" rtlCol="0" anchor="t"/>
          <a:lstStyle/>
          <a:p>
            <a:pPr algn="l" indent="0" marL="0">
              <a:buNone/>
            </a:pPr>
            <a:r>
              <a:rPr lang="en-US" sz="1200" b="1" dirty="0">
                <a:solidFill>
                  <a:srgbClr val="14213D"/>
                </a:solidFill>
                <a:latin typeface="Calibri" pitchFamily="34" charset="0"/>
                <a:ea typeface="Calibri" pitchFamily="34" charset="-122"/>
                <a:cs typeface="Calibri" pitchFamily="34" charset="-120"/>
              </a:rPr>
              <a:t>Effect of stakeholder decisions on the 64 mandatory requirements</a:t>
            </a:r>
            <a:endParaRPr lang="en-US" sz="1200" dirty="0"/>
          </a:p>
        </p:txBody>
      </p:sp>
      <p:graphicFrame>
        <p:nvGraphicFramePr>
          <p:cNvPr id="40" name="Chart 0" descr=""/>
          <p:cNvGraphicFramePr/>
          <p:nvPr/>
        </p:nvGraphicFramePr>
        <p:xfrm>
          <a:off x="7635240" y="2011680"/>
          <a:ext cx="4114800" cy="2926080"/>
        </p:xfrm>
        <a:graphic xmlns:a="http://schemas.openxmlformats.org/drawingml/2006/main">
          <a:graphicData uri="http://schemas.openxmlformats.org/drawingml/2006/chart">
            <c:chart xmlns:c="http://schemas.openxmlformats.org/drawingml/2006/chart" r:id="rId1"/>
          </a:graphicData>
        </a:graphic>
      </p:graphicFrame>
      <p:sp>
        <p:nvSpPr>
          <p:cNvPr id="41" name="Shape 37"/>
          <p:cNvSpPr/>
          <p:nvPr/>
        </p:nvSpPr>
        <p:spPr>
          <a:xfrm>
            <a:off x="7726680" y="5029200"/>
            <a:ext cx="4023360" cy="1097280"/>
          </a:xfrm>
          <a:prstGeom prst="rect">
            <a:avLst/>
          </a:prstGeom>
          <a:solidFill>
            <a:srgbClr val="F7E3DE"/>
          </a:solidFill>
          <a:ln w="12700">
            <a:solidFill>
              <a:srgbClr val="F7E3DE"/>
            </a:solidFill>
            <a:prstDash val="solid"/>
          </a:ln>
        </p:spPr>
      </p:sp>
      <p:sp>
        <p:nvSpPr>
          <p:cNvPr id="42" name="Text 38"/>
          <p:cNvSpPr txBox="1"/>
          <p:nvPr/>
        </p:nvSpPr>
        <p:spPr>
          <a:xfrm>
            <a:off x="7863840" y="5074920"/>
            <a:ext cx="3749040" cy="1005840"/>
          </a:xfrm>
          <a:prstGeom prst="rect">
            <a:avLst/>
          </a:prstGeom>
          <a:noFill/>
          <a:ln/>
        </p:spPr>
        <p:txBody>
          <a:bodyPr wrap="square" lIns="0" tIns="0" rIns="0" bIns="0" rtlCol="0" anchor="ctr"/>
          <a:lstStyle/>
          <a:p>
            <a:pPr algn="l" indent="0" marL="0">
              <a:buNone/>
            </a:pPr>
            <a:r>
              <a:rPr lang="en-US" sz="1150" b="1" dirty="0">
                <a:solidFill>
                  <a:srgbClr val="2A2F36"/>
                </a:solidFill>
                <a:latin typeface="Calibri" pitchFamily="34" charset="0"/>
                <a:ea typeface="Calibri" pitchFamily="34" charset="-122"/>
                <a:cs typeface="Calibri" pitchFamily="34" charset="-120"/>
              </a:rPr>
              <a:t>So what:</a:t>
            </a:r>
            <a:pPr algn="l" indent="0" marL="0">
              <a:buNone/>
            </a:pPr>
            <a:r>
              <a:rPr lang="en-US" sz="1150" dirty="0">
                <a:solidFill>
                  <a:srgbClr val="2A2F36"/>
                </a:solidFill>
                <a:latin typeface="Calibri" pitchFamily="34" charset="0"/>
                <a:ea typeface="Calibri" pitchFamily="34" charset="-122"/>
                <a:cs typeface="Calibri" pitchFamily="34" charset="-120"/>
              </a:rPr>
              <a:t> the largest unknown (four undiscovered external interfaces) was removed. The largest scope increase (in-platform retention) was accepted.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A  ·  WHY THIS EXISTS</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Consilium puts all three lines of defence on the same record, so challenge and assurance happen where the work is done</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docs/guides/08-your-first-day.md (roles); docs/product/05-glossary.md §B–C; docs/delivery/REQUIREMENTS-COVERAGE.md P-13 (permission tests). The mapping of roles to lines of defence is illustrative.</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457200" y="1600200"/>
            <a:ext cx="3576218" cy="777240"/>
          </a:xfrm>
          <a:prstGeom prst="rect">
            <a:avLst/>
          </a:prstGeom>
          <a:solidFill>
            <a:srgbClr val="14213D"/>
          </a:solidFill>
          <a:ln w="12700">
            <a:solidFill>
              <a:srgbClr val="14213D"/>
            </a:solidFill>
            <a:prstDash val="solid"/>
          </a:ln>
        </p:spPr>
      </p:sp>
      <p:sp>
        <p:nvSpPr>
          <p:cNvPr id="8" name="Text 5"/>
          <p:cNvSpPr txBox="1"/>
          <p:nvPr/>
        </p:nvSpPr>
        <p:spPr>
          <a:xfrm>
            <a:off x="685800" y="1645920"/>
            <a:ext cx="3119018" cy="6858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1st line</a:t>
            </a:r>
            <a:endParaRPr lang="en-US" sz="1800" dirty="0"/>
          </a:p>
          <a:p>
            <a:pPr algn="l" indent="0" marL="0">
              <a:spcAft>
                <a:spcPts val="400"/>
              </a:spcAft>
              <a:buNone/>
            </a:pPr>
            <a:r>
              <a:rPr lang="en-US" sz="1200" dirty="0">
                <a:solidFill>
                  <a:srgbClr val="C9D3E3"/>
                </a:solidFill>
                <a:latin typeface="Calibri" pitchFamily="34" charset="0"/>
                <a:ea typeface="Calibri" pitchFamily="34" charset="-122"/>
                <a:cs typeface="Calibri" pitchFamily="34" charset="-120"/>
              </a:rPr>
              <a:t>Own and manage</a:t>
            </a:r>
            <a:endParaRPr lang="en-US" sz="1800" dirty="0"/>
          </a:p>
        </p:txBody>
      </p:sp>
      <p:sp>
        <p:nvSpPr>
          <p:cNvPr id="9" name="Shape 6"/>
          <p:cNvSpPr/>
          <p:nvPr/>
        </p:nvSpPr>
        <p:spPr>
          <a:xfrm>
            <a:off x="457200" y="2377440"/>
            <a:ext cx="3576218" cy="2514600"/>
          </a:xfrm>
          <a:prstGeom prst="rect">
            <a:avLst/>
          </a:prstGeom>
          <a:solidFill>
            <a:srgbClr val="F2F4F7"/>
          </a:solidFill>
          <a:ln w="12700">
            <a:solidFill>
              <a:srgbClr val="F2F4F7"/>
            </a:solidFill>
            <a:prstDash val="solid"/>
          </a:ln>
        </p:spPr>
      </p:sp>
      <p:sp>
        <p:nvSpPr>
          <p:cNvPr id="10" name="Text 7"/>
          <p:cNvSpPr txBox="1"/>
          <p:nvPr/>
        </p:nvSpPr>
        <p:spPr>
          <a:xfrm>
            <a:off x="640080" y="2542032"/>
            <a:ext cx="3210458" cy="2286000"/>
          </a:xfrm>
          <a:prstGeom prst="rect">
            <a:avLst/>
          </a:prstGeom>
          <a:noFill/>
          <a:ln/>
        </p:spPr>
        <p:txBody>
          <a:bodyPr wrap="square" lIns="0" tIns="0" rIns="0" bIns="0" rtlCol="0" anchor="t"/>
          <a:lstStyle/>
          <a:p>
            <a:pPr algn="l" marL="177800" indent="-177800">
              <a:spcAft>
                <a:spcPts val="900"/>
              </a:spcAft>
              <a:buSzPct val="100000"/>
              <a:buChar char="•"/>
            </a:pPr>
            <a:r>
              <a:rPr lang="en-US" sz="1300" dirty="0">
                <a:solidFill>
                  <a:srgbClr val="2A2F36"/>
                </a:solidFill>
                <a:latin typeface="Calibri" pitchFamily="34" charset="0"/>
                <a:ea typeface="Calibri" pitchFamily="34" charset="-122"/>
                <a:cs typeface="Calibri" pitchFamily="34" charset="-120"/>
              </a:rPr>
              <a:t>Policy Owner — drafts and maintains governing documents</a:t>
            </a:r>
            <a:endParaRPr lang="en-US" sz="1300" dirty="0"/>
          </a:p>
          <a:p>
            <a:pPr algn="l" marL="177800" indent="-177800">
              <a:spcAft>
                <a:spcPts val="900"/>
              </a:spcAft>
              <a:buSzPct val="100000"/>
              <a:buChar char="•"/>
            </a:pPr>
            <a:r>
              <a:rPr lang="en-US" sz="1300" dirty="0">
                <a:solidFill>
                  <a:srgbClr val="2A2F36"/>
                </a:solidFill>
                <a:latin typeface="Calibri" pitchFamily="34" charset="0"/>
                <a:ea typeface="Calibri" pitchFamily="34" charset="-122"/>
                <a:cs typeface="Calibri" pitchFamily="34" charset="-120"/>
              </a:rPr>
              <a:t>Escalation Owner — raises and works matters, action plans, closures</a:t>
            </a:r>
            <a:endParaRPr lang="en-US" sz="1300" dirty="0"/>
          </a:p>
          <a:p>
            <a:pPr algn="l" marL="177800" indent="-177800">
              <a:spcAft>
                <a:spcPts val="900"/>
              </a:spcAft>
              <a:buSzPct val="100000"/>
              <a:buChar char="•"/>
            </a:pPr>
            <a:r>
              <a:rPr lang="en-US" sz="1300" dirty="0">
                <a:solidFill>
                  <a:srgbClr val="2A2F36"/>
                </a:solidFill>
                <a:latin typeface="Calibri" pitchFamily="34" charset="0"/>
                <a:ea typeface="Calibri" pitchFamily="34" charset="-122"/>
                <a:cs typeface="Calibri" pitchFamily="34" charset="-120"/>
              </a:rPr>
              <a:t>Committee Secretary / Forum Owner — meetings, motions, votes, membership</a:t>
            </a:r>
            <a:endParaRPr lang="en-US" sz="1300" dirty="0"/>
          </a:p>
        </p:txBody>
      </p:sp>
      <p:sp>
        <p:nvSpPr>
          <p:cNvPr id="11" name="Shape 8"/>
          <p:cNvSpPr/>
          <p:nvPr/>
        </p:nvSpPr>
        <p:spPr>
          <a:xfrm>
            <a:off x="4307738" y="1600200"/>
            <a:ext cx="3576218" cy="777240"/>
          </a:xfrm>
          <a:prstGeom prst="rect">
            <a:avLst/>
          </a:prstGeom>
          <a:solidFill>
            <a:srgbClr val="2B3F66"/>
          </a:solidFill>
          <a:ln w="12700">
            <a:solidFill>
              <a:srgbClr val="2B3F66"/>
            </a:solidFill>
            <a:prstDash val="solid"/>
          </a:ln>
        </p:spPr>
      </p:sp>
      <p:sp>
        <p:nvSpPr>
          <p:cNvPr id="12" name="Text 9"/>
          <p:cNvSpPr txBox="1"/>
          <p:nvPr/>
        </p:nvSpPr>
        <p:spPr>
          <a:xfrm>
            <a:off x="4536338" y="1645920"/>
            <a:ext cx="3119018" cy="6858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2nd line</a:t>
            </a:r>
            <a:endParaRPr lang="en-US" sz="1800" dirty="0"/>
          </a:p>
          <a:p>
            <a:pPr algn="l" indent="0" marL="0">
              <a:spcAft>
                <a:spcPts val="400"/>
              </a:spcAft>
              <a:buNone/>
            </a:pPr>
            <a:r>
              <a:rPr lang="en-US" sz="1200" dirty="0">
                <a:solidFill>
                  <a:srgbClr val="C9D3E3"/>
                </a:solidFill>
                <a:latin typeface="Calibri" pitchFamily="34" charset="0"/>
                <a:ea typeface="Calibri" pitchFamily="34" charset="-122"/>
                <a:cs typeface="Calibri" pitchFamily="34" charset="-120"/>
              </a:rPr>
              <a:t>Oversee and challenge</a:t>
            </a:r>
            <a:endParaRPr lang="en-US" sz="1800" dirty="0"/>
          </a:p>
        </p:txBody>
      </p:sp>
      <p:sp>
        <p:nvSpPr>
          <p:cNvPr id="13" name="Shape 10"/>
          <p:cNvSpPr/>
          <p:nvPr/>
        </p:nvSpPr>
        <p:spPr>
          <a:xfrm>
            <a:off x="4307738" y="2377440"/>
            <a:ext cx="3576218" cy="2514600"/>
          </a:xfrm>
          <a:prstGeom prst="rect">
            <a:avLst/>
          </a:prstGeom>
          <a:solidFill>
            <a:srgbClr val="F2F4F7"/>
          </a:solidFill>
          <a:ln w="12700">
            <a:solidFill>
              <a:srgbClr val="F2F4F7"/>
            </a:solidFill>
            <a:prstDash val="solid"/>
          </a:ln>
        </p:spPr>
      </p:sp>
      <p:sp>
        <p:nvSpPr>
          <p:cNvPr id="14" name="Text 11"/>
          <p:cNvSpPr txBox="1"/>
          <p:nvPr/>
        </p:nvSpPr>
        <p:spPr>
          <a:xfrm>
            <a:off x="4490618" y="2542032"/>
            <a:ext cx="3210458" cy="2286000"/>
          </a:xfrm>
          <a:prstGeom prst="rect">
            <a:avLst/>
          </a:prstGeom>
          <a:noFill/>
          <a:ln/>
        </p:spPr>
        <p:txBody>
          <a:bodyPr wrap="square" lIns="0" tIns="0" rIns="0" bIns="0" rtlCol="0" anchor="t"/>
          <a:lstStyle/>
          <a:p>
            <a:pPr algn="l" marL="177800" indent="-177800">
              <a:spcAft>
                <a:spcPts val="900"/>
              </a:spcAft>
              <a:buSzPct val="100000"/>
              <a:buChar char="•"/>
            </a:pPr>
            <a:r>
              <a:rPr lang="en-US" sz="1300" dirty="0">
                <a:solidFill>
                  <a:srgbClr val="2A2F36"/>
                </a:solidFill>
                <a:latin typeface="Calibri" pitchFamily="34" charset="0"/>
                <a:ea typeface="Calibri" pitchFamily="34" charset="-122"/>
                <a:cs typeface="Calibri" pitchFamily="34" charset="-120"/>
              </a:rPr>
              <a:t>Risk Governance Office — evaluates formation requests</a:t>
            </a:r>
            <a:endParaRPr lang="en-US" sz="1300" dirty="0"/>
          </a:p>
          <a:p>
            <a:pPr algn="l" marL="177800" indent="-177800">
              <a:spcAft>
                <a:spcPts val="900"/>
              </a:spcAft>
              <a:buSzPct val="100000"/>
              <a:buChar char="•"/>
            </a:pPr>
            <a:r>
              <a:rPr lang="en-US" sz="1300" dirty="0">
                <a:solidFill>
                  <a:srgbClr val="2A2F36"/>
                </a:solidFill>
                <a:latin typeface="Calibri" pitchFamily="34" charset="0"/>
                <a:ea typeface="Calibri" pitchFamily="34" charset="-122"/>
                <a:cs typeface="Calibri" pitchFamily="34" charset="-120"/>
              </a:rPr>
              <a:t>Compliance Reviewer — records forum compliance decisions</a:t>
            </a:r>
            <a:endParaRPr lang="en-US" sz="1300" dirty="0"/>
          </a:p>
          <a:p>
            <a:pPr algn="l" marL="177800" indent="-177800">
              <a:spcAft>
                <a:spcPts val="900"/>
              </a:spcAft>
              <a:buSzPct val="100000"/>
              <a:buChar char="•"/>
            </a:pPr>
            <a:r>
              <a:rPr lang="en-US" sz="1300" dirty="0">
                <a:solidFill>
                  <a:srgbClr val="2A2F36"/>
                </a:solidFill>
                <a:latin typeface="Calibri" pitchFamily="34" charset="0"/>
                <a:ea typeface="Calibri" pitchFamily="34" charset="-122"/>
                <a:cs typeface="Calibri" pitchFamily="34" charset="-120"/>
              </a:rPr>
              <a:t>Escalation Reviewer — challenges and reviews matters</a:t>
            </a:r>
            <a:endParaRPr lang="en-US" sz="1300" dirty="0"/>
          </a:p>
          <a:p>
            <a:pPr algn="l" marL="177800" indent="-177800">
              <a:spcAft>
                <a:spcPts val="900"/>
              </a:spcAft>
              <a:buSzPct val="100000"/>
              <a:buChar char="•"/>
            </a:pPr>
            <a:r>
              <a:rPr lang="en-US" sz="1300" dirty="0">
                <a:solidFill>
                  <a:srgbClr val="2A2F36"/>
                </a:solidFill>
                <a:latin typeface="Calibri" pitchFamily="34" charset="0"/>
                <a:ea typeface="Calibri" pitchFamily="34" charset="-122"/>
                <a:cs typeface="Calibri" pitchFamily="34" charset="-120"/>
              </a:rPr>
              <a:t>Enterprise Policy Office — approves, publishes, retires</a:t>
            </a:r>
            <a:endParaRPr lang="en-US" sz="1300" dirty="0"/>
          </a:p>
        </p:txBody>
      </p:sp>
      <p:sp>
        <p:nvSpPr>
          <p:cNvPr id="15" name="Shape 12"/>
          <p:cNvSpPr/>
          <p:nvPr/>
        </p:nvSpPr>
        <p:spPr>
          <a:xfrm>
            <a:off x="8158277" y="1600200"/>
            <a:ext cx="3576218" cy="777240"/>
          </a:xfrm>
          <a:prstGeom prst="rect">
            <a:avLst/>
          </a:prstGeom>
          <a:solidFill>
            <a:srgbClr val="5B6B82"/>
          </a:solidFill>
          <a:ln w="12700">
            <a:solidFill>
              <a:srgbClr val="5B6B82"/>
            </a:solidFill>
            <a:prstDash val="solid"/>
          </a:ln>
        </p:spPr>
      </p:sp>
      <p:sp>
        <p:nvSpPr>
          <p:cNvPr id="16" name="Text 13"/>
          <p:cNvSpPr txBox="1"/>
          <p:nvPr/>
        </p:nvSpPr>
        <p:spPr>
          <a:xfrm>
            <a:off x="8386877" y="1645920"/>
            <a:ext cx="3119018" cy="6858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3rd line</a:t>
            </a:r>
            <a:endParaRPr lang="en-US" sz="1800" dirty="0"/>
          </a:p>
          <a:p>
            <a:pPr algn="l" indent="0" marL="0">
              <a:spcAft>
                <a:spcPts val="400"/>
              </a:spcAft>
              <a:buNone/>
            </a:pPr>
            <a:r>
              <a:rPr lang="en-US" sz="1200" dirty="0">
                <a:solidFill>
                  <a:srgbClr val="C9D3E3"/>
                </a:solidFill>
                <a:latin typeface="Calibri" pitchFamily="34" charset="0"/>
                <a:ea typeface="Calibri" pitchFamily="34" charset="-122"/>
                <a:cs typeface="Calibri" pitchFamily="34" charset="-120"/>
              </a:rPr>
              <a:t>Independent assurance</a:t>
            </a:r>
            <a:endParaRPr lang="en-US" sz="1800" dirty="0"/>
          </a:p>
        </p:txBody>
      </p:sp>
      <p:sp>
        <p:nvSpPr>
          <p:cNvPr id="17" name="Shape 14"/>
          <p:cNvSpPr/>
          <p:nvPr/>
        </p:nvSpPr>
        <p:spPr>
          <a:xfrm>
            <a:off x="8158277" y="2377440"/>
            <a:ext cx="3576218" cy="2514600"/>
          </a:xfrm>
          <a:prstGeom prst="rect">
            <a:avLst/>
          </a:prstGeom>
          <a:solidFill>
            <a:srgbClr val="F2F4F7"/>
          </a:solidFill>
          <a:ln w="12700">
            <a:solidFill>
              <a:srgbClr val="F2F4F7"/>
            </a:solidFill>
            <a:prstDash val="solid"/>
          </a:ln>
        </p:spPr>
      </p:sp>
      <p:sp>
        <p:nvSpPr>
          <p:cNvPr id="18" name="Text 15"/>
          <p:cNvSpPr txBox="1"/>
          <p:nvPr/>
        </p:nvSpPr>
        <p:spPr>
          <a:xfrm>
            <a:off x="8341157" y="2542032"/>
            <a:ext cx="3210458" cy="2286000"/>
          </a:xfrm>
          <a:prstGeom prst="rect">
            <a:avLst/>
          </a:prstGeom>
          <a:noFill/>
          <a:ln/>
        </p:spPr>
        <p:txBody>
          <a:bodyPr wrap="square" lIns="0" tIns="0" rIns="0" bIns="0" rtlCol="0" anchor="t"/>
          <a:lstStyle/>
          <a:p>
            <a:pPr algn="l" marL="177800" indent="-177800">
              <a:spcAft>
                <a:spcPts val="900"/>
              </a:spcAft>
              <a:buSzPct val="100000"/>
              <a:buChar char="•"/>
            </a:pPr>
            <a:r>
              <a:rPr lang="en-US" sz="1300" dirty="0">
                <a:solidFill>
                  <a:srgbClr val="2A2F36"/>
                </a:solidFill>
                <a:latin typeface="Calibri" pitchFamily="34" charset="0"/>
                <a:ea typeface="Calibri" pitchFamily="34" charset="-122"/>
                <a:cs typeface="Calibri" pitchFamily="34" charset="-120"/>
              </a:rPr>
              <a:t>Consilium Audit — reads everything, changes nothing</a:t>
            </a:r>
            <a:endParaRPr lang="en-US" sz="1300" dirty="0"/>
          </a:p>
          <a:p>
            <a:pPr algn="l" marL="177800" indent="-177800">
              <a:spcAft>
                <a:spcPts val="900"/>
              </a:spcAft>
              <a:buSzPct val="100000"/>
              <a:buChar char="•"/>
            </a:pPr>
            <a:r>
              <a:rPr lang="en-US" sz="1300" dirty="0">
                <a:solidFill>
                  <a:srgbClr val="2A2F36"/>
                </a:solidFill>
                <a:latin typeface="Calibri" pitchFamily="34" charset="0"/>
                <a:ea typeface="Calibri" pitchFamily="34" charset="-122"/>
                <a:cs typeface="Calibri" pitchFamily="34" charset="-120"/>
              </a:rPr>
              <a:t>Governance Refusal Log — every refused action, with reason</a:t>
            </a:r>
            <a:endParaRPr lang="en-US" sz="1300" dirty="0"/>
          </a:p>
          <a:p>
            <a:pPr algn="l" marL="177800" indent="-177800">
              <a:spcAft>
                <a:spcPts val="900"/>
              </a:spcAft>
              <a:buSzPct val="100000"/>
              <a:buChar char="•"/>
            </a:pPr>
            <a:r>
              <a:rPr lang="en-US" sz="1300" dirty="0">
                <a:solidFill>
                  <a:srgbClr val="2A2F36"/>
                </a:solidFill>
                <a:latin typeface="Calibri" pitchFamily="34" charset="0"/>
                <a:ea typeface="Calibri" pitchFamily="34" charset="-122"/>
                <a:cs typeface="Calibri" pitchFamily="34" charset="-120"/>
              </a:rPr>
              <a:t>Field-level change history on every governed record</a:t>
            </a:r>
            <a:endParaRPr lang="en-US" sz="1300" dirty="0"/>
          </a:p>
        </p:txBody>
      </p:sp>
      <p:sp>
        <p:nvSpPr>
          <p:cNvPr id="19" name="Text 16"/>
          <p:cNvSpPr txBox="1"/>
          <p:nvPr/>
        </p:nvSpPr>
        <p:spPr>
          <a:xfrm>
            <a:off x="457200" y="5074920"/>
            <a:ext cx="11277295" cy="274320"/>
          </a:xfrm>
          <a:prstGeom prst="rect">
            <a:avLst/>
          </a:prstGeom>
          <a:noFill/>
          <a:ln/>
        </p:spPr>
        <p:txBody>
          <a:bodyPr wrap="square" lIns="0" tIns="0" rIns="0" bIns="0" rtlCol="0" anchor="t"/>
          <a:lstStyle/>
          <a:p>
            <a:pPr algn="l" indent="0" marL="0">
              <a:buNone/>
            </a:pPr>
            <a:r>
              <a:rPr lang="en-US" sz="1200" b="1" dirty="0">
                <a:solidFill>
                  <a:srgbClr val="14213D"/>
                </a:solidFill>
                <a:latin typeface="Calibri" pitchFamily="34" charset="0"/>
                <a:ea typeface="Calibri" pitchFamily="34" charset="-122"/>
                <a:cs typeface="Calibri" pitchFamily="34" charset="-120"/>
              </a:rPr>
              <a:t>Segregation of duties is enforced on the server and tested by attempting forbidden actions:</a:t>
            </a:r>
            <a:endParaRPr lang="en-US" sz="1200" dirty="0"/>
          </a:p>
        </p:txBody>
      </p:sp>
      <p:sp>
        <p:nvSpPr>
          <p:cNvPr id="20" name="Shape 17"/>
          <p:cNvSpPr/>
          <p:nvPr/>
        </p:nvSpPr>
        <p:spPr>
          <a:xfrm>
            <a:off x="457200" y="5440680"/>
            <a:ext cx="2716454" cy="640080"/>
          </a:xfrm>
          <a:prstGeom prst="rect">
            <a:avLst/>
          </a:prstGeom>
          <a:solidFill>
            <a:srgbClr val="E8EDF5"/>
          </a:solidFill>
          <a:ln w="12700">
            <a:solidFill>
              <a:srgbClr val="E8EDF5"/>
            </a:solidFill>
            <a:prstDash val="solid"/>
          </a:ln>
        </p:spPr>
      </p:sp>
      <p:sp>
        <p:nvSpPr>
          <p:cNvPr id="21" name="Text 18"/>
          <p:cNvSpPr txBox="1"/>
          <p:nvPr/>
        </p:nvSpPr>
        <p:spPr>
          <a:xfrm>
            <a:off x="594360" y="5440680"/>
            <a:ext cx="2442134" cy="640080"/>
          </a:xfrm>
          <a:prstGeom prst="rect">
            <a:avLst/>
          </a:prstGeom>
          <a:noFill/>
          <a:ln/>
        </p:spPr>
        <p:txBody>
          <a:bodyPr wrap="square" lIns="0" tIns="0" rIns="0" bIns="0" rtlCol="0" anchor="ctr"/>
          <a:lstStyle/>
          <a:p>
            <a:pPr algn="l" indent="0" marL="0">
              <a:buNone/>
            </a:pPr>
            <a:r>
              <a:rPr lang="en-US" sz="1150" dirty="0">
                <a:solidFill>
                  <a:srgbClr val="14213D"/>
                </a:solidFill>
                <a:latin typeface="Calibri" pitchFamily="34" charset="0"/>
                <a:ea typeface="Calibri" pitchFamily="34" charset="-122"/>
                <a:cs typeface="Calibri" pitchFamily="34" charset="-120"/>
              </a:rPr>
              <a:t>✓  A reviewer cannot create a document</a:t>
            </a:r>
            <a:endParaRPr lang="en-US" sz="1150" dirty="0"/>
          </a:p>
        </p:txBody>
      </p:sp>
      <p:sp>
        <p:nvSpPr>
          <p:cNvPr id="22" name="Shape 19"/>
          <p:cNvSpPr/>
          <p:nvPr/>
        </p:nvSpPr>
        <p:spPr>
          <a:xfrm>
            <a:off x="3310814" y="5440680"/>
            <a:ext cx="2716454" cy="640080"/>
          </a:xfrm>
          <a:prstGeom prst="rect">
            <a:avLst/>
          </a:prstGeom>
          <a:solidFill>
            <a:srgbClr val="E8EDF5"/>
          </a:solidFill>
          <a:ln w="12700">
            <a:solidFill>
              <a:srgbClr val="E8EDF5"/>
            </a:solidFill>
            <a:prstDash val="solid"/>
          </a:ln>
        </p:spPr>
      </p:sp>
      <p:sp>
        <p:nvSpPr>
          <p:cNvPr id="23" name="Text 20"/>
          <p:cNvSpPr txBox="1"/>
          <p:nvPr/>
        </p:nvSpPr>
        <p:spPr>
          <a:xfrm>
            <a:off x="3447974" y="5440680"/>
            <a:ext cx="2442134" cy="640080"/>
          </a:xfrm>
          <a:prstGeom prst="rect">
            <a:avLst/>
          </a:prstGeom>
          <a:noFill/>
          <a:ln/>
        </p:spPr>
        <p:txBody>
          <a:bodyPr wrap="square" lIns="0" tIns="0" rIns="0" bIns="0" rtlCol="0" anchor="ctr"/>
          <a:lstStyle/>
          <a:p>
            <a:pPr algn="l" indent="0" marL="0">
              <a:buNone/>
            </a:pPr>
            <a:r>
              <a:rPr lang="en-US" sz="1150" dirty="0">
                <a:solidFill>
                  <a:srgbClr val="14213D"/>
                </a:solidFill>
                <a:latin typeface="Calibri" pitchFamily="34" charset="0"/>
                <a:ea typeface="Calibri" pitchFamily="34" charset="-122"/>
                <a:cs typeface="Calibri" pitchFamily="34" charset="-120"/>
              </a:rPr>
              <a:t>✓  A policy owner cannot delete a document</a:t>
            </a:r>
            <a:endParaRPr lang="en-US" sz="1150" dirty="0"/>
          </a:p>
        </p:txBody>
      </p:sp>
      <p:sp>
        <p:nvSpPr>
          <p:cNvPr id="24" name="Shape 21"/>
          <p:cNvSpPr/>
          <p:nvPr/>
        </p:nvSpPr>
        <p:spPr>
          <a:xfrm>
            <a:off x="6164428" y="5440680"/>
            <a:ext cx="2716454" cy="640080"/>
          </a:xfrm>
          <a:prstGeom prst="rect">
            <a:avLst/>
          </a:prstGeom>
          <a:solidFill>
            <a:srgbClr val="E8EDF5"/>
          </a:solidFill>
          <a:ln w="12700">
            <a:solidFill>
              <a:srgbClr val="E8EDF5"/>
            </a:solidFill>
            <a:prstDash val="solid"/>
          </a:ln>
        </p:spPr>
      </p:sp>
      <p:sp>
        <p:nvSpPr>
          <p:cNvPr id="25" name="Text 22"/>
          <p:cNvSpPr txBox="1"/>
          <p:nvPr/>
        </p:nvSpPr>
        <p:spPr>
          <a:xfrm>
            <a:off x="6301588" y="5440680"/>
            <a:ext cx="2442134" cy="640080"/>
          </a:xfrm>
          <a:prstGeom prst="rect">
            <a:avLst/>
          </a:prstGeom>
          <a:noFill/>
          <a:ln/>
        </p:spPr>
        <p:txBody>
          <a:bodyPr wrap="square" lIns="0" tIns="0" rIns="0" bIns="0" rtlCol="0" anchor="ctr"/>
          <a:lstStyle/>
          <a:p>
            <a:pPr algn="l" indent="0" marL="0">
              <a:buNone/>
            </a:pPr>
            <a:r>
              <a:rPr lang="en-US" sz="1150" dirty="0">
                <a:solidFill>
                  <a:srgbClr val="14213D"/>
                </a:solidFill>
                <a:latin typeface="Calibri" pitchFamily="34" charset="0"/>
                <a:ea typeface="Calibri" pitchFamily="34" charset="-122"/>
                <a:cs typeface="Calibri" pitchFamily="34" charset="-120"/>
              </a:rPr>
              <a:t>✓  An auditor may read but not write</a:t>
            </a:r>
            <a:endParaRPr lang="en-US" sz="1150" dirty="0"/>
          </a:p>
        </p:txBody>
      </p:sp>
      <p:sp>
        <p:nvSpPr>
          <p:cNvPr id="26" name="Shape 23"/>
          <p:cNvSpPr/>
          <p:nvPr/>
        </p:nvSpPr>
        <p:spPr>
          <a:xfrm>
            <a:off x="9018041" y="5440680"/>
            <a:ext cx="2716454" cy="640080"/>
          </a:xfrm>
          <a:prstGeom prst="rect">
            <a:avLst/>
          </a:prstGeom>
          <a:solidFill>
            <a:srgbClr val="E8EDF5"/>
          </a:solidFill>
          <a:ln w="12700">
            <a:solidFill>
              <a:srgbClr val="E8EDF5"/>
            </a:solidFill>
            <a:prstDash val="solid"/>
          </a:ln>
        </p:spPr>
      </p:sp>
      <p:sp>
        <p:nvSpPr>
          <p:cNvPr id="27" name="Text 24"/>
          <p:cNvSpPr txBox="1"/>
          <p:nvPr/>
        </p:nvSpPr>
        <p:spPr>
          <a:xfrm>
            <a:off x="9155201" y="5440680"/>
            <a:ext cx="2442134" cy="640080"/>
          </a:xfrm>
          <a:prstGeom prst="rect">
            <a:avLst/>
          </a:prstGeom>
          <a:noFill/>
          <a:ln/>
        </p:spPr>
        <p:txBody>
          <a:bodyPr wrap="square" lIns="0" tIns="0" rIns="0" bIns="0" rtlCol="0" anchor="ctr"/>
          <a:lstStyle/>
          <a:p>
            <a:pPr algn="l" indent="0" marL="0">
              <a:buNone/>
            </a:pPr>
            <a:r>
              <a:rPr lang="en-US" sz="1150" dirty="0">
                <a:solidFill>
                  <a:srgbClr val="14213D"/>
                </a:solidFill>
                <a:latin typeface="Calibri" pitchFamily="34" charset="0"/>
                <a:ea typeface="Calibri" pitchFamily="34" charset="-122"/>
                <a:cs typeface="Calibri" pitchFamily="34" charset="-120"/>
              </a:rPr>
              <a:t>✓  A viewer cannot create a forum</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1417320"/>
            <a:ext cx="2011680" cy="2011680"/>
          </a:xfrm>
          <a:prstGeom prst="rect">
            <a:avLst/>
          </a:prstGeom>
          <a:noFill/>
          <a:ln/>
        </p:spPr>
        <p:txBody>
          <a:bodyPr wrap="square" lIns="0" tIns="0" rIns="0" bIns="0" rtlCol="0" anchor="t"/>
          <a:lstStyle/>
          <a:p>
            <a:pPr indent="0" marL="0">
              <a:buNone/>
            </a:pPr>
            <a:r>
              <a:rPr lang="en-US" sz="15000" b="1" dirty="0">
                <a:solidFill>
                  <a:srgbClr val="C8553D"/>
                </a:solidFill>
                <a:latin typeface="Calibri" pitchFamily="34" charset="0"/>
                <a:ea typeface="Calibri" pitchFamily="34" charset="-122"/>
                <a:cs typeface="Calibri" pitchFamily="34" charset="-120"/>
              </a:rPr>
              <a:t>B</a:t>
            </a:r>
            <a:endParaRPr lang="en-US" sz="15000" dirty="0"/>
          </a:p>
        </p:txBody>
      </p:sp>
      <p:sp>
        <p:nvSpPr>
          <p:cNvPr id="3" name="Text 1"/>
          <p:cNvSpPr txBox="1"/>
          <p:nvPr/>
        </p:nvSpPr>
        <p:spPr>
          <a:xfrm>
            <a:off x="2743200" y="1828800"/>
            <a:ext cx="8686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What we built</a:t>
            </a:r>
            <a:endParaRPr lang="en-US" sz="3600" dirty="0"/>
          </a:p>
        </p:txBody>
      </p:sp>
      <p:sp>
        <p:nvSpPr>
          <p:cNvPr id="4" name="Text 2"/>
          <p:cNvSpPr txBox="1"/>
          <p:nvPr/>
        </p:nvSpPr>
        <p:spPr>
          <a:xfrm>
            <a:off x="2743200" y="2697480"/>
            <a:ext cx="8503920" cy="1097280"/>
          </a:xfrm>
          <a:prstGeom prst="rect">
            <a:avLst/>
          </a:prstGeom>
          <a:noFill/>
          <a:ln/>
        </p:spPr>
        <p:txBody>
          <a:bodyPr wrap="square" lIns="0" tIns="0" rIns="0" bIns="0" rtlCol="0" anchor="t"/>
          <a:lstStyle/>
          <a:p>
            <a:pPr indent="0" marL="0">
              <a:buNone/>
            </a:pPr>
            <a:r>
              <a:rPr lang="en-US" sz="1800" dirty="0">
                <a:solidFill>
                  <a:srgbClr val="C9D3E3"/>
                </a:solidFill>
                <a:latin typeface="Calibri" pitchFamily="34" charset="0"/>
                <a:ea typeface="Calibri" pitchFamily="34" charset="-122"/>
                <a:cs typeface="Calibri" pitchFamily="34" charset="-120"/>
              </a:rPr>
              <a:t>The capability, the design choices behind it, and the platform it runs on</a:t>
            </a:r>
            <a:endParaRPr lang="en-US" sz="1800" dirty="0"/>
          </a:p>
        </p:txBody>
      </p:sp>
      <p:sp>
        <p:nvSpPr>
          <p:cNvPr id="5" name="Text 3"/>
          <p:cNvSpPr txBox="1"/>
          <p:nvPr/>
        </p:nvSpPr>
        <p:spPr>
          <a:xfrm>
            <a:off x="457200"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A  </a:t>
            </a:r>
            <a:pPr indent="0" marL="0">
              <a:buNone/>
            </a:pPr>
            <a:r>
              <a:rPr lang="en-US" sz="1200" dirty="0">
                <a:solidFill>
                  <a:srgbClr val="8391A8"/>
                </a:solidFill>
                <a:latin typeface="Calibri" pitchFamily="34" charset="0"/>
                <a:ea typeface="Calibri" pitchFamily="34" charset="-122"/>
                <a:cs typeface="Calibri" pitchFamily="34" charset="-120"/>
              </a:rPr>
              <a:t>Why this exists</a:t>
            </a:r>
            <a:endParaRPr lang="en-US" sz="1200" dirty="0"/>
          </a:p>
        </p:txBody>
      </p:sp>
      <p:sp>
        <p:nvSpPr>
          <p:cNvPr id="6" name="Shape 4"/>
          <p:cNvSpPr/>
          <p:nvPr/>
        </p:nvSpPr>
        <p:spPr>
          <a:xfrm>
            <a:off x="457200" y="5303520"/>
            <a:ext cx="1742389" cy="36576"/>
          </a:xfrm>
          <a:prstGeom prst="rect">
            <a:avLst/>
          </a:prstGeom>
          <a:solidFill>
            <a:srgbClr val="3A4A6A"/>
          </a:solidFill>
          <a:ln w="12700">
            <a:solidFill>
              <a:srgbClr val="3A4A6A"/>
            </a:solidFill>
            <a:prstDash val="solid"/>
          </a:ln>
        </p:spPr>
      </p:sp>
      <p:sp>
        <p:nvSpPr>
          <p:cNvPr id="7" name="Text 5"/>
          <p:cNvSpPr txBox="1"/>
          <p:nvPr/>
        </p:nvSpPr>
        <p:spPr>
          <a:xfrm>
            <a:off x="2336749" y="5394960"/>
            <a:ext cx="1788109"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B  </a:t>
            </a:r>
            <a:pPr indent="0" marL="0">
              <a:buNone/>
            </a:pPr>
            <a:r>
              <a:rPr lang="en-US" sz="1200" b="1" dirty="0">
                <a:solidFill>
                  <a:srgbClr val="FFFFFF"/>
                </a:solidFill>
                <a:latin typeface="Calibri" pitchFamily="34" charset="0"/>
                <a:ea typeface="Calibri" pitchFamily="34" charset="-122"/>
                <a:cs typeface="Calibri" pitchFamily="34" charset="-120"/>
              </a:rPr>
              <a:t>What we built</a:t>
            </a:r>
            <a:endParaRPr lang="en-US" sz="1200" dirty="0"/>
          </a:p>
        </p:txBody>
      </p:sp>
      <p:sp>
        <p:nvSpPr>
          <p:cNvPr id="8" name="Shape 6"/>
          <p:cNvSpPr/>
          <p:nvPr/>
        </p:nvSpPr>
        <p:spPr>
          <a:xfrm>
            <a:off x="2336749" y="5303520"/>
            <a:ext cx="1742389" cy="36576"/>
          </a:xfrm>
          <a:prstGeom prst="rect">
            <a:avLst/>
          </a:prstGeom>
          <a:solidFill>
            <a:srgbClr val="C8553D"/>
          </a:solidFill>
          <a:ln w="12700">
            <a:solidFill>
              <a:srgbClr val="C8553D"/>
            </a:solidFill>
            <a:prstDash val="solid"/>
          </a:ln>
        </p:spPr>
      </p:sp>
      <p:sp>
        <p:nvSpPr>
          <p:cNvPr id="9" name="Text 7"/>
          <p:cNvSpPr txBox="1"/>
          <p:nvPr/>
        </p:nvSpPr>
        <p:spPr>
          <a:xfrm>
            <a:off x="4216298"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C  </a:t>
            </a:r>
            <a:pPr indent="0" marL="0">
              <a:buNone/>
            </a:pPr>
            <a:r>
              <a:rPr lang="en-US" sz="1200" dirty="0">
                <a:solidFill>
                  <a:srgbClr val="8391A8"/>
                </a:solidFill>
                <a:latin typeface="Calibri" pitchFamily="34" charset="0"/>
                <a:ea typeface="Calibri" pitchFamily="34" charset="-122"/>
                <a:cs typeface="Calibri" pitchFamily="34" charset="-120"/>
              </a:rPr>
              <a:t>How it works</a:t>
            </a:r>
            <a:endParaRPr lang="en-US" sz="1200" dirty="0"/>
          </a:p>
        </p:txBody>
      </p:sp>
      <p:sp>
        <p:nvSpPr>
          <p:cNvPr id="10" name="Shape 8"/>
          <p:cNvSpPr/>
          <p:nvPr/>
        </p:nvSpPr>
        <p:spPr>
          <a:xfrm>
            <a:off x="4216298" y="5303520"/>
            <a:ext cx="1742389" cy="36576"/>
          </a:xfrm>
          <a:prstGeom prst="rect">
            <a:avLst/>
          </a:prstGeom>
          <a:solidFill>
            <a:srgbClr val="3A4A6A"/>
          </a:solidFill>
          <a:ln w="12700">
            <a:solidFill>
              <a:srgbClr val="3A4A6A"/>
            </a:solidFill>
            <a:prstDash val="solid"/>
          </a:ln>
        </p:spPr>
      </p:sp>
      <p:sp>
        <p:nvSpPr>
          <p:cNvPr id="11" name="Text 9"/>
          <p:cNvSpPr txBox="1"/>
          <p:nvPr/>
        </p:nvSpPr>
        <p:spPr>
          <a:xfrm>
            <a:off x="6095848"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D  </a:t>
            </a:r>
            <a:pPr indent="0" marL="0">
              <a:buNone/>
            </a:pPr>
            <a:r>
              <a:rPr lang="en-US" sz="1200" dirty="0">
                <a:solidFill>
                  <a:srgbClr val="8391A8"/>
                </a:solidFill>
                <a:latin typeface="Calibri" pitchFamily="34" charset="0"/>
                <a:ea typeface="Calibri" pitchFamily="34" charset="-122"/>
                <a:cs typeface="Calibri" pitchFamily="34" charset="-120"/>
              </a:rPr>
              <a:t>Evidence</a:t>
            </a:r>
            <a:endParaRPr lang="en-US" sz="1200" dirty="0"/>
          </a:p>
        </p:txBody>
      </p:sp>
      <p:sp>
        <p:nvSpPr>
          <p:cNvPr id="12" name="Shape 10"/>
          <p:cNvSpPr/>
          <p:nvPr/>
        </p:nvSpPr>
        <p:spPr>
          <a:xfrm>
            <a:off x="6095848" y="5303520"/>
            <a:ext cx="1742389" cy="36576"/>
          </a:xfrm>
          <a:prstGeom prst="rect">
            <a:avLst/>
          </a:prstGeom>
          <a:solidFill>
            <a:srgbClr val="3A4A6A"/>
          </a:solidFill>
          <a:ln w="12700">
            <a:solidFill>
              <a:srgbClr val="3A4A6A"/>
            </a:solidFill>
            <a:prstDash val="solid"/>
          </a:ln>
        </p:spPr>
      </p:sp>
      <p:sp>
        <p:nvSpPr>
          <p:cNvPr id="13" name="Text 11"/>
          <p:cNvSpPr txBox="1"/>
          <p:nvPr/>
        </p:nvSpPr>
        <p:spPr>
          <a:xfrm>
            <a:off x="7975397"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E  </a:t>
            </a:r>
            <a:pPr indent="0" marL="0">
              <a:buNone/>
            </a:pPr>
            <a:r>
              <a:rPr lang="en-US" sz="1200" dirty="0">
                <a:solidFill>
                  <a:srgbClr val="8391A8"/>
                </a:solidFill>
                <a:latin typeface="Calibri" pitchFamily="34" charset="0"/>
                <a:ea typeface="Calibri" pitchFamily="34" charset="-122"/>
                <a:cs typeface="Calibri" pitchFamily="34" charset="-120"/>
              </a:rPr>
              <a:t>What is not done</a:t>
            </a:r>
            <a:endParaRPr lang="en-US" sz="1200" dirty="0"/>
          </a:p>
        </p:txBody>
      </p:sp>
      <p:sp>
        <p:nvSpPr>
          <p:cNvPr id="14" name="Shape 12"/>
          <p:cNvSpPr/>
          <p:nvPr/>
        </p:nvSpPr>
        <p:spPr>
          <a:xfrm>
            <a:off x="7975397" y="5303520"/>
            <a:ext cx="1742389" cy="36576"/>
          </a:xfrm>
          <a:prstGeom prst="rect">
            <a:avLst/>
          </a:prstGeom>
          <a:solidFill>
            <a:srgbClr val="3A4A6A"/>
          </a:solidFill>
          <a:ln w="12700">
            <a:solidFill>
              <a:srgbClr val="3A4A6A"/>
            </a:solidFill>
            <a:prstDash val="solid"/>
          </a:ln>
        </p:spPr>
      </p:sp>
      <p:sp>
        <p:nvSpPr>
          <p:cNvPr id="15" name="Text 13"/>
          <p:cNvSpPr txBox="1"/>
          <p:nvPr/>
        </p:nvSpPr>
        <p:spPr>
          <a:xfrm>
            <a:off x="9854946"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F  </a:t>
            </a:r>
            <a:pPr indent="0" marL="0">
              <a:buNone/>
            </a:pPr>
            <a:r>
              <a:rPr lang="en-US" sz="1200" dirty="0">
                <a:solidFill>
                  <a:srgbClr val="8391A8"/>
                </a:solidFill>
                <a:latin typeface="Calibri" pitchFamily="34" charset="0"/>
                <a:ea typeface="Calibri" pitchFamily="34" charset="-122"/>
                <a:cs typeface="Calibri" pitchFamily="34" charset="-120"/>
              </a:rPr>
              <a:t>Road to production</a:t>
            </a:r>
            <a:endParaRPr lang="en-US" sz="1200" dirty="0"/>
          </a:p>
        </p:txBody>
      </p:sp>
      <p:sp>
        <p:nvSpPr>
          <p:cNvPr id="16" name="Shape 14"/>
          <p:cNvSpPr/>
          <p:nvPr/>
        </p:nvSpPr>
        <p:spPr>
          <a:xfrm>
            <a:off x="9854946" y="5303520"/>
            <a:ext cx="1742389" cy="36576"/>
          </a:xfrm>
          <a:prstGeom prst="rect">
            <a:avLst/>
          </a:prstGeom>
          <a:solidFill>
            <a:srgbClr val="3A4A6A"/>
          </a:solidFill>
          <a:ln w="12700">
            <a:solidFill>
              <a:srgbClr val="3A4A6A"/>
            </a:solidFill>
            <a:prstDash val="solid"/>
          </a:ln>
        </p:spPr>
      </p:sp>
      <p:sp>
        <p:nvSpPr>
          <p:cNvPr id="17" name="Text 15"/>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C9D3E3"/>
                </a:solidFill>
                <a:latin typeface="Calibri" pitchFamily="34" charset="0"/>
                <a:ea typeface="Calibri" pitchFamily="34" charset="-122"/>
                <a:cs typeface="Calibri" pitchFamily="34" charset="-120"/>
              </a:rPr>
              <a:t>Consilium  |  </a:t>
            </a:r>
            <a:pPr algn="r" indent="0" marL="0">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B  ·  WHAT WE BUILT</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One platform, three modules and a shared Core: the engines every module needs are built once and reused</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entity and table counts measured on the demonstration site, 18 Sep 2026 (a scratch record type excluded); docs/delivery/SESSION-SUMMARY.md; docs/product/02-data-model.md §2.1.</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457200" y="1600200"/>
            <a:ext cx="2788920" cy="2606040"/>
          </a:xfrm>
          <a:prstGeom prst="rect">
            <a:avLst/>
          </a:prstGeom>
          <a:solidFill>
            <a:srgbClr val="F2F4F7"/>
          </a:solidFill>
          <a:ln w="12700">
            <a:solidFill>
              <a:srgbClr val="F2F4F7"/>
            </a:solidFill>
            <a:prstDash val="solid"/>
          </a:ln>
        </p:spPr>
      </p:sp>
      <p:sp>
        <p:nvSpPr>
          <p:cNvPr id="8" name="Text 5"/>
          <p:cNvSpPr txBox="1"/>
          <p:nvPr/>
        </p:nvSpPr>
        <p:spPr>
          <a:xfrm>
            <a:off x="640080" y="1691640"/>
            <a:ext cx="2423160" cy="594360"/>
          </a:xfrm>
          <a:prstGeom prst="rect">
            <a:avLst/>
          </a:prstGeom>
          <a:noFill/>
          <a:ln/>
        </p:spPr>
        <p:txBody>
          <a:bodyPr wrap="square" lIns="0" tIns="0" rIns="0" bIns="0" rtlCol="0" anchor="t"/>
          <a:lstStyle/>
          <a:p>
            <a:pPr algn="l" indent="0" marL="0">
              <a:buNone/>
            </a:pPr>
            <a:r>
              <a:rPr lang="en-US" sz="1600" b="1" dirty="0">
                <a:solidFill>
                  <a:srgbClr val="14213D"/>
                </a:solidFill>
                <a:latin typeface="Calibri" pitchFamily="34" charset="0"/>
                <a:ea typeface="Calibri" pitchFamily="34" charset="-122"/>
                <a:cs typeface="Calibri" pitchFamily="34" charset="-120"/>
              </a:rPr>
              <a:t>Governance</a:t>
            </a:r>
            <a:endParaRPr lang="en-US" sz="1600" dirty="0"/>
          </a:p>
          <a:p>
            <a:pPr algn="l" indent="0" marL="0">
              <a:spcAft>
                <a:spcPts val="600"/>
              </a:spcAft>
              <a:buNone/>
            </a:pPr>
            <a:r>
              <a:rPr lang="en-US" sz="1100" b="1" dirty="0">
                <a:solidFill>
                  <a:srgbClr val="C8553D"/>
                </a:solidFill>
                <a:latin typeface="Calibri" pitchFamily="34" charset="0"/>
                <a:ea typeface="Calibri" pitchFamily="34" charset="-122"/>
                <a:cs typeface="Calibri" pitchFamily="34" charset="-120"/>
              </a:rPr>
              <a:t>24 entities</a:t>
            </a:r>
            <a:endParaRPr lang="en-US" sz="1600" dirty="0"/>
          </a:p>
        </p:txBody>
      </p:sp>
      <p:sp>
        <p:nvSpPr>
          <p:cNvPr id="9" name="Text 6"/>
          <p:cNvSpPr txBox="1"/>
          <p:nvPr/>
        </p:nvSpPr>
        <p:spPr>
          <a:xfrm>
            <a:off x="640080" y="2286000"/>
            <a:ext cx="2423160" cy="1874520"/>
          </a:xfrm>
          <a:prstGeom prst="rect">
            <a:avLst/>
          </a:prstGeom>
          <a:noFill/>
          <a:ln/>
        </p:spPr>
        <p:txBody>
          <a:bodyPr wrap="square" lIns="0" tIns="0" rIns="0" bIns="0" rtlCol="0" anchor="t"/>
          <a:lstStyle/>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Forum inventory and hierarchy</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Committee formation and evaluation</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Compliance lifecycle and watched fields</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Membership with history, delegation, quorum</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Meetings, motions, votes, minutes</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Disbandment</a:t>
            </a:r>
            <a:endParaRPr lang="en-US" sz="1150" dirty="0"/>
          </a:p>
        </p:txBody>
      </p:sp>
      <p:sp>
        <p:nvSpPr>
          <p:cNvPr id="10" name="Shape 7"/>
          <p:cNvSpPr/>
          <p:nvPr/>
        </p:nvSpPr>
        <p:spPr>
          <a:xfrm>
            <a:off x="3429000" y="1600200"/>
            <a:ext cx="2788920" cy="2606040"/>
          </a:xfrm>
          <a:prstGeom prst="rect">
            <a:avLst/>
          </a:prstGeom>
          <a:solidFill>
            <a:srgbClr val="F2F4F7"/>
          </a:solidFill>
          <a:ln w="12700">
            <a:solidFill>
              <a:srgbClr val="F2F4F7"/>
            </a:solidFill>
            <a:prstDash val="solid"/>
          </a:ln>
        </p:spPr>
      </p:sp>
      <p:sp>
        <p:nvSpPr>
          <p:cNvPr id="11" name="Text 8"/>
          <p:cNvSpPr txBox="1"/>
          <p:nvPr/>
        </p:nvSpPr>
        <p:spPr>
          <a:xfrm>
            <a:off x="3611880" y="1691640"/>
            <a:ext cx="2423160" cy="594360"/>
          </a:xfrm>
          <a:prstGeom prst="rect">
            <a:avLst/>
          </a:prstGeom>
          <a:noFill/>
          <a:ln/>
        </p:spPr>
        <p:txBody>
          <a:bodyPr wrap="square" lIns="0" tIns="0" rIns="0" bIns="0" rtlCol="0" anchor="t"/>
          <a:lstStyle/>
          <a:p>
            <a:pPr algn="l" indent="0" marL="0">
              <a:buNone/>
            </a:pPr>
            <a:r>
              <a:rPr lang="en-US" sz="1600" b="1" dirty="0">
                <a:solidFill>
                  <a:srgbClr val="14213D"/>
                </a:solidFill>
                <a:latin typeface="Calibri" pitchFamily="34" charset="0"/>
                <a:ea typeface="Calibri" pitchFamily="34" charset="-122"/>
                <a:cs typeface="Calibri" pitchFamily="34" charset="-120"/>
              </a:rPr>
              <a:t>Policy</a:t>
            </a:r>
            <a:endParaRPr lang="en-US" sz="1600" dirty="0"/>
          </a:p>
          <a:p>
            <a:pPr algn="l" indent="0" marL="0">
              <a:spcAft>
                <a:spcPts val="600"/>
              </a:spcAft>
              <a:buNone/>
            </a:pPr>
            <a:r>
              <a:rPr lang="en-US" sz="1100" b="1" dirty="0">
                <a:solidFill>
                  <a:srgbClr val="C8553D"/>
                </a:solidFill>
                <a:latin typeface="Calibri" pitchFamily="34" charset="0"/>
                <a:ea typeface="Calibri" pitchFamily="34" charset="-122"/>
                <a:cs typeface="Calibri" pitchFamily="34" charset="-120"/>
              </a:rPr>
              <a:t>38 entities</a:t>
            </a:r>
            <a:endParaRPr lang="en-US" sz="1600" dirty="0"/>
          </a:p>
        </p:txBody>
      </p:sp>
      <p:sp>
        <p:nvSpPr>
          <p:cNvPr id="12" name="Text 9"/>
          <p:cNvSpPr txBox="1"/>
          <p:nvPr/>
        </p:nvSpPr>
        <p:spPr>
          <a:xfrm>
            <a:off x="3611880" y="2286000"/>
            <a:ext cx="2423160" cy="1874520"/>
          </a:xfrm>
          <a:prstGeom prst="rect">
            <a:avLst/>
          </a:prstGeom>
          <a:noFill/>
          <a:ln/>
        </p:spPr>
        <p:txBody>
          <a:bodyPr wrap="square" lIns="0" tIns="0" rIns="0" bIns="0" rtlCol="0" anchor="t"/>
          <a:lstStyle/>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Repository, lineage, applicability</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Lifecycle, approval routing, gates</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Intake and major/minor classification</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Versions, publication, exemptions</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Horizon scanning, monitoring, violations</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Glossary</a:t>
            </a:r>
            <a:endParaRPr lang="en-US" sz="1150" dirty="0"/>
          </a:p>
        </p:txBody>
      </p:sp>
      <p:sp>
        <p:nvSpPr>
          <p:cNvPr id="13" name="Shape 10"/>
          <p:cNvSpPr/>
          <p:nvPr/>
        </p:nvSpPr>
        <p:spPr>
          <a:xfrm>
            <a:off x="6400800" y="1600200"/>
            <a:ext cx="2788920" cy="2606040"/>
          </a:xfrm>
          <a:prstGeom prst="rect">
            <a:avLst/>
          </a:prstGeom>
          <a:solidFill>
            <a:srgbClr val="F2F4F7"/>
          </a:solidFill>
          <a:ln w="12700">
            <a:solidFill>
              <a:srgbClr val="F2F4F7"/>
            </a:solidFill>
            <a:prstDash val="solid"/>
          </a:ln>
        </p:spPr>
      </p:sp>
      <p:sp>
        <p:nvSpPr>
          <p:cNvPr id="14" name="Text 11"/>
          <p:cNvSpPr txBox="1"/>
          <p:nvPr/>
        </p:nvSpPr>
        <p:spPr>
          <a:xfrm>
            <a:off x="6583680" y="1691640"/>
            <a:ext cx="2423160" cy="594360"/>
          </a:xfrm>
          <a:prstGeom prst="rect">
            <a:avLst/>
          </a:prstGeom>
          <a:noFill/>
          <a:ln/>
        </p:spPr>
        <p:txBody>
          <a:bodyPr wrap="square" lIns="0" tIns="0" rIns="0" bIns="0" rtlCol="0" anchor="t"/>
          <a:lstStyle/>
          <a:p>
            <a:pPr algn="l" indent="0" marL="0">
              <a:buNone/>
            </a:pPr>
            <a:r>
              <a:rPr lang="en-US" sz="1600" b="1" dirty="0">
                <a:solidFill>
                  <a:srgbClr val="14213D"/>
                </a:solidFill>
                <a:latin typeface="Calibri" pitchFamily="34" charset="0"/>
                <a:ea typeface="Calibri" pitchFamily="34" charset="-122"/>
                <a:cs typeface="Calibri" pitchFamily="34" charset="-120"/>
              </a:rPr>
              <a:t>Escalation</a:t>
            </a:r>
            <a:endParaRPr lang="en-US" sz="1600" dirty="0"/>
          </a:p>
          <a:p>
            <a:pPr algn="l" indent="0" marL="0">
              <a:spcAft>
                <a:spcPts val="600"/>
              </a:spcAft>
              <a:buNone/>
            </a:pPr>
            <a:r>
              <a:rPr lang="en-US" sz="1100" b="1" dirty="0">
                <a:solidFill>
                  <a:srgbClr val="C8553D"/>
                </a:solidFill>
                <a:latin typeface="Calibri" pitchFamily="34" charset="0"/>
                <a:ea typeface="Calibri" pitchFamily="34" charset="-122"/>
                <a:cs typeface="Calibri" pitchFamily="34" charset="-120"/>
              </a:rPr>
              <a:t>18 entities</a:t>
            </a:r>
            <a:endParaRPr lang="en-US" sz="1600" dirty="0"/>
          </a:p>
        </p:txBody>
      </p:sp>
      <p:sp>
        <p:nvSpPr>
          <p:cNvPr id="15" name="Text 12"/>
          <p:cNvSpPr txBox="1"/>
          <p:nvPr/>
        </p:nvSpPr>
        <p:spPr>
          <a:xfrm>
            <a:off x="6583680" y="2286000"/>
            <a:ext cx="2423160" cy="1874520"/>
          </a:xfrm>
          <a:prstGeom prst="rect">
            <a:avLst/>
          </a:prstGeom>
          <a:noFill/>
          <a:ln/>
        </p:spPr>
        <p:txBody>
          <a:bodyPr wrap="square" lIns="0" tIns="0" rIns="0" bIns="0" rtlCol="0" anchor="t"/>
          <a:lstStyle/>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Matters with three configurable templates</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Matrix-driven severity and routing</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Action plans, risk acceptances</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Time limits and breach escalation</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Closure criteria and evidence</a:t>
            </a:r>
            <a:endParaRPr lang="en-US" sz="115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Analysis and periodic returns</a:t>
            </a:r>
            <a:endParaRPr lang="en-US" sz="1150" dirty="0"/>
          </a:p>
        </p:txBody>
      </p:sp>
      <p:sp>
        <p:nvSpPr>
          <p:cNvPr id="16" name="Shape 13"/>
          <p:cNvSpPr/>
          <p:nvPr/>
        </p:nvSpPr>
        <p:spPr>
          <a:xfrm>
            <a:off x="457200" y="4389120"/>
            <a:ext cx="8732520" cy="1737360"/>
          </a:xfrm>
          <a:prstGeom prst="rect">
            <a:avLst/>
          </a:prstGeom>
          <a:solidFill>
            <a:srgbClr val="14213D"/>
          </a:solidFill>
          <a:ln w="12700">
            <a:solidFill>
              <a:srgbClr val="14213D"/>
            </a:solidFill>
            <a:prstDash val="solid"/>
          </a:ln>
        </p:spPr>
      </p:sp>
      <p:sp>
        <p:nvSpPr>
          <p:cNvPr id="17" name="Text 14"/>
          <p:cNvSpPr txBox="1"/>
          <p:nvPr/>
        </p:nvSpPr>
        <p:spPr>
          <a:xfrm>
            <a:off x="640080" y="4480560"/>
            <a:ext cx="4572000" cy="548640"/>
          </a:xfrm>
          <a:prstGeom prst="rect">
            <a:avLst/>
          </a:prstGeom>
          <a:noFill/>
          <a:ln/>
        </p:spPr>
        <p:txBody>
          <a:bodyPr wrap="square" lIns="0" tIns="0" rIns="0" bIns="0" rtlCol="0" anchor="t"/>
          <a:lstStyle/>
          <a:p>
            <a:pPr algn="l" indent="0" marL="0">
              <a:buNone/>
            </a:pPr>
            <a:r>
              <a:rPr lang="en-US" sz="1600" b="1" dirty="0">
                <a:solidFill>
                  <a:srgbClr val="FFFFFF"/>
                </a:solidFill>
                <a:latin typeface="Calibri" pitchFamily="34" charset="0"/>
                <a:ea typeface="Calibri" pitchFamily="34" charset="-122"/>
                <a:cs typeface="Calibri" pitchFamily="34" charset="-120"/>
              </a:rPr>
              <a:t>Consilium Core</a:t>
            </a:r>
            <a:endParaRPr lang="en-US" sz="1600" dirty="0"/>
          </a:p>
          <a:p>
            <a:pPr algn="l" indent="0" marL="0">
              <a:spcAft>
                <a:spcPts val="400"/>
              </a:spcAft>
              <a:buNone/>
            </a:pPr>
            <a:r>
              <a:rPr lang="en-US" sz="1100" dirty="0">
                <a:solidFill>
                  <a:srgbClr val="C9D3E3"/>
                </a:solidFill>
                <a:latin typeface="Calibri" pitchFamily="34" charset="0"/>
                <a:ea typeface="Calibri" pitchFamily="34" charset="-122"/>
                <a:cs typeface="Calibri" pitchFamily="34" charset="-120"/>
              </a:rPr>
              <a:t>64 entities · built once, used by all three modules</a:t>
            </a:r>
            <a:endParaRPr lang="en-US" sz="1600" dirty="0"/>
          </a:p>
        </p:txBody>
      </p:sp>
      <p:sp>
        <p:nvSpPr>
          <p:cNvPr id="18" name="Shape 15"/>
          <p:cNvSpPr/>
          <p:nvPr/>
        </p:nvSpPr>
        <p:spPr>
          <a:xfrm>
            <a:off x="640080" y="5102352"/>
            <a:ext cx="1280160" cy="384048"/>
          </a:xfrm>
          <a:prstGeom prst="rect">
            <a:avLst/>
          </a:prstGeom>
          <a:solidFill>
            <a:srgbClr val="2B3F66"/>
          </a:solidFill>
          <a:ln w="12700">
            <a:solidFill>
              <a:srgbClr val="2B3F66"/>
            </a:solidFill>
            <a:prstDash val="solid"/>
          </a:ln>
        </p:spPr>
      </p:sp>
      <p:sp>
        <p:nvSpPr>
          <p:cNvPr id="19" name="Text 16"/>
          <p:cNvSpPr txBox="1"/>
          <p:nvPr/>
        </p:nvSpPr>
        <p:spPr>
          <a:xfrm>
            <a:off x="640080" y="5102352"/>
            <a:ext cx="12801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Taxonomy (17 lists)</a:t>
            </a:r>
            <a:endParaRPr lang="en-US" sz="1050" dirty="0"/>
          </a:p>
        </p:txBody>
      </p:sp>
      <p:sp>
        <p:nvSpPr>
          <p:cNvPr id="20" name="Shape 17"/>
          <p:cNvSpPr/>
          <p:nvPr/>
        </p:nvSpPr>
        <p:spPr>
          <a:xfrm>
            <a:off x="2057400" y="5102352"/>
            <a:ext cx="1280160" cy="384048"/>
          </a:xfrm>
          <a:prstGeom prst="rect">
            <a:avLst/>
          </a:prstGeom>
          <a:solidFill>
            <a:srgbClr val="2B3F66"/>
          </a:solidFill>
          <a:ln w="12700">
            <a:solidFill>
              <a:srgbClr val="2B3F66"/>
            </a:solidFill>
            <a:prstDash val="solid"/>
          </a:ln>
        </p:spPr>
      </p:sp>
      <p:sp>
        <p:nvSpPr>
          <p:cNvPr id="21" name="Text 18"/>
          <p:cNvSpPr txBox="1"/>
          <p:nvPr/>
        </p:nvSpPr>
        <p:spPr>
          <a:xfrm>
            <a:off x="2057400" y="5102352"/>
            <a:ext cx="12801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Identity &amp; delegation</a:t>
            </a:r>
            <a:endParaRPr lang="en-US" sz="1050" dirty="0"/>
          </a:p>
        </p:txBody>
      </p:sp>
      <p:sp>
        <p:nvSpPr>
          <p:cNvPr id="22" name="Shape 19"/>
          <p:cNvSpPr/>
          <p:nvPr/>
        </p:nvSpPr>
        <p:spPr>
          <a:xfrm>
            <a:off x="3474720" y="5102352"/>
            <a:ext cx="1280160" cy="384048"/>
          </a:xfrm>
          <a:prstGeom prst="rect">
            <a:avLst/>
          </a:prstGeom>
          <a:solidFill>
            <a:srgbClr val="2B3F66"/>
          </a:solidFill>
          <a:ln w="12700">
            <a:solidFill>
              <a:srgbClr val="2B3F66"/>
            </a:solidFill>
            <a:prstDash val="solid"/>
          </a:ln>
        </p:spPr>
      </p:sp>
      <p:sp>
        <p:nvSpPr>
          <p:cNvPr id="23" name="Text 20"/>
          <p:cNvSpPr txBox="1"/>
          <p:nvPr/>
        </p:nvSpPr>
        <p:spPr>
          <a:xfrm>
            <a:off x="3474720" y="5102352"/>
            <a:ext cx="12801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Attestation engine</a:t>
            </a:r>
            <a:endParaRPr lang="en-US" sz="1050" dirty="0"/>
          </a:p>
        </p:txBody>
      </p:sp>
      <p:sp>
        <p:nvSpPr>
          <p:cNvPr id="24" name="Shape 21"/>
          <p:cNvSpPr/>
          <p:nvPr/>
        </p:nvSpPr>
        <p:spPr>
          <a:xfrm>
            <a:off x="4892040" y="5102352"/>
            <a:ext cx="1280160" cy="384048"/>
          </a:xfrm>
          <a:prstGeom prst="rect">
            <a:avLst/>
          </a:prstGeom>
          <a:solidFill>
            <a:srgbClr val="2B3F66"/>
          </a:solidFill>
          <a:ln w="12700">
            <a:solidFill>
              <a:srgbClr val="2B3F66"/>
            </a:solidFill>
            <a:prstDash val="solid"/>
          </a:ln>
        </p:spPr>
      </p:sp>
      <p:sp>
        <p:nvSpPr>
          <p:cNvPr id="25" name="Text 22"/>
          <p:cNvSpPr txBox="1"/>
          <p:nvPr/>
        </p:nvSpPr>
        <p:spPr>
          <a:xfrm>
            <a:off x="4892040" y="5102352"/>
            <a:ext cx="12801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Classification rules</a:t>
            </a:r>
            <a:endParaRPr lang="en-US" sz="1050" dirty="0"/>
          </a:p>
        </p:txBody>
      </p:sp>
      <p:sp>
        <p:nvSpPr>
          <p:cNvPr id="26" name="Shape 23"/>
          <p:cNvSpPr/>
          <p:nvPr/>
        </p:nvSpPr>
        <p:spPr>
          <a:xfrm>
            <a:off x="6309360" y="5102352"/>
            <a:ext cx="1280160" cy="384048"/>
          </a:xfrm>
          <a:prstGeom prst="rect">
            <a:avLst/>
          </a:prstGeom>
          <a:solidFill>
            <a:srgbClr val="2B3F66"/>
          </a:solidFill>
          <a:ln w="12700">
            <a:solidFill>
              <a:srgbClr val="2B3F66"/>
            </a:solidFill>
            <a:prstDash val="solid"/>
          </a:ln>
        </p:spPr>
      </p:sp>
      <p:sp>
        <p:nvSpPr>
          <p:cNvPr id="27" name="Text 24"/>
          <p:cNvSpPr txBox="1"/>
          <p:nvPr/>
        </p:nvSpPr>
        <p:spPr>
          <a:xfrm>
            <a:off x="6309360" y="5102352"/>
            <a:ext cx="12801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Version chain &amp; revert</a:t>
            </a:r>
            <a:endParaRPr lang="en-US" sz="1050" dirty="0"/>
          </a:p>
        </p:txBody>
      </p:sp>
      <p:sp>
        <p:nvSpPr>
          <p:cNvPr id="28" name="Shape 25"/>
          <p:cNvSpPr/>
          <p:nvPr/>
        </p:nvSpPr>
        <p:spPr>
          <a:xfrm>
            <a:off x="7726680" y="5102352"/>
            <a:ext cx="1280160" cy="384048"/>
          </a:xfrm>
          <a:prstGeom prst="rect">
            <a:avLst/>
          </a:prstGeom>
          <a:solidFill>
            <a:srgbClr val="2B3F66"/>
          </a:solidFill>
          <a:ln w="12700">
            <a:solidFill>
              <a:srgbClr val="2B3F66"/>
            </a:solidFill>
            <a:prstDash val="solid"/>
          </a:ln>
        </p:spPr>
      </p:sp>
      <p:sp>
        <p:nvSpPr>
          <p:cNvPr id="29" name="Text 26"/>
          <p:cNvSpPr txBox="1"/>
          <p:nvPr/>
        </p:nvSpPr>
        <p:spPr>
          <a:xfrm>
            <a:off x="7726680" y="5102352"/>
            <a:ext cx="12801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Retention &amp; legal hold</a:t>
            </a:r>
            <a:endParaRPr lang="en-US" sz="1050" dirty="0"/>
          </a:p>
        </p:txBody>
      </p:sp>
      <p:sp>
        <p:nvSpPr>
          <p:cNvPr id="30" name="Shape 27"/>
          <p:cNvSpPr/>
          <p:nvPr/>
        </p:nvSpPr>
        <p:spPr>
          <a:xfrm>
            <a:off x="640080" y="5577840"/>
            <a:ext cx="1280160" cy="384048"/>
          </a:xfrm>
          <a:prstGeom prst="rect">
            <a:avLst/>
          </a:prstGeom>
          <a:solidFill>
            <a:srgbClr val="2B3F66"/>
          </a:solidFill>
          <a:ln w="12700">
            <a:solidFill>
              <a:srgbClr val="2B3F66"/>
            </a:solidFill>
            <a:prstDash val="solid"/>
          </a:ln>
        </p:spPr>
      </p:sp>
      <p:sp>
        <p:nvSpPr>
          <p:cNvPr id="31" name="Text 28"/>
          <p:cNvSpPr txBox="1"/>
          <p:nvPr/>
        </p:nvSpPr>
        <p:spPr>
          <a:xfrm>
            <a:off x="640080" y="5577840"/>
            <a:ext cx="12801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Import &amp; export</a:t>
            </a:r>
            <a:endParaRPr lang="en-US" sz="1050" dirty="0"/>
          </a:p>
        </p:txBody>
      </p:sp>
      <p:sp>
        <p:nvSpPr>
          <p:cNvPr id="32" name="Shape 29"/>
          <p:cNvSpPr/>
          <p:nvPr/>
        </p:nvSpPr>
        <p:spPr>
          <a:xfrm>
            <a:off x="2057400" y="5577840"/>
            <a:ext cx="1280160" cy="384048"/>
          </a:xfrm>
          <a:prstGeom prst="rect">
            <a:avLst/>
          </a:prstGeom>
          <a:solidFill>
            <a:srgbClr val="2B3F66"/>
          </a:solidFill>
          <a:ln w="12700">
            <a:solidFill>
              <a:srgbClr val="2B3F66"/>
            </a:solidFill>
            <a:prstDash val="solid"/>
          </a:ln>
        </p:spPr>
      </p:sp>
      <p:sp>
        <p:nvSpPr>
          <p:cNvPr id="33" name="Text 30"/>
          <p:cNvSpPr txBox="1"/>
          <p:nvPr/>
        </p:nvSpPr>
        <p:spPr>
          <a:xfrm>
            <a:off x="2057400" y="5577840"/>
            <a:ext cx="12801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Notification templates</a:t>
            </a:r>
            <a:endParaRPr lang="en-US" sz="1050" dirty="0"/>
          </a:p>
        </p:txBody>
      </p:sp>
      <p:sp>
        <p:nvSpPr>
          <p:cNvPr id="34" name="Shape 31"/>
          <p:cNvSpPr/>
          <p:nvPr/>
        </p:nvSpPr>
        <p:spPr>
          <a:xfrm>
            <a:off x="3474720" y="5577840"/>
            <a:ext cx="1280160" cy="384048"/>
          </a:xfrm>
          <a:prstGeom prst="rect">
            <a:avLst/>
          </a:prstGeom>
          <a:solidFill>
            <a:srgbClr val="2B3F66"/>
          </a:solidFill>
          <a:ln w="12700">
            <a:solidFill>
              <a:srgbClr val="2B3F66"/>
            </a:solidFill>
            <a:prstDash val="solid"/>
          </a:ln>
        </p:spPr>
      </p:sp>
      <p:sp>
        <p:nvSpPr>
          <p:cNvPr id="35" name="Text 32"/>
          <p:cNvSpPr txBox="1"/>
          <p:nvPr/>
        </p:nvSpPr>
        <p:spPr>
          <a:xfrm>
            <a:off x="3474720" y="5577840"/>
            <a:ext cx="12801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Service levels &amp; reminders</a:t>
            </a:r>
            <a:endParaRPr lang="en-US" sz="1050" dirty="0"/>
          </a:p>
        </p:txBody>
      </p:sp>
      <p:sp>
        <p:nvSpPr>
          <p:cNvPr id="36" name="Shape 33"/>
          <p:cNvSpPr/>
          <p:nvPr/>
        </p:nvSpPr>
        <p:spPr>
          <a:xfrm>
            <a:off x="4892040" y="5577840"/>
            <a:ext cx="1280160" cy="384048"/>
          </a:xfrm>
          <a:prstGeom prst="rect">
            <a:avLst/>
          </a:prstGeom>
          <a:solidFill>
            <a:srgbClr val="2B3F66"/>
          </a:solidFill>
          <a:ln w="12700">
            <a:solidFill>
              <a:srgbClr val="2B3F66"/>
            </a:solidFill>
            <a:prstDash val="solid"/>
          </a:ln>
        </p:spPr>
      </p:sp>
      <p:sp>
        <p:nvSpPr>
          <p:cNvPr id="37" name="Text 34"/>
          <p:cNvSpPr txBox="1"/>
          <p:nvPr/>
        </p:nvSpPr>
        <p:spPr>
          <a:xfrm>
            <a:off x="4892040" y="5577840"/>
            <a:ext cx="12801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Approval decisions</a:t>
            </a:r>
            <a:endParaRPr lang="en-US" sz="1050" dirty="0"/>
          </a:p>
        </p:txBody>
      </p:sp>
      <p:sp>
        <p:nvSpPr>
          <p:cNvPr id="38" name="Shape 35"/>
          <p:cNvSpPr/>
          <p:nvPr/>
        </p:nvSpPr>
        <p:spPr>
          <a:xfrm>
            <a:off x="6309360" y="5577840"/>
            <a:ext cx="1280160" cy="384048"/>
          </a:xfrm>
          <a:prstGeom prst="rect">
            <a:avLst/>
          </a:prstGeom>
          <a:solidFill>
            <a:srgbClr val="2B3F66"/>
          </a:solidFill>
          <a:ln w="12700">
            <a:solidFill>
              <a:srgbClr val="2B3F66"/>
            </a:solidFill>
            <a:prstDash val="solid"/>
          </a:ln>
        </p:spPr>
      </p:sp>
      <p:sp>
        <p:nvSpPr>
          <p:cNvPr id="39" name="Text 36"/>
          <p:cNvSpPr txBox="1"/>
          <p:nvPr/>
        </p:nvSpPr>
        <p:spPr>
          <a:xfrm>
            <a:off x="6309360" y="5577840"/>
            <a:ext cx="12801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AI guard &amp; provenance</a:t>
            </a:r>
            <a:endParaRPr lang="en-US" sz="1050" dirty="0"/>
          </a:p>
        </p:txBody>
      </p:sp>
      <p:sp>
        <p:nvSpPr>
          <p:cNvPr id="40" name="Shape 37"/>
          <p:cNvSpPr/>
          <p:nvPr/>
        </p:nvSpPr>
        <p:spPr>
          <a:xfrm>
            <a:off x="7726680" y="5577840"/>
            <a:ext cx="1280160" cy="384048"/>
          </a:xfrm>
          <a:prstGeom prst="rect">
            <a:avLst/>
          </a:prstGeom>
          <a:solidFill>
            <a:srgbClr val="2B3F66"/>
          </a:solidFill>
          <a:ln w="12700">
            <a:solidFill>
              <a:srgbClr val="2B3F66"/>
            </a:solidFill>
            <a:prstDash val="solid"/>
          </a:ln>
        </p:spPr>
      </p:sp>
      <p:sp>
        <p:nvSpPr>
          <p:cNvPr id="41" name="Text 38"/>
          <p:cNvSpPr txBox="1"/>
          <p:nvPr/>
        </p:nvSpPr>
        <p:spPr>
          <a:xfrm>
            <a:off x="7726680" y="5577840"/>
            <a:ext cx="12801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Navigation &amp; integrations</a:t>
            </a:r>
            <a:endParaRPr lang="en-US" sz="1050" dirty="0"/>
          </a:p>
        </p:txBody>
      </p:sp>
      <p:sp>
        <p:nvSpPr>
          <p:cNvPr id="42" name="Text 39"/>
          <p:cNvSpPr txBox="1"/>
          <p:nvPr/>
        </p:nvSpPr>
        <p:spPr>
          <a:xfrm>
            <a:off x="9509760" y="1600200"/>
            <a:ext cx="2224735" cy="640080"/>
          </a:xfrm>
          <a:prstGeom prst="rect">
            <a:avLst/>
          </a:prstGeom>
          <a:noFill/>
          <a:ln/>
        </p:spPr>
        <p:txBody>
          <a:bodyPr wrap="square" lIns="0" tIns="0" rIns="0" bIns="0" rtlCol="0" anchor="b"/>
          <a:lstStyle/>
          <a:p>
            <a:pPr indent="0" marL="0">
              <a:buNone/>
            </a:pPr>
            <a:r>
              <a:rPr lang="en-US" sz="3600" b="1" dirty="0">
                <a:solidFill>
                  <a:srgbClr val="14213D"/>
                </a:solidFill>
                <a:latin typeface="Calibri" pitchFamily="34" charset="0"/>
                <a:ea typeface="Calibri" pitchFamily="34" charset="-122"/>
                <a:cs typeface="Calibri" pitchFamily="34" charset="-120"/>
              </a:rPr>
              <a:t>144</a:t>
            </a:r>
            <a:endParaRPr lang="en-US" sz="3600" dirty="0"/>
          </a:p>
        </p:txBody>
      </p:sp>
      <p:sp>
        <p:nvSpPr>
          <p:cNvPr id="43" name="Text 40"/>
          <p:cNvSpPr txBox="1"/>
          <p:nvPr/>
        </p:nvSpPr>
        <p:spPr>
          <a:xfrm>
            <a:off x="9509760" y="2276856"/>
            <a:ext cx="2224735" cy="54864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entities across Core and three modules</a:t>
            </a:r>
            <a:endParaRPr lang="en-US" sz="1100" dirty="0"/>
          </a:p>
        </p:txBody>
      </p:sp>
      <p:sp>
        <p:nvSpPr>
          <p:cNvPr id="44" name="Text 41"/>
          <p:cNvSpPr txBox="1"/>
          <p:nvPr/>
        </p:nvSpPr>
        <p:spPr>
          <a:xfrm>
            <a:off x="9509760" y="2788920"/>
            <a:ext cx="2224735" cy="640080"/>
          </a:xfrm>
          <a:prstGeom prst="rect">
            <a:avLst/>
          </a:prstGeom>
          <a:noFill/>
          <a:ln/>
        </p:spPr>
        <p:txBody>
          <a:bodyPr wrap="square" lIns="0" tIns="0" rIns="0" bIns="0" rtlCol="0" anchor="b"/>
          <a:lstStyle/>
          <a:p>
            <a:pPr indent="0" marL="0">
              <a:buNone/>
            </a:pPr>
            <a:r>
              <a:rPr lang="en-US" sz="3600" b="1" dirty="0">
                <a:solidFill>
                  <a:srgbClr val="14213D"/>
                </a:solidFill>
                <a:latin typeface="Calibri" pitchFamily="34" charset="0"/>
                <a:ea typeface="Calibri" pitchFamily="34" charset="-122"/>
                <a:cs typeface="Calibri" pitchFamily="34" charset="-120"/>
              </a:rPr>
              <a:t>378</a:t>
            </a:r>
            <a:endParaRPr lang="en-US" sz="3600" dirty="0"/>
          </a:p>
        </p:txBody>
      </p:sp>
      <p:sp>
        <p:nvSpPr>
          <p:cNvPr id="45" name="Text 42"/>
          <p:cNvSpPr txBox="1"/>
          <p:nvPr/>
        </p:nvSpPr>
        <p:spPr>
          <a:xfrm>
            <a:off x="9509760" y="3465576"/>
            <a:ext cx="2224735" cy="54864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PostgreSQL tables on one site</a:t>
            </a:r>
            <a:endParaRPr lang="en-US" sz="1100" dirty="0"/>
          </a:p>
        </p:txBody>
      </p:sp>
      <p:sp>
        <p:nvSpPr>
          <p:cNvPr id="46" name="Text 43"/>
          <p:cNvSpPr txBox="1"/>
          <p:nvPr/>
        </p:nvSpPr>
        <p:spPr>
          <a:xfrm>
            <a:off x="9509760" y="3977640"/>
            <a:ext cx="2224735" cy="640080"/>
          </a:xfrm>
          <a:prstGeom prst="rect">
            <a:avLst/>
          </a:prstGeom>
          <a:noFill/>
          <a:ln/>
        </p:spPr>
        <p:txBody>
          <a:bodyPr wrap="square" lIns="0" tIns="0" rIns="0" bIns="0" rtlCol="0" anchor="b"/>
          <a:lstStyle/>
          <a:p>
            <a:pPr indent="0" marL="0">
              <a:buNone/>
            </a:pPr>
            <a:r>
              <a:rPr lang="en-US" sz="3600" b="1" dirty="0">
                <a:solidFill>
                  <a:srgbClr val="14213D"/>
                </a:solidFill>
                <a:latin typeface="Calibri" pitchFamily="34" charset="0"/>
                <a:ea typeface="Calibri" pitchFamily="34" charset="-122"/>
                <a:cs typeface="Calibri" pitchFamily="34" charset="-120"/>
              </a:rPr>
              <a:t>1</a:t>
            </a:r>
            <a:endParaRPr lang="en-US" sz="3600" dirty="0"/>
          </a:p>
        </p:txBody>
      </p:sp>
      <p:sp>
        <p:nvSpPr>
          <p:cNvPr id="47" name="Text 44"/>
          <p:cNvSpPr txBox="1"/>
          <p:nvPr/>
        </p:nvSpPr>
        <p:spPr>
          <a:xfrm>
            <a:off x="9509760" y="4654296"/>
            <a:ext cx="2224735" cy="54864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data model, permission model and audit trail</a:t>
            </a:r>
            <a:endParaRPr lang="en-US" sz="1100" dirty="0"/>
          </a:p>
        </p:txBody>
      </p:sp>
      <p:sp>
        <p:nvSpPr>
          <p:cNvPr id="48" name="Text 45"/>
          <p:cNvSpPr txBox="1"/>
          <p:nvPr/>
        </p:nvSpPr>
        <p:spPr>
          <a:xfrm>
            <a:off x="9509760" y="5257800"/>
            <a:ext cx="2224735" cy="822960"/>
          </a:xfrm>
          <a:prstGeom prst="rect">
            <a:avLst/>
          </a:prstGeom>
          <a:noFill/>
          <a:ln/>
        </p:spPr>
        <p:txBody>
          <a:bodyPr wrap="square" lIns="0" tIns="0" rIns="0" bIns="0" rtlCol="0" anchor="t"/>
          <a:lstStyle/>
          <a:p>
            <a:pPr algn="l" indent="0" marL="0">
              <a:buNone/>
            </a:pPr>
            <a:r>
              <a:rPr lang="en-US" sz="1100" i="1" dirty="0">
                <a:solidFill>
                  <a:srgbClr val="5B6B82"/>
                </a:solidFill>
                <a:latin typeface="Calibri" pitchFamily="34" charset="0"/>
                <a:ea typeface="Calibri" pitchFamily="34" charset="-122"/>
                <a:cs typeface="Calibri" pitchFamily="34" charset="-120"/>
              </a:rPr>
              <a:t>No module keeps its own copy of a shared list: every tag links to the Core taxonomies.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B  ·  WHAT WE BUILT</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Four design principles make the platform auditable and cheap to change</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docs/OPERATIONS.md §A–B; docs/delivery/SESSION-SUMMARY.md; docs/product/02-data-model.md §2.3 (M-1, M-4); docs/delivery/REQUIREMENTS-COVERAGE.md G-6, G-9.</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457200" y="1600200"/>
            <a:ext cx="5501488" cy="2148840"/>
          </a:xfrm>
          <a:prstGeom prst="rect">
            <a:avLst/>
          </a:prstGeom>
          <a:solidFill>
            <a:srgbClr val="F2F4F7"/>
          </a:solidFill>
          <a:ln w="12700">
            <a:solidFill>
              <a:srgbClr val="F2F4F7"/>
            </a:solidFill>
            <a:prstDash val="solid"/>
          </a:ln>
        </p:spPr>
      </p:sp>
      <p:sp>
        <p:nvSpPr>
          <p:cNvPr id="8" name="Shape 5"/>
          <p:cNvSpPr/>
          <p:nvPr/>
        </p:nvSpPr>
        <p:spPr>
          <a:xfrm>
            <a:off x="640080" y="1783080"/>
            <a:ext cx="365760" cy="365760"/>
          </a:xfrm>
          <a:prstGeom prst="ellipse">
            <a:avLst/>
          </a:prstGeom>
          <a:solidFill>
            <a:srgbClr val="14213D"/>
          </a:solidFill>
          <a:ln w="12700">
            <a:solidFill>
              <a:srgbClr val="14213D"/>
            </a:solidFill>
            <a:prstDash val="solid"/>
          </a:ln>
        </p:spPr>
      </p:sp>
      <p:sp>
        <p:nvSpPr>
          <p:cNvPr id="9" name="Text 6"/>
          <p:cNvSpPr txBox="1"/>
          <p:nvPr/>
        </p:nvSpPr>
        <p:spPr>
          <a:xfrm>
            <a:off x="640080" y="17830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1143000" y="1764792"/>
            <a:ext cx="4632808" cy="41148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States are configuration; flags are logic</a:t>
            </a:r>
            <a:endParaRPr lang="en-US" sz="1500" dirty="0"/>
          </a:p>
        </p:txBody>
      </p:sp>
      <p:sp>
        <p:nvSpPr>
          <p:cNvPr id="11" name="Text 8"/>
          <p:cNvSpPr txBox="1"/>
          <p:nvPr/>
        </p:nvSpPr>
        <p:spPr>
          <a:xfrm>
            <a:off x="1143000" y="2258568"/>
            <a:ext cx="4632808" cy="1371600"/>
          </a:xfrm>
          <a:prstGeom prst="rect">
            <a:avLst/>
          </a:prstGeom>
          <a:noFill/>
          <a:ln/>
        </p:spPr>
        <p:txBody>
          <a:bodyPr wrap="square" lIns="0" tIns="0" rIns="0" bIns="0" rtlCol="0" anchor="t"/>
          <a:lstStyle/>
          <a:p>
            <a:pPr algn="l" indent="0" marL="0">
              <a:spcAft>
                <a:spcPts val="600"/>
              </a:spcAft>
              <a:buNone/>
            </a:pPr>
            <a:r>
              <a:rPr lang="en-US" sz="1250" dirty="0">
                <a:solidFill>
                  <a:srgbClr val="2A2F36"/>
                </a:solidFill>
                <a:latin typeface="Calibri" pitchFamily="34" charset="0"/>
                <a:ea typeface="Calibri" pitchFamily="34" charset="-122"/>
                <a:cs typeface="Calibri" pitchFamily="34" charset="-120"/>
              </a:rPr>
              <a:t>Code never compares a workflow state's name. It reads flags (editable, active, requires review) that each state sets.</a:t>
            </a:r>
            <a:endParaRPr lang="en-US" sz="1250" dirty="0"/>
          </a:p>
          <a:p>
            <a:pPr algn="l" indent="0" marL="0">
              <a:spcAft>
                <a:spcPts val="600"/>
              </a:spcAft>
              <a:buNone/>
            </a:pPr>
            <a:r>
              <a:rPr lang="en-US" sz="1250" b="1" dirty="0">
                <a:solidFill>
                  <a:srgbClr val="2A2F36"/>
                </a:solidFill>
                <a:latin typeface="Calibri" pitchFamily="34" charset="0"/>
                <a:ea typeface="Calibri" pitchFamily="34" charset="-122"/>
                <a:cs typeface="Calibri" pitchFamily="34" charset="-120"/>
              </a:rPr>
              <a:t>Why it matters:</a:t>
            </a:r>
            <a:pPr algn="l" indent="0" marL="0">
              <a:spcAft>
                <a:spcPts val="600"/>
              </a:spcAft>
              <a:buNone/>
            </a:pPr>
            <a:r>
              <a:rPr lang="en-US" sz="1250" dirty="0">
                <a:solidFill>
                  <a:srgbClr val="2A2F36"/>
                </a:solidFill>
                <a:latin typeface="Calibri" pitchFamily="34" charset="0"/>
                <a:ea typeface="Calibri" pitchFamily="34" charset="-122"/>
                <a:cs typeface="Calibri" pitchFamily="34" charset="-120"/>
              </a:rPr>
              <a:t> Renaming a state, or inserting an approval step, is configuration, not a release.</a:t>
            </a:r>
            <a:endParaRPr lang="en-US" sz="1250" dirty="0"/>
          </a:p>
          <a:p>
            <a:pPr algn="l" indent="0" marL="0">
              <a:spcAft>
                <a:spcPts val="400"/>
              </a:spcAft>
              <a:buNone/>
            </a:pPr>
            <a:r>
              <a:rPr lang="en-US" sz="1250" b="1" dirty="0">
                <a:solidFill>
                  <a:srgbClr val="5B6B82"/>
                </a:solidFill>
                <a:latin typeface="Calibri" pitchFamily="34" charset="0"/>
                <a:ea typeface="Calibri" pitchFamily="34" charset="-122"/>
                <a:cs typeface="Calibri" pitchFamily="34" charset="-120"/>
              </a:rPr>
              <a:t>Evidence:</a:t>
            </a:r>
            <a:pPr algn="l" indent="0" marL="0">
              <a:spcAft>
                <a:spcPts val="400"/>
              </a:spcAft>
              <a:buNone/>
            </a:pPr>
            <a:r>
              <a:rPr lang="en-US" sz="1250" dirty="0">
                <a:solidFill>
                  <a:srgbClr val="5B6B82"/>
                </a:solidFill>
                <a:latin typeface="Calibri" pitchFamily="34" charset="0"/>
                <a:ea typeface="Calibri" pitchFamily="34" charset="-122"/>
                <a:cs typeface="Calibri" pitchFamily="34" charset="-120"/>
              </a:rPr>
              <a:t> A checker over 82 state names fails the build. Proven live: a new approval stage added with no release (slide 32).</a:t>
            </a:r>
            <a:endParaRPr lang="en-US" sz="1250" dirty="0"/>
          </a:p>
        </p:txBody>
      </p:sp>
      <p:sp>
        <p:nvSpPr>
          <p:cNvPr id="12" name="Shape 9"/>
          <p:cNvSpPr/>
          <p:nvPr/>
        </p:nvSpPr>
        <p:spPr>
          <a:xfrm>
            <a:off x="6233008" y="1600200"/>
            <a:ext cx="5501488" cy="2148840"/>
          </a:xfrm>
          <a:prstGeom prst="rect">
            <a:avLst/>
          </a:prstGeom>
          <a:solidFill>
            <a:srgbClr val="F2F4F7"/>
          </a:solidFill>
          <a:ln w="12700">
            <a:solidFill>
              <a:srgbClr val="F2F4F7"/>
            </a:solidFill>
            <a:prstDash val="solid"/>
          </a:ln>
        </p:spPr>
      </p:sp>
      <p:sp>
        <p:nvSpPr>
          <p:cNvPr id="13" name="Shape 10"/>
          <p:cNvSpPr/>
          <p:nvPr/>
        </p:nvSpPr>
        <p:spPr>
          <a:xfrm>
            <a:off x="6415888" y="1783080"/>
            <a:ext cx="365760" cy="365760"/>
          </a:xfrm>
          <a:prstGeom prst="ellipse">
            <a:avLst/>
          </a:prstGeom>
          <a:solidFill>
            <a:srgbClr val="14213D"/>
          </a:solidFill>
          <a:ln w="12700">
            <a:solidFill>
              <a:srgbClr val="14213D"/>
            </a:solidFill>
            <a:prstDash val="solid"/>
          </a:ln>
        </p:spPr>
      </p:sp>
      <p:sp>
        <p:nvSpPr>
          <p:cNvPr id="14" name="Text 11"/>
          <p:cNvSpPr txBox="1"/>
          <p:nvPr/>
        </p:nvSpPr>
        <p:spPr>
          <a:xfrm>
            <a:off x="6415888" y="17830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txBox="1"/>
          <p:nvPr/>
        </p:nvSpPr>
        <p:spPr>
          <a:xfrm>
            <a:off x="6918808" y="1764792"/>
            <a:ext cx="4632808" cy="41148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Nothing is deleted; history reads as at any date</a:t>
            </a:r>
            <a:endParaRPr lang="en-US" sz="1500" dirty="0"/>
          </a:p>
        </p:txBody>
      </p:sp>
      <p:sp>
        <p:nvSpPr>
          <p:cNvPr id="16" name="Text 13"/>
          <p:cNvSpPr txBox="1"/>
          <p:nvPr/>
        </p:nvSpPr>
        <p:spPr>
          <a:xfrm>
            <a:off x="6918808" y="2258568"/>
            <a:ext cx="4632808" cy="1371600"/>
          </a:xfrm>
          <a:prstGeom prst="rect">
            <a:avLst/>
          </a:prstGeom>
          <a:noFill/>
          <a:ln/>
        </p:spPr>
        <p:txBody>
          <a:bodyPr wrap="square" lIns="0" tIns="0" rIns="0" bIns="0" rtlCol="0" anchor="t"/>
          <a:lstStyle/>
          <a:p>
            <a:pPr algn="l" indent="0" marL="0">
              <a:spcAft>
                <a:spcPts val="600"/>
              </a:spcAft>
              <a:buNone/>
            </a:pPr>
            <a:r>
              <a:rPr lang="en-US" sz="1250" dirty="0">
                <a:solidFill>
                  <a:srgbClr val="2A2F36"/>
                </a:solidFill>
                <a:latin typeface="Calibri" pitchFamily="34" charset="0"/>
                <a:ea typeface="Calibri" pitchFamily="34" charset="-122"/>
                <a:cs typeface="Calibri" pitchFamily="34" charset="-120"/>
              </a:rPr>
              <a:t>Seats are ended, forums disbanded, documents retired, values made inactive. Membership is a dated record of its own.</a:t>
            </a:r>
            <a:endParaRPr lang="en-US" sz="1250" dirty="0"/>
          </a:p>
          <a:p>
            <a:pPr algn="l" indent="0" marL="0">
              <a:spcAft>
                <a:spcPts val="600"/>
              </a:spcAft>
              <a:buNone/>
            </a:pPr>
            <a:r>
              <a:rPr lang="en-US" sz="1250" b="1" dirty="0">
                <a:solidFill>
                  <a:srgbClr val="2A2F36"/>
                </a:solidFill>
                <a:latin typeface="Calibri" pitchFamily="34" charset="0"/>
                <a:ea typeface="Calibri" pitchFamily="34" charset="-122"/>
                <a:cs typeface="Calibri" pitchFamily="34" charset="-120"/>
              </a:rPr>
              <a:t>Why it matters:</a:t>
            </a:r>
            <a:pPr algn="l" indent="0" marL="0">
              <a:spcAft>
                <a:spcPts val="600"/>
              </a:spcAft>
              <a:buNone/>
            </a:pPr>
            <a:r>
              <a:rPr lang="en-US" sz="1250" dirty="0">
                <a:solidFill>
                  <a:srgbClr val="2A2F36"/>
                </a:solidFill>
                <a:latin typeface="Calibri" pitchFamily="34" charset="0"/>
                <a:ea typeface="Calibri" pitchFamily="34" charset="-122"/>
                <a:cs typeface="Calibri" pitchFamily="34" charset="-120"/>
              </a:rPr>
              <a:t> The composition of any forum on any past date is a query, not a reconstruction.</a:t>
            </a:r>
            <a:endParaRPr lang="en-US" sz="1250" dirty="0"/>
          </a:p>
          <a:p>
            <a:pPr algn="l" indent="0" marL="0">
              <a:spcAft>
                <a:spcPts val="400"/>
              </a:spcAft>
              <a:buNone/>
            </a:pPr>
            <a:r>
              <a:rPr lang="en-US" sz="1250" b="1" dirty="0">
                <a:solidFill>
                  <a:srgbClr val="5B6B82"/>
                </a:solidFill>
                <a:latin typeface="Calibri" pitchFamily="34" charset="0"/>
                <a:ea typeface="Calibri" pitchFamily="34" charset="-122"/>
                <a:cs typeface="Calibri" pitchFamily="34" charset="-120"/>
              </a:rPr>
              <a:t>Evidence:</a:t>
            </a:r>
            <a:pPr algn="l" indent="0" marL="0">
              <a:spcAft>
                <a:spcPts val="400"/>
              </a:spcAft>
              <a:buNone/>
            </a:pPr>
            <a:r>
              <a:rPr lang="en-US" sz="1250" dirty="0">
                <a:solidFill>
                  <a:srgbClr val="5B6B82"/>
                </a:solidFill>
                <a:latin typeface="Calibri" pitchFamily="34" charset="0"/>
                <a:ea typeface="Calibri" pitchFamily="34" charset="-122"/>
                <a:cs typeface="Calibri" pitchFamily="34" charset="-120"/>
              </a:rPr>
              <a:t> Revert writes a new version; prior versions still exist afterwards (tested).</a:t>
            </a:r>
            <a:endParaRPr lang="en-US" sz="1250" dirty="0"/>
          </a:p>
        </p:txBody>
      </p:sp>
      <p:sp>
        <p:nvSpPr>
          <p:cNvPr id="17" name="Shape 14"/>
          <p:cNvSpPr/>
          <p:nvPr/>
        </p:nvSpPr>
        <p:spPr>
          <a:xfrm>
            <a:off x="457200" y="3931920"/>
            <a:ext cx="5501488" cy="2148840"/>
          </a:xfrm>
          <a:prstGeom prst="rect">
            <a:avLst/>
          </a:prstGeom>
          <a:solidFill>
            <a:srgbClr val="F2F4F7"/>
          </a:solidFill>
          <a:ln w="12700">
            <a:solidFill>
              <a:srgbClr val="F2F4F7"/>
            </a:solidFill>
            <a:prstDash val="solid"/>
          </a:ln>
        </p:spPr>
      </p:sp>
      <p:sp>
        <p:nvSpPr>
          <p:cNvPr id="18" name="Shape 15"/>
          <p:cNvSpPr/>
          <p:nvPr/>
        </p:nvSpPr>
        <p:spPr>
          <a:xfrm>
            <a:off x="640080" y="4114800"/>
            <a:ext cx="365760" cy="365760"/>
          </a:xfrm>
          <a:prstGeom prst="ellipse">
            <a:avLst/>
          </a:prstGeom>
          <a:solidFill>
            <a:srgbClr val="14213D"/>
          </a:solidFill>
          <a:ln w="12700">
            <a:solidFill>
              <a:srgbClr val="14213D"/>
            </a:solidFill>
            <a:prstDash val="solid"/>
          </a:ln>
        </p:spPr>
      </p:sp>
      <p:sp>
        <p:nvSpPr>
          <p:cNvPr id="19" name="Text 16"/>
          <p:cNvSpPr txBox="1"/>
          <p:nvPr/>
        </p:nvSpPr>
        <p:spPr>
          <a:xfrm>
            <a:off x="640080" y="4114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txBox="1"/>
          <p:nvPr/>
        </p:nvSpPr>
        <p:spPr>
          <a:xfrm>
            <a:off x="1143000" y="4096512"/>
            <a:ext cx="4632808" cy="41148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Every refusal is recorded</a:t>
            </a:r>
            <a:endParaRPr lang="en-US" sz="1500" dirty="0"/>
          </a:p>
        </p:txBody>
      </p:sp>
      <p:sp>
        <p:nvSpPr>
          <p:cNvPr id="21" name="Text 18"/>
          <p:cNvSpPr txBox="1"/>
          <p:nvPr/>
        </p:nvSpPr>
        <p:spPr>
          <a:xfrm>
            <a:off x="1143000" y="4590288"/>
            <a:ext cx="4632808" cy="1371600"/>
          </a:xfrm>
          <a:prstGeom prst="rect">
            <a:avLst/>
          </a:prstGeom>
          <a:noFill/>
          <a:ln/>
        </p:spPr>
        <p:txBody>
          <a:bodyPr wrap="square" lIns="0" tIns="0" rIns="0" bIns="0" rtlCol="0" anchor="t"/>
          <a:lstStyle/>
          <a:p>
            <a:pPr algn="l" indent="0" marL="0">
              <a:spcAft>
                <a:spcPts val="600"/>
              </a:spcAft>
              <a:buNone/>
            </a:pPr>
            <a:r>
              <a:rPr lang="en-US" sz="1250" dirty="0">
                <a:solidFill>
                  <a:srgbClr val="2A2F36"/>
                </a:solidFill>
                <a:latin typeface="Calibri" pitchFamily="34" charset="0"/>
                <a:ea typeface="Calibri" pitchFamily="34" charset="-122"/>
                <a:cs typeface="Calibri" pitchFamily="34" charset="-120"/>
              </a:rPr>
              <a:t>When a control stops an action, the reason is written to the Governance Refusal Log, even if the action is rolled back.</a:t>
            </a:r>
            <a:endParaRPr lang="en-US" sz="1250" dirty="0"/>
          </a:p>
          <a:p>
            <a:pPr algn="l" indent="0" marL="0">
              <a:spcAft>
                <a:spcPts val="600"/>
              </a:spcAft>
              <a:buNone/>
            </a:pPr>
            <a:r>
              <a:rPr lang="en-US" sz="1250" b="1" dirty="0">
                <a:solidFill>
                  <a:srgbClr val="2A2F36"/>
                </a:solidFill>
                <a:latin typeface="Calibri" pitchFamily="34" charset="0"/>
                <a:ea typeface="Calibri" pitchFamily="34" charset="-122"/>
                <a:cs typeface="Calibri" pitchFamily="34" charset="-120"/>
              </a:rPr>
              <a:t>Why it matters:</a:t>
            </a:r>
            <a:pPr algn="l" indent="0" marL="0">
              <a:spcAft>
                <a:spcPts val="600"/>
              </a:spcAft>
              <a:buNone/>
            </a:pPr>
            <a:r>
              <a:rPr lang="en-US" sz="1250" dirty="0">
                <a:solidFill>
                  <a:srgbClr val="2A2F36"/>
                </a:solidFill>
                <a:latin typeface="Calibri" pitchFamily="34" charset="0"/>
                <a:ea typeface="Calibri" pitchFamily="34" charset="-122"/>
                <a:cs typeface="Calibri" pitchFamily="34" charset="-120"/>
              </a:rPr>
              <a:t> Assurance sees attempted breaches, not only completed actions.</a:t>
            </a:r>
            <a:endParaRPr lang="en-US" sz="1250" dirty="0"/>
          </a:p>
          <a:p>
            <a:pPr algn="l" indent="0" marL="0">
              <a:spcAft>
                <a:spcPts val="400"/>
              </a:spcAft>
              <a:buNone/>
            </a:pPr>
            <a:r>
              <a:rPr lang="en-US" sz="1250" b="1" dirty="0">
                <a:solidFill>
                  <a:srgbClr val="5B6B82"/>
                </a:solidFill>
                <a:latin typeface="Calibri" pitchFamily="34" charset="0"/>
                <a:ea typeface="Calibri" pitchFamily="34" charset="-122"/>
                <a:cs typeface="Calibri" pitchFamily="34" charset="-120"/>
              </a:rPr>
              <a:t>Evidence:</a:t>
            </a:r>
            <a:pPr algn="l" indent="0" marL="0">
              <a:spcAft>
                <a:spcPts val="400"/>
              </a:spcAft>
              <a:buNone/>
            </a:pPr>
            <a:r>
              <a:rPr lang="en-US" sz="1250" dirty="0">
                <a:solidFill>
                  <a:srgbClr val="5B6B82"/>
                </a:solidFill>
                <a:latin typeface="Calibri" pitchFamily="34" charset="0"/>
                <a:ea typeface="Calibri" pitchFamily="34" charset="-122"/>
                <a:cs typeface="Calibri" pitchFamily="34" charset="-120"/>
              </a:rPr>
              <a:t> Every refusal message names the rule that refused it.</a:t>
            </a:r>
            <a:endParaRPr lang="en-US" sz="1250" dirty="0"/>
          </a:p>
        </p:txBody>
      </p:sp>
      <p:sp>
        <p:nvSpPr>
          <p:cNvPr id="22" name="Shape 19"/>
          <p:cNvSpPr/>
          <p:nvPr/>
        </p:nvSpPr>
        <p:spPr>
          <a:xfrm>
            <a:off x="6233008" y="3931920"/>
            <a:ext cx="5501488" cy="2148840"/>
          </a:xfrm>
          <a:prstGeom prst="rect">
            <a:avLst/>
          </a:prstGeom>
          <a:solidFill>
            <a:srgbClr val="F2F4F7"/>
          </a:solidFill>
          <a:ln w="12700">
            <a:solidFill>
              <a:srgbClr val="F2F4F7"/>
            </a:solidFill>
            <a:prstDash val="solid"/>
          </a:ln>
        </p:spPr>
      </p:sp>
      <p:sp>
        <p:nvSpPr>
          <p:cNvPr id="23" name="Shape 20"/>
          <p:cNvSpPr/>
          <p:nvPr/>
        </p:nvSpPr>
        <p:spPr>
          <a:xfrm>
            <a:off x="6415888" y="4114800"/>
            <a:ext cx="365760" cy="365760"/>
          </a:xfrm>
          <a:prstGeom prst="ellipse">
            <a:avLst/>
          </a:prstGeom>
          <a:solidFill>
            <a:srgbClr val="14213D"/>
          </a:solidFill>
          <a:ln w="12700">
            <a:solidFill>
              <a:srgbClr val="14213D"/>
            </a:solidFill>
            <a:prstDash val="solid"/>
          </a:ln>
        </p:spPr>
      </p:sp>
      <p:sp>
        <p:nvSpPr>
          <p:cNvPr id="24" name="Text 21"/>
          <p:cNvSpPr txBox="1"/>
          <p:nvPr/>
        </p:nvSpPr>
        <p:spPr>
          <a:xfrm>
            <a:off x="6415888" y="4114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2"/>
          <p:cNvSpPr txBox="1"/>
          <p:nvPr/>
        </p:nvSpPr>
        <p:spPr>
          <a:xfrm>
            <a:off x="6918808" y="4096512"/>
            <a:ext cx="4632808" cy="41148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One engine per concern</a:t>
            </a:r>
            <a:endParaRPr lang="en-US" sz="1500" dirty="0"/>
          </a:p>
        </p:txBody>
      </p:sp>
      <p:sp>
        <p:nvSpPr>
          <p:cNvPr id="26" name="Text 23"/>
          <p:cNvSpPr txBox="1"/>
          <p:nvPr/>
        </p:nvSpPr>
        <p:spPr>
          <a:xfrm>
            <a:off x="6918808" y="4590288"/>
            <a:ext cx="4632808" cy="1371600"/>
          </a:xfrm>
          <a:prstGeom prst="rect">
            <a:avLst/>
          </a:prstGeom>
          <a:noFill/>
          <a:ln/>
        </p:spPr>
        <p:txBody>
          <a:bodyPr wrap="square" lIns="0" tIns="0" rIns="0" bIns="0" rtlCol="0" anchor="t"/>
          <a:lstStyle/>
          <a:p>
            <a:pPr algn="l" indent="0" marL="0">
              <a:spcAft>
                <a:spcPts val="600"/>
              </a:spcAft>
              <a:buNone/>
            </a:pPr>
            <a:r>
              <a:rPr lang="en-US" sz="1250" dirty="0">
                <a:solidFill>
                  <a:srgbClr val="2A2F36"/>
                </a:solidFill>
                <a:latin typeface="Calibri" pitchFamily="34" charset="0"/>
                <a:ea typeface="Calibri" pitchFamily="34" charset="-122"/>
                <a:cs typeface="Calibri" pitchFamily="34" charset="-120"/>
              </a:rPr>
              <a:t>Attestation, notification, versioning, retention, service levels and classification are built once, in Core.</a:t>
            </a:r>
            <a:endParaRPr lang="en-US" sz="1250" dirty="0"/>
          </a:p>
          <a:p>
            <a:pPr algn="l" indent="0" marL="0">
              <a:spcAft>
                <a:spcPts val="600"/>
              </a:spcAft>
              <a:buNone/>
            </a:pPr>
            <a:r>
              <a:rPr lang="en-US" sz="1250" b="1" dirty="0">
                <a:solidFill>
                  <a:srgbClr val="2A2F36"/>
                </a:solidFill>
                <a:latin typeface="Calibri" pitchFamily="34" charset="0"/>
                <a:ea typeface="Calibri" pitchFamily="34" charset="-122"/>
                <a:cs typeface="Calibri" pitchFamily="34" charset="-120"/>
              </a:rPr>
              <a:t>Why it matters:</a:t>
            </a:r>
            <a:pPr algn="l" indent="0" marL="0">
              <a:spcAft>
                <a:spcPts val="600"/>
              </a:spcAft>
              <a:buNone/>
            </a:pPr>
            <a:r>
              <a:rPr lang="en-US" sz="1250" dirty="0">
                <a:solidFill>
                  <a:srgbClr val="2A2F36"/>
                </a:solidFill>
                <a:latin typeface="Calibri" pitchFamily="34" charset="0"/>
                <a:ea typeface="Calibri" pitchFamily="34" charset="-122"/>
                <a:cs typeface="Calibri" pitchFamily="34" charset="-120"/>
              </a:rPr>
              <a:t> One consistent answer instead of three subtly different ones.</a:t>
            </a:r>
            <a:endParaRPr lang="en-US" sz="1250" dirty="0"/>
          </a:p>
          <a:p>
            <a:pPr algn="l" indent="0" marL="0">
              <a:spcAft>
                <a:spcPts val="400"/>
              </a:spcAft>
              <a:buNone/>
            </a:pPr>
            <a:r>
              <a:rPr lang="en-US" sz="1250" b="1" dirty="0">
                <a:solidFill>
                  <a:srgbClr val="5B6B82"/>
                </a:solidFill>
                <a:latin typeface="Calibri" pitchFamily="34" charset="0"/>
                <a:ea typeface="Calibri" pitchFamily="34" charset="-122"/>
                <a:cs typeface="Calibri" pitchFamily="34" charset="-120"/>
              </a:rPr>
              <a:t>Evidence:</a:t>
            </a:r>
            <a:pPr algn="l" indent="0" marL="0">
              <a:spcAft>
                <a:spcPts val="400"/>
              </a:spcAft>
              <a:buNone/>
            </a:pPr>
            <a:r>
              <a:rPr lang="en-US" sz="1250" dirty="0">
                <a:solidFill>
                  <a:srgbClr val="5B6B82"/>
                </a:solidFill>
                <a:latin typeface="Calibri" pitchFamily="34" charset="0"/>
                <a:ea typeface="Calibri" pitchFamily="34" charset="-122"/>
                <a:cs typeface="Calibri" pitchFamily="34" charset="-120"/>
              </a:rPr>
              <a:t> Three annual attestation events, one engine.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B  ·  WHAT WE BUILT</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An open-source framework gave us the governance building blocks without a per-seat licence, and we have not forked it</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 HANDOVER.md §1 (framework primitives and uses; objective of no per-seat licensing), §3 (not forked; 8 runtime patches; AST audit), §8; docs/product/04-architecture.md §1.</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6583680" cy="914400"/>
        </p:xfrm>
        <a:graphic>
          <a:graphicData uri="http://schemas.openxmlformats.org/drawingml/2006/table">
            <a:tbl>
              <a:tblPr/>
              <a:tblGrid>
                <a:gridCol w="3017520"/>
                <a:gridCol w="3566160"/>
              </a:tblGrid>
              <a:tr h="42976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Framework building block</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Consilium uses it for</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429768">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Workflow (states, transitions, role gates)</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Policy approvals and exceptions, sign-off chains</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Workflow action record</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7F8FA"/>
                    </a:solidFill>
                  </a:tcPr>
                </a:tc>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Immutable record of who approved what, and when</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7F8FA"/>
                    </a:solidFill>
                  </a:tcPr>
                </a:tc>
              </a:tr>
              <a:tr h="429768">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Assignment rule</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Escalation routing</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Role, permission, user permission</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7F8FA"/>
                    </a:solidFill>
                  </a:tcPr>
                </a:tc>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Committee membership, segregation of duties</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7F8FA"/>
                    </a:solidFill>
                  </a:tcPr>
                </a:tc>
              </a:tr>
              <a:tr h="429768">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Version (audit trail)</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Automatic field-level change history</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Notification</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7F8FA"/>
                    </a:solidFill>
                  </a:tcPr>
                </a:tc>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Alerts on state change or time-limit breach</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7F8FA"/>
                    </a:solidFill>
                  </a:tcPr>
                </a:tc>
              </a:tr>
              <a:tr h="429768">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Record type definition</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A new record type without writing a migration</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Report, dashboard, web form</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7F8FA"/>
                    </a:solidFill>
                  </a:tcPr>
                </a:tc>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Management reporting and intake forms</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7F8FA"/>
                    </a:solidFill>
                  </a:tcPr>
                </a:tc>
              </a:tr>
            </a:tbl>
          </a:graphicData>
        </a:graphic>
      </p:graphicFrame>
      <p:sp>
        <p:nvSpPr>
          <p:cNvPr id="8" name="Shape 4"/>
          <p:cNvSpPr/>
          <p:nvPr/>
        </p:nvSpPr>
        <p:spPr>
          <a:xfrm>
            <a:off x="7406640" y="1600200"/>
            <a:ext cx="4327855" cy="1371600"/>
          </a:xfrm>
          <a:prstGeom prst="rect">
            <a:avLst/>
          </a:prstGeom>
          <a:solidFill>
            <a:srgbClr val="E8EDF5"/>
          </a:solidFill>
          <a:ln w="12700">
            <a:solidFill>
              <a:srgbClr val="E8EDF5"/>
            </a:solidFill>
            <a:prstDash val="solid"/>
          </a:ln>
        </p:spPr>
      </p:sp>
      <p:sp>
        <p:nvSpPr>
          <p:cNvPr id="9" name="Text 5"/>
          <p:cNvSpPr txBox="1"/>
          <p:nvPr/>
        </p:nvSpPr>
        <p:spPr>
          <a:xfrm>
            <a:off x="7589520" y="1709928"/>
            <a:ext cx="3962095" cy="1188720"/>
          </a:xfrm>
          <a:prstGeom prst="rect">
            <a:avLst/>
          </a:prstGeom>
          <a:noFill/>
          <a:ln/>
        </p:spPr>
        <p:txBody>
          <a:bodyPr wrap="square" lIns="0" tIns="0" rIns="0" bIns="0" rtlCol="0" anchor="t"/>
          <a:lstStyle/>
          <a:p>
            <a:pPr algn="l" indent="0" marL="0">
              <a:spcAft>
                <a:spcPts val="400"/>
              </a:spcAft>
              <a:buNone/>
            </a:pPr>
            <a:r>
              <a:rPr lang="en-US" sz="1500" b="1" dirty="0">
                <a:solidFill>
                  <a:srgbClr val="14213D"/>
                </a:solidFill>
                <a:latin typeface="Calibri" pitchFamily="34" charset="0"/>
                <a:ea typeface="Calibri" pitchFamily="34" charset="-122"/>
                <a:cs typeface="Calibri" pitchFamily="34" charset="-120"/>
              </a:rPr>
              <a:t>No per-seat licence</a:t>
            </a:r>
            <a:endParaRPr lang="en-US" sz="1500" dirty="0"/>
          </a:p>
          <a:p>
            <a:pPr algn="l" indent="0" marL="0">
              <a:spcAft>
                <a:spcPts val="400"/>
              </a:spcAft>
              <a:buNone/>
            </a:pPr>
            <a:r>
              <a:rPr lang="en-US" sz="1250" dirty="0">
                <a:solidFill>
                  <a:srgbClr val="2A2F36"/>
                </a:solidFill>
                <a:latin typeface="Calibri" pitchFamily="34" charset="0"/>
                <a:ea typeface="Calibri" pitchFamily="34" charset="-122"/>
                <a:cs typeface="Calibri" pitchFamily="34" charset="-120"/>
              </a:rPr>
              <a:t>The objective set at the outset: run the platform on infrastructure the organisation already runs, with no per-seat licence of a commercial GRC product.</a:t>
            </a:r>
            <a:endParaRPr lang="en-US" sz="1500" dirty="0"/>
          </a:p>
        </p:txBody>
      </p:sp>
      <p:sp>
        <p:nvSpPr>
          <p:cNvPr id="10" name="Shape 6"/>
          <p:cNvSpPr/>
          <p:nvPr/>
        </p:nvSpPr>
        <p:spPr>
          <a:xfrm>
            <a:off x="7406640" y="3108960"/>
            <a:ext cx="4327855" cy="1371600"/>
          </a:xfrm>
          <a:prstGeom prst="rect">
            <a:avLst/>
          </a:prstGeom>
          <a:solidFill>
            <a:srgbClr val="E8EDF5"/>
          </a:solidFill>
          <a:ln w="12700">
            <a:solidFill>
              <a:srgbClr val="E8EDF5"/>
            </a:solidFill>
            <a:prstDash val="solid"/>
          </a:ln>
        </p:spPr>
      </p:sp>
      <p:sp>
        <p:nvSpPr>
          <p:cNvPr id="11" name="Text 7"/>
          <p:cNvSpPr txBox="1"/>
          <p:nvPr/>
        </p:nvSpPr>
        <p:spPr>
          <a:xfrm>
            <a:off x="7589520" y="3218688"/>
            <a:ext cx="3962095" cy="1188720"/>
          </a:xfrm>
          <a:prstGeom prst="rect">
            <a:avLst/>
          </a:prstGeom>
          <a:noFill/>
          <a:ln/>
        </p:spPr>
        <p:txBody>
          <a:bodyPr wrap="square" lIns="0" tIns="0" rIns="0" bIns="0" rtlCol="0" anchor="t"/>
          <a:lstStyle/>
          <a:p>
            <a:pPr algn="l" indent="0" marL="0">
              <a:spcAft>
                <a:spcPts val="400"/>
              </a:spcAft>
              <a:buNone/>
            </a:pPr>
            <a:r>
              <a:rPr lang="en-US" sz="1500" b="1" dirty="0">
                <a:solidFill>
                  <a:srgbClr val="14213D"/>
                </a:solidFill>
                <a:latin typeface="Calibri" pitchFamily="34" charset="0"/>
                <a:ea typeface="Calibri" pitchFamily="34" charset="-122"/>
                <a:cs typeface="Calibri" pitchFamily="34" charset="-120"/>
              </a:rPr>
              <a:t>Not forked</a:t>
            </a:r>
            <a:endParaRPr lang="en-US" sz="1500" dirty="0"/>
          </a:p>
          <a:p>
            <a:pPr algn="l" indent="0" marL="0">
              <a:spcAft>
                <a:spcPts val="400"/>
              </a:spcAft>
              <a:buNone/>
            </a:pPr>
            <a:r>
              <a:rPr lang="en-US" sz="1250" dirty="0">
                <a:solidFill>
                  <a:srgbClr val="2A2F36"/>
                </a:solidFill>
                <a:latin typeface="Calibri" pitchFamily="34" charset="0"/>
                <a:ea typeface="Calibri" pitchFamily="34" charset="-122"/>
                <a:cs typeface="Calibri" pitchFamily="34" charset="-120"/>
              </a:rPr>
              <a:t>The framework source stays untouched. </a:t>
            </a:r>
            <a:pPr algn="l" indent="0" marL="0">
              <a:spcAft>
                <a:spcPts val="400"/>
              </a:spcAft>
              <a:buNone/>
            </a:pPr>
            <a:r>
              <a:rPr lang="en-US" sz="1250" b="1" dirty="0">
                <a:solidFill>
                  <a:srgbClr val="2A2F36"/>
                </a:solidFill>
                <a:latin typeface="Calibri" pitchFamily="34" charset="0"/>
                <a:ea typeface="Calibri" pitchFamily="34" charset="-122"/>
                <a:cs typeface="Calibri" pitchFamily="34" charset="-120"/>
              </a:rPr>
              <a:t>8 runtime patches</a:t>
            </a:r>
            <a:pPr algn="l" indent="0" marL="0">
              <a:spcAft>
                <a:spcPts val="400"/>
              </a:spcAft>
              <a:buNone/>
            </a:pPr>
            <a:r>
              <a:rPr lang="en-US" sz="1250" dirty="0">
                <a:solidFill>
                  <a:srgbClr val="2A2F36"/>
                </a:solidFill>
                <a:latin typeface="Calibri" pitchFamily="34" charset="0"/>
                <a:ea typeface="Calibri" pitchFamily="34" charset="-122"/>
                <a:cs typeface="Calibri" pitchFamily="34" charset="-120"/>
              </a:rPr>
              <a:t> are applied at start-up, each doing nothing on Linux, so upstream updates keep applying.</a:t>
            </a:r>
            <a:endParaRPr lang="en-US" sz="1500" dirty="0"/>
          </a:p>
        </p:txBody>
      </p:sp>
      <p:sp>
        <p:nvSpPr>
          <p:cNvPr id="12" name="Shape 8"/>
          <p:cNvSpPr/>
          <p:nvPr/>
        </p:nvSpPr>
        <p:spPr>
          <a:xfrm>
            <a:off x="7406640" y="4617720"/>
            <a:ext cx="4327855" cy="1371600"/>
          </a:xfrm>
          <a:prstGeom prst="rect">
            <a:avLst/>
          </a:prstGeom>
          <a:solidFill>
            <a:srgbClr val="E8EDF5"/>
          </a:solidFill>
          <a:ln w="12700">
            <a:solidFill>
              <a:srgbClr val="E8EDF5"/>
            </a:solidFill>
            <a:prstDash val="solid"/>
          </a:ln>
        </p:spPr>
      </p:sp>
      <p:sp>
        <p:nvSpPr>
          <p:cNvPr id="13" name="Text 9"/>
          <p:cNvSpPr txBox="1"/>
          <p:nvPr/>
        </p:nvSpPr>
        <p:spPr>
          <a:xfrm>
            <a:off x="7589520" y="4727448"/>
            <a:ext cx="3962095" cy="1188720"/>
          </a:xfrm>
          <a:prstGeom prst="rect">
            <a:avLst/>
          </a:prstGeom>
          <a:noFill/>
          <a:ln/>
        </p:spPr>
        <p:txBody>
          <a:bodyPr wrap="square" lIns="0" tIns="0" rIns="0" bIns="0" rtlCol="0" anchor="t"/>
          <a:lstStyle/>
          <a:p>
            <a:pPr algn="l" indent="0" marL="0">
              <a:spcAft>
                <a:spcPts val="400"/>
              </a:spcAft>
              <a:buNone/>
            </a:pPr>
            <a:r>
              <a:rPr lang="en-US" sz="1500" b="1" dirty="0">
                <a:solidFill>
                  <a:srgbClr val="14213D"/>
                </a:solidFill>
                <a:latin typeface="Calibri" pitchFamily="34" charset="0"/>
                <a:ea typeface="Calibri" pitchFamily="34" charset="-122"/>
                <a:cs typeface="Calibri" pitchFamily="34" charset="-120"/>
              </a:rPr>
              <a:t>Portable by evidence</a:t>
            </a:r>
            <a:endParaRPr lang="en-US" sz="1500" dirty="0"/>
          </a:p>
          <a:p>
            <a:pPr algn="l" indent="0" marL="0">
              <a:spcAft>
                <a:spcPts val="400"/>
              </a:spcAft>
              <a:buNone/>
            </a:pPr>
            <a:r>
              <a:rPr lang="en-US" sz="1250" dirty="0">
                <a:solidFill>
                  <a:srgbClr val="2A2F36"/>
                </a:solidFill>
                <a:latin typeface="Calibri" pitchFamily="34" charset="0"/>
                <a:ea typeface="Calibri" pitchFamily="34" charset="-122"/>
                <a:cs typeface="Calibri" pitchFamily="34" charset="-120"/>
              </a:rPr>
              <a:t>A static code audit of the whole framework found </a:t>
            </a:r>
            <a:pPr algn="l" indent="0" marL="0">
              <a:spcAft>
                <a:spcPts val="400"/>
              </a:spcAft>
              <a:buNone/>
            </a:pPr>
            <a:r>
              <a:rPr lang="en-US" sz="1250" b="1" dirty="0">
                <a:solidFill>
                  <a:srgbClr val="2A2F36"/>
                </a:solidFill>
                <a:latin typeface="Calibri" pitchFamily="34" charset="0"/>
                <a:ea typeface="Calibri" pitchFamily="34" charset="-122"/>
                <a:cs typeface="Calibri" pitchFamily="34" charset="-120"/>
              </a:rPr>
              <a:t>10 Windows blockers, 6 of them in test code</a:t>
            </a:r>
            <a:pPr algn="l" indent="0" marL="0">
              <a:spcAft>
                <a:spcPts val="400"/>
              </a:spcAft>
              <a:buNone/>
            </a:pPr>
            <a:r>
              <a:rPr lang="en-US" sz="1250" dirty="0">
                <a:solidFill>
                  <a:srgbClr val="2A2F36"/>
                </a:solidFill>
                <a:latin typeface="Calibri" pitchFamily="34" charset="0"/>
                <a:ea typeface="Calibri" pitchFamily="34" charset="-122"/>
                <a:cs typeface="Calibri" pitchFamily="34" charset="-120"/>
              </a:rPr>
              <a:t>. The rest are patched and tested.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B  ·  WHAT WE BUILT</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The platform meets five hard enterprise constraints that the framework's standard installation cannot</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HANDOVER.md §2–4; README.md ('Current state', 'Requirements'); docs/delivery/DEPLOYMENT-READINESS.md §1–3; CLAUDE.md non-negotiable rules 1–7.</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7295" cy="914400"/>
        </p:xfrm>
        <a:graphic>
          <a:graphicData uri="http://schemas.openxmlformats.org/drawingml/2006/table">
            <a:tbl>
              <a:tblPr/>
              <a:tblGrid>
                <a:gridCol w="2011680"/>
                <a:gridCol w="2743200"/>
                <a:gridCol w="3291840"/>
                <a:gridCol w="3227832"/>
              </a:tblGrid>
              <a:tr h="3657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Constraint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 the standard path fails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we built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Evidence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804672">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Installs with no internet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Assumes git clone from GitHub; the framework is not on the public package index</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One self-verifying bundle: wheels, framework, application, prebuilt assets, installer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Air-gapped Rocky Linux 9: no route to the internet, 0 network lines in pip's log; verify.sh 14/14, health 17/17</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731520">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No compiler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Some dependencies publish no wheel</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Wheels built when the bundle is made, on a connected machine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Runtime set: 139 wheels + 6 pure-Python sdists; the builder refuses anything that needs a compiler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40080">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No package manager for the front end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Front-end build needs node and yarn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Prebuilt asset bundle committed; libraries vendored and checksummed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Verified with node absent from the path</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804672">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Windows and Linux from one tree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Standard tooling (bench, supervisor, nginx, gunicorn) is POSIX-only</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Cross-platform launcher of about 800 lines; pure-Python web server; fork-free worker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22 simulated-Windows tests pass. </a:t>
                      </a:r>
                      <a:pPr algn="l" indent="0" marL="0">
                        <a:buNone/>
                      </a:pPr>
                      <a:r>
                        <a:rPr lang="en-US" sz="1150" b="1" dirty="0">
                          <a:solidFill>
                            <a:srgbClr val="C8553D"/>
                          </a:solidFill>
                          <a:latin typeface="Calibri" pitchFamily="34" charset="0"/>
                          <a:ea typeface="Calibri" pitchFamily="34" charset="-122"/>
                          <a:cs typeface="Calibri" pitchFamily="34" charset="-120"/>
                        </a:rPr>
                        <a:t>Not yet run on real Windows hardware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40080">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PostgreSQL only</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MariaDB-first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PostgreSQL 16; no MariaDB-specific SQL</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About 190 framework tests run on PostgreSQL: 3 failures, none ours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B  ·  WHAT WE BUILT</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A conventional tiered architecture with no outbound network dependency in the delivered configuration</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 docs/product/04-architecture.md §2.1–2.3 (components), §4.2 (AI boundary rules), §9.2 (boundary table), §9.3 (exactly one scheduler); docs/guides/07-help-and-ai.md; docs/guides/09-administration.md §9.14 (Integrations).</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457200" y="1600200"/>
            <a:ext cx="7863840" cy="4526280"/>
          </a:xfrm>
          <a:prstGeom prst="rect">
            <a:avLst/>
          </a:prstGeom>
          <a:solidFill>
            <a:srgbClr val="F7F8FA"/>
          </a:solidFill>
          <a:ln w="15875">
            <a:solidFill>
              <a:srgbClr val="14213D"/>
            </a:solidFill>
            <a:prstDash val="solid"/>
          </a:ln>
        </p:spPr>
      </p:sp>
      <p:sp>
        <p:nvSpPr>
          <p:cNvPr id="8" name="Text 5"/>
          <p:cNvSpPr txBox="1"/>
          <p:nvPr/>
        </p:nvSpPr>
        <p:spPr>
          <a:xfrm>
            <a:off x="594360" y="1673352"/>
            <a:ext cx="7589520" cy="274320"/>
          </a:xfrm>
          <a:prstGeom prst="rect">
            <a:avLst/>
          </a:prstGeom>
          <a:noFill/>
          <a:ln/>
        </p:spPr>
        <p:txBody>
          <a:bodyPr wrap="square" lIns="0" tIns="0" rIns="0" bIns="0" rtlCol="0" anchor="t"/>
          <a:lstStyle/>
          <a:p>
            <a:pPr algn="l" indent="0" marL="0">
              <a:buNone/>
            </a:pPr>
            <a:r>
              <a:rPr lang="en-US" sz="1000" b="1" dirty="0">
                <a:solidFill>
                  <a:srgbClr val="14213D"/>
                </a:solidFill>
                <a:latin typeface="Calibri" pitchFamily="34" charset="0"/>
                <a:ea typeface="Calibri" pitchFamily="34" charset="-122"/>
                <a:cs typeface="Calibri" pitchFamily="34" charset="-120"/>
              </a:rPr>
              <a:t>SECURE ZONE — air-gapped Linux server (production) or Windows workstation (development)</a:t>
            </a:r>
            <a:endParaRPr lang="en-US" sz="1000" dirty="0"/>
          </a:p>
        </p:txBody>
      </p:sp>
      <p:sp>
        <p:nvSpPr>
          <p:cNvPr id="9" name="Text 6"/>
          <p:cNvSpPr txBox="1"/>
          <p:nvPr/>
        </p:nvSpPr>
        <p:spPr>
          <a:xfrm>
            <a:off x="594360" y="2039112"/>
            <a:ext cx="1097280" cy="731520"/>
          </a:xfrm>
          <a:prstGeom prst="rect">
            <a:avLst/>
          </a:prstGeom>
          <a:noFill/>
          <a:ln/>
        </p:spPr>
        <p:txBody>
          <a:bodyPr wrap="square" lIns="0" tIns="0" rIns="0" bIns="0" rtlCol="0" anchor="ctr"/>
          <a:lstStyle/>
          <a:p>
            <a:pPr algn="l" indent="0" marL="0">
              <a:buNone/>
            </a:pPr>
            <a:r>
              <a:rPr lang="en-US" sz="1150" b="1" dirty="0">
                <a:solidFill>
                  <a:srgbClr val="5B6B82"/>
                </a:solidFill>
                <a:latin typeface="Calibri" pitchFamily="34" charset="0"/>
                <a:ea typeface="Calibri" pitchFamily="34" charset="-122"/>
                <a:cs typeface="Calibri" pitchFamily="34" charset="-120"/>
              </a:rPr>
              <a:t>Client</a:t>
            </a:r>
            <a:endParaRPr lang="en-US" sz="1150" dirty="0"/>
          </a:p>
        </p:txBody>
      </p:sp>
      <p:sp>
        <p:nvSpPr>
          <p:cNvPr id="10" name="Shape 7"/>
          <p:cNvSpPr/>
          <p:nvPr/>
        </p:nvSpPr>
        <p:spPr>
          <a:xfrm>
            <a:off x="1691640" y="2112264"/>
            <a:ext cx="3200400" cy="585216"/>
          </a:xfrm>
          <a:prstGeom prst="rect">
            <a:avLst/>
          </a:prstGeom>
          <a:solidFill>
            <a:srgbClr val="14213D"/>
          </a:solidFill>
          <a:ln w="12700">
            <a:solidFill>
              <a:srgbClr val="FFFFFF"/>
            </a:solidFill>
            <a:prstDash val="solid"/>
          </a:ln>
        </p:spPr>
      </p:sp>
      <p:sp>
        <p:nvSpPr>
          <p:cNvPr id="11" name="Text 8"/>
          <p:cNvSpPr txBox="1"/>
          <p:nvPr/>
        </p:nvSpPr>
        <p:spPr>
          <a:xfrm>
            <a:off x="1737360" y="2112264"/>
            <a:ext cx="310896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Portal screens (daily work)</a:t>
            </a:r>
            <a:endParaRPr lang="en-US" sz="1050" dirty="0"/>
          </a:p>
        </p:txBody>
      </p:sp>
      <p:sp>
        <p:nvSpPr>
          <p:cNvPr id="12" name="Shape 9"/>
          <p:cNvSpPr/>
          <p:nvPr/>
        </p:nvSpPr>
        <p:spPr>
          <a:xfrm>
            <a:off x="4983480" y="2112264"/>
            <a:ext cx="3200400" cy="585216"/>
          </a:xfrm>
          <a:prstGeom prst="rect">
            <a:avLst/>
          </a:prstGeom>
          <a:solidFill>
            <a:srgbClr val="14213D"/>
          </a:solidFill>
          <a:ln w="12700">
            <a:solidFill>
              <a:srgbClr val="FFFFFF"/>
            </a:solidFill>
            <a:prstDash val="solid"/>
          </a:ln>
        </p:spPr>
      </p:sp>
      <p:sp>
        <p:nvSpPr>
          <p:cNvPr id="13" name="Text 10"/>
          <p:cNvSpPr txBox="1"/>
          <p:nvPr/>
        </p:nvSpPr>
        <p:spPr>
          <a:xfrm>
            <a:off x="5029200" y="2112264"/>
            <a:ext cx="310896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Workspace (administration)</a:t>
            </a:r>
            <a:endParaRPr lang="en-US" sz="1050" dirty="0"/>
          </a:p>
        </p:txBody>
      </p:sp>
      <p:sp>
        <p:nvSpPr>
          <p:cNvPr id="14" name="Text 11"/>
          <p:cNvSpPr txBox="1"/>
          <p:nvPr/>
        </p:nvSpPr>
        <p:spPr>
          <a:xfrm>
            <a:off x="594360" y="2843784"/>
            <a:ext cx="1097280" cy="731520"/>
          </a:xfrm>
          <a:prstGeom prst="rect">
            <a:avLst/>
          </a:prstGeom>
          <a:noFill/>
          <a:ln/>
        </p:spPr>
        <p:txBody>
          <a:bodyPr wrap="square" lIns="0" tIns="0" rIns="0" bIns="0" rtlCol="0" anchor="ctr"/>
          <a:lstStyle/>
          <a:p>
            <a:pPr algn="l" indent="0" marL="0">
              <a:buNone/>
            </a:pPr>
            <a:r>
              <a:rPr lang="en-US" sz="1150" b="1" dirty="0">
                <a:solidFill>
                  <a:srgbClr val="5B6B82"/>
                </a:solidFill>
                <a:latin typeface="Calibri" pitchFamily="34" charset="0"/>
                <a:ea typeface="Calibri" pitchFamily="34" charset="-122"/>
                <a:cs typeface="Calibri" pitchFamily="34" charset="-120"/>
              </a:rPr>
              <a:t>Web</a:t>
            </a:r>
            <a:endParaRPr lang="en-US" sz="1150" dirty="0"/>
          </a:p>
        </p:txBody>
      </p:sp>
      <p:sp>
        <p:nvSpPr>
          <p:cNvPr id="15" name="Shape 12"/>
          <p:cNvSpPr/>
          <p:nvPr/>
        </p:nvSpPr>
        <p:spPr>
          <a:xfrm>
            <a:off x="1691640" y="2916936"/>
            <a:ext cx="3200400" cy="585216"/>
          </a:xfrm>
          <a:prstGeom prst="rect">
            <a:avLst/>
          </a:prstGeom>
          <a:solidFill>
            <a:srgbClr val="14213D"/>
          </a:solidFill>
          <a:ln w="12700">
            <a:solidFill>
              <a:srgbClr val="FFFFFF"/>
            </a:solidFill>
            <a:prstDash val="solid"/>
          </a:ln>
        </p:spPr>
      </p:sp>
      <p:sp>
        <p:nvSpPr>
          <p:cNvPr id="16" name="Text 13"/>
          <p:cNvSpPr txBox="1"/>
          <p:nvPr/>
        </p:nvSpPr>
        <p:spPr>
          <a:xfrm>
            <a:off x="1737360" y="2916936"/>
            <a:ext cx="310896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Pure-Python web server</a:t>
            </a:r>
            <a:endParaRPr lang="en-US" sz="1050" dirty="0"/>
          </a:p>
        </p:txBody>
      </p:sp>
      <p:sp>
        <p:nvSpPr>
          <p:cNvPr id="17" name="Shape 14"/>
          <p:cNvSpPr/>
          <p:nvPr/>
        </p:nvSpPr>
        <p:spPr>
          <a:xfrm>
            <a:off x="4983480" y="2916936"/>
            <a:ext cx="3200400" cy="585216"/>
          </a:xfrm>
          <a:prstGeom prst="rect">
            <a:avLst/>
          </a:prstGeom>
          <a:solidFill>
            <a:srgbClr val="14213D"/>
          </a:solidFill>
          <a:ln w="12700">
            <a:solidFill>
              <a:srgbClr val="FFFFFF"/>
            </a:solidFill>
            <a:prstDash val="solid"/>
          </a:ln>
        </p:spPr>
      </p:sp>
      <p:sp>
        <p:nvSpPr>
          <p:cNvPr id="18" name="Text 15"/>
          <p:cNvSpPr txBox="1"/>
          <p:nvPr/>
        </p:nvSpPr>
        <p:spPr>
          <a:xfrm>
            <a:off x="5029200" y="2916936"/>
            <a:ext cx="310896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Static assets served in-process</a:t>
            </a:r>
            <a:endParaRPr lang="en-US" sz="1050" dirty="0"/>
          </a:p>
        </p:txBody>
      </p:sp>
      <p:sp>
        <p:nvSpPr>
          <p:cNvPr id="19" name="Text 16"/>
          <p:cNvSpPr txBox="1"/>
          <p:nvPr/>
        </p:nvSpPr>
        <p:spPr>
          <a:xfrm>
            <a:off x="594360" y="3648456"/>
            <a:ext cx="1097280" cy="731520"/>
          </a:xfrm>
          <a:prstGeom prst="rect">
            <a:avLst/>
          </a:prstGeom>
          <a:noFill/>
          <a:ln/>
        </p:spPr>
        <p:txBody>
          <a:bodyPr wrap="square" lIns="0" tIns="0" rIns="0" bIns="0" rtlCol="0" anchor="ctr"/>
          <a:lstStyle/>
          <a:p>
            <a:pPr algn="l" indent="0" marL="0">
              <a:buNone/>
            </a:pPr>
            <a:r>
              <a:rPr lang="en-US" sz="1150" b="1" dirty="0">
                <a:solidFill>
                  <a:srgbClr val="5B6B82"/>
                </a:solidFill>
                <a:latin typeface="Calibri" pitchFamily="34" charset="0"/>
                <a:ea typeface="Calibri" pitchFamily="34" charset="-122"/>
                <a:cs typeface="Calibri" pitchFamily="34" charset="-120"/>
              </a:rPr>
              <a:t>Application</a:t>
            </a:r>
            <a:endParaRPr lang="en-US" sz="1150" dirty="0"/>
          </a:p>
        </p:txBody>
      </p:sp>
      <p:sp>
        <p:nvSpPr>
          <p:cNvPr id="20" name="Shape 17"/>
          <p:cNvSpPr/>
          <p:nvPr/>
        </p:nvSpPr>
        <p:spPr>
          <a:xfrm>
            <a:off x="1691640" y="3721608"/>
            <a:ext cx="1005840" cy="585216"/>
          </a:xfrm>
          <a:prstGeom prst="rect">
            <a:avLst/>
          </a:prstGeom>
          <a:solidFill>
            <a:srgbClr val="C8553D"/>
          </a:solidFill>
          <a:ln w="12700">
            <a:solidFill>
              <a:srgbClr val="FFFFFF"/>
            </a:solidFill>
            <a:prstDash val="solid"/>
          </a:ln>
        </p:spPr>
      </p:sp>
      <p:sp>
        <p:nvSpPr>
          <p:cNvPr id="21" name="Text 18"/>
          <p:cNvSpPr txBox="1"/>
          <p:nvPr/>
        </p:nvSpPr>
        <p:spPr>
          <a:xfrm>
            <a:off x="1737360" y="3721608"/>
            <a:ext cx="914400" cy="58521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Permission check on every request</a:t>
            </a:r>
            <a:endParaRPr lang="en-US" sz="1050" dirty="0"/>
          </a:p>
        </p:txBody>
      </p:sp>
      <p:sp>
        <p:nvSpPr>
          <p:cNvPr id="22" name="Shape 19"/>
          <p:cNvSpPr/>
          <p:nvPr/>
        </p:nvSpPr>
        <p:spPr>
          <a:xfrm>
            <a:off x="2788920" y="3721608"/>
            <a:ext cx="1005840" cy="585216"/>
          </a:xfrm>
          <a:prstGeom prst="rect">
            <a:avLst/>
          </a:prstGeom>
          <a:solidFill>
            <a:srgbClr val="14213D"/>
          </a:solidFill>
          <a:ln w="12700">
            <a:solidFill>
              <a:srgbClr val="FFFFFF"/>
            </a:solidFill>
            <a:prstDash val="solid"/>
          </a:ln>
        </p:spPr>
      </p:sp>
      <p:sp>
        <p:nvSpPr>
          <p:cNvPr id="23" name="Text 20"/>
          <p:cNvSpPr txBox="1"/>
          <p:nvPr/>
        </p:nvSpPr>
        <p:spPr>
          <a:xfrm>
            <a:off x="2834640" y="3721608"/>
            <a:ext cx="91440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Document engine</a:t>
            </a:r>
            <a:endParaRPr lang="en-US" sz="1050" dirty="0"/>
          </a:p>
        </p:txBody>
      </p:sp>
      <p:sp>
        <p:nvSpPr>
          <p:cNvPr id="24" name="Shape 21"/>
          <p:cNvSpPr/>
          <p:nvPr/>
        </p:nvSpPr>
        <p:spPr>
          <a:xfrm>
            <a:off x="3886200" y="3721608"/>
            <a:ext cx="1005840" cy="585216"/>
          </a:xfrm>
          <a:prstGeom prst="rect">
            <a:avLst/>
          </a:prstGeom>
          <a:solidFill>
            <a:srgbClr val="14213D"/>
          </a:solidFill>
          <a:ln w="12700">
            <a:solidFill>
              <a:srgbClr val="FFFFFF"/>
            </a:solidFill>
            <a:prstDash val="solid"/>
          </a:ln>
        </p:spPr>
      </p:sp>
      <p:sp>
        <p:nvSpPr>
          <p:cNvPr id="25" name="Text 22"/>
          <p:cNvSpPr txBox="1"/>
          <p:nvPr/>
        </p:nvSpPr>
        <p:spPr>
          <a:xfrm>
            <a:off x="3931920" y="3721608"/>
            <a:ext cx="91440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Workflow engine</a:t>
            </a:r>
            <a:endParaRPr lang="en-US" sz="1050" dirty="0"/>
          </a:p>
        </p:txBody>
      </p:sp>
      <p:sp>
        <p:nvSpPr>
          <p:cNvPr id="26" name="Shape 23"/>
          <p:cNvSpPr/>
          <p:nvPr/>
        </p:nvSpPr>
        <p:spPr>
          <a:xfrm>
            <a:off x="4983480" y="3721608"/>
            <a:ext cx="1005840" cy="585216"/>
          </a:xfrm>
          <a:prstGeom prst="rect">
            <a:avLst/>
          </a:prstGeom>
          <a:solidFill>
            <a:srgbClr val="14213D"/>
          </a:solidFill>
          <a:ln w="12700">
            <a:solidFill>
              <a:srgbClr val="FFFFFF"/>
            </a:solidFill>
            <a:prstDash val="solid"/>
          </a:ln>
        </p:spPr>
      </p:sp>
      <p:sp>
        <p:nvSpPr>
          <p:cNvPr id="27" name="Text 24"/>
          <p:cNvSpPr txBox="1"/>
          <p:nvPr/>
        </p:nvSpPr>
        <p:spPr>
          <a:xfrm>
            <a:off x="5029200" y="3721608"/>
            <a:ext cx="91440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Core services</a:t>
            </a:r>
            <a:endParaRPr lang="en-US" sz="1050" dirty="0"/>
          </a:p>
        </p:txBody>
      </p:sp>
      <p:sp>
        <p:nvSpPr>
          <p:cNvPr id="28" name="Shape 25"/>
          <p:cNvSpPr/>
          <p:nvPr/>
        </p:nvSpPr>
        <p:spPr>
          <a:xfrm>
            <a:off x="6080760" y="3721608"/>
            <a:ext cx="1005840" cy="585216"/>
          </a:xfrm>
          <a:prstGeom prst="rect">
            <a:avLst/>
          </a:prstGeom>
          <a:solidFill>
            <a:srgbClr val="14213D"/>
          </a:solidFill>
          <a:ln w="12700">
            <a:solidFill>
              <a:srgbClr val="FFFFFF"/>
            </a:solidFill>
            <a:prstDash val="solid"/>
          </a:ln>
        </p:spPr>
      </p:sp>
      <p:sp>
        <p:nvSpPr>
          <p:cNvPr id="29" name="Text 26"/>
          <p:cNvSpPr txBox="1"/>
          <p:nvPr/>
        </p:nvSpPr>
        <p:spPr>
          <a:xfrm>
            <a:off x="6126480" y="3721608"/>
            <a:ext cx="91440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Module logic</a:t>
            </a:r>
            <a:endParaRPr lang="en-US" sz="1050" dirty="0"/>
          </a:p>
        </p:txBody>
      </p:sp>
      <p:sp>
        <p:nvSpPr>
          <p:cNvPr id="30" name="Shape 27"/>
          <p:cNvSpPr/>
          <p:nvPr/>
        </p:nvSpPr>
        <p:spPr>
          <a:xfrm>
            <a:off x="7178040" y="3721608"/>
            <a:ext cx="1005840" cy="585216"/>
          </a:xfrm>
          <a:prstGeom prst="rect">
            <a:avLst/>
          </a:prstGeom>
          <a:solidFill>
            <a:srgbClr val="14213D"/>
          </a:solidFill>
          <a:ln w="12700">
            <a:solidFill>
              <a:srgbClr val="FFFFFF"/>
            </a:solidFill>
            <a:prstDash val="solid"/>
          </a:ln>
        </p:spPr>
      </p:sp>
      <p:sp>
        <p:nvSpPr>
          <p:cNvPr id="31" name="Text 28"/>
          <p:cNvSpPr txBox="1"/>
          <p:nvPr/>
        </p:nvSpPr>
        <p:spPr>
          <a:xfrm>
            <a:off x="7223760" y="3721608"/>
            <a:ext cx="91440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REST API</a:t>
            </a:r>
            <a:endParaRPr lang="en-US" sz="1050" dirty="0"/>
          </a:p>
        </p:txBody>
      </p:sp>
      <p:sp>
        <p:nvSpPr>
          <p:cNvPr id="32" name="Text 29"/>
          <p:cNvSpPr txBox="1"/>
          <p:nvPr/>
        </p:nvSpPr>
        <p:spPr>
          <a:xfrm>
            <a:off x="594360" y="4453128"/>
            <a:ext cx="1097280" cy="731520"/>
          </a:xfrm>
          <a:prstGeom prst="rect">
            <a:avLst/>
          </a:prstGeom>
          <a:noFill/>
          <a:ln/>
        </p:spPr>
        <p:txBody>
          <a:bodyPr wrap="square" lIns="0" tIns="0" rIns="0" bIns="0" rtlCol="0" anchor="ctr"/>
          <a:lstStyle/>
          <a:p>
            <a:pPr algn="l" indent="0" marL="0">
              <a:buNone/>
            </a:pPr>
            <a:r>
              <a:rPr lang="en-US" sz="1150" b="1" dirty="0">
                <a:solidFill>
                  <a:srgbClr val="5B6B82"/>
                </a:solidFill>
                <a:latin typeface="Calibri" pitchFamily="34" charset="0"/>
                <a:ea typeface="Calibri" pitchFamily="34" charset="-122"/>
                <a:cs typeface="Calibri" pitchFamily="34" charset="-120"/>
              </a:rPr>
              <a:t>Background</a:t>
            </a:r>
            <a:endParaRPr lang="en-US" sz="1150" dirty="0"/>
          </a:p>
        </p:txBody>
      </p:sp>
      <p:sp>
        <p:nvSpPr>
          <p:cNvPr id="33" name="Shape 30"/>
          <p:cNvSpPr/>
          <p:nvPr/>
        </p:nvSpPr>
        <p:spPr>
          <a:xfrm>
            <a:off x="1691640" y="4526280"/>
            <a:ext cx="2103120" cy="585216"/>
          </a:xfrm>
          <a:prstGeom prst="rect">
            <a:avLst/>
          </a:prstGeom>
          <a:solidFill>
            <a:srgbClr val="14213D"/>
          </a:solidFill>
          <a:ln w="12700">
            <a:solidFill>
              <a:srgbClr val="FFFFFF"/>
            </a:solidFill>
            <a:prstDash val="solid"/>
          </a:ln>
        </p:spPr>
      </p:sp>
      <p:sp>
        <p:nvSpPr>
          <p:cNvPr id="34" name="Text 31"/>
          <p:cNvSpPr txBox="1"/>
          <p:nvPr/>
        </p:nvSpPr>
        <p:spPr>
          <a:xfrm>
            <a:off x="1737360" y="4526280"/>
            <a:ext cx="201168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Job queues</a:t>
            </a:r>
            <a:endParaRPr lang="en-US" sz="1050" dirty="0"/>
          </a:p>
        </p:txBody>
      </p:sp>
      <p:sp>
        <p:nvSpPr>
          <p:cNvPr id="35" name="Shape 32"/>
          <p:cNvSpPr/>
          <p:nvPr/>
        </p:nvSpPr>
        <p:spPr>
          <a:xfrm>
            <a:off x="3886200" y="4526280"/>
            <a:ext cx="2103120" cy="585216"/>
          </a:xfrm>
          <a:prstGeom prst="rect">
            <a:avLst/>
          </a:prstGeom>
          <a:solidFill>
            <a:srgbClr val="14213D"/>
          </a:solidFill>
          <a:ln w="12700">
            <a:solidFill>
              <a:srgbClr val="FFFFFF"/>
            </a:solidFill>
            <a:prstDash val="solid"/>
          </a:ln>
        </p:spPr>
      </p:sp>
      <p:sp>
        <p:nvSpPr>
          <p:cNvPr id="36" name="Text 33"/>
          <p:cNvSpPr txBox="1"/>
          <p:nvPr/>
        </p:nvSpPr>
        <p:spPr>
          <a:xfrm>
            <a:off x="3931920" y="4526280"/>
            <a:ext cx="201168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Workers</a:t>
            </a:r>
            <a:endParaRPr lang="en-US" sz="1050" dirty="0"/>
          </a:p>
        </p:txBody>
      </p:sp>
      <p:sp>
        <p:nvSpPr>
          <p:cNvPr id="37" name="Shape 34"/>
          <p:cNvSpPr/>
          <p:nvPr/>
        </p:nvSpPr>
        <p:spPr>
          <a:xfrm>
            <a:off x="6080760" y="4526280"/>
            <a:ext cx="2103120" cy="585216"/>
          </a:xfrm>
          <a:prstGeom prst="rect">
            <a:avLst/>
          </a:prstGeom>
          <a:solidFill>
            <a:srgbClr val="C8553D"/>
          </a:solidFill>
          <a:ln w="12700">
            <a:solidFill>
              <a:srgbClr val="FFFFFF"/>
            </a:solidFill>
            <a:prstDash val="solid"/>
          </a:ln>
        </p:spPr>
      </p:sp>
      <p:sp>
        <p:nvSpPr>
          <p:cNvPr id="38" name="Text 35"/>
          <p:cNvSpPr txBox="1"/>
          <p:nvPr/>
        </p:nvSpPr>
        <p:spPr>
          <a:xfrm>
            <a:off x="6126480" y="4526280"/>
            <a:ext cx="2011680" cy="58521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Scheduler: exactly one</a:t>
            </a:r>
            <a:endParaRPr lang="en-US" sz="1050" dirty="0"/>
          </a:p>
        </p:txBody>
      </p:sp>
      <p:sp>
        <p:nvSpPr>
          <p:cNvPr id="39" name="Text 36"/>
          <p:cNvSpPr txBox="1"/>
          <p:nvPr/>
        </p:nvSpPr>
        <p:spPr>
          <a:xfrm>
            <a:off x="594360" y="5257800"/>
            <a:ext cx="1097280" cy="731520"/>
          </a:xfrm>
          <a:prstGeom prst="rect">
            <a:avLst/>
          </a:prstGeom>
          <a:noFill/>
          <a:ln/>
        </p:spPr>
        <p:txBody>
          <a:bodyPr wrap="square" lIns="0" tIns="0" rIns="0" bIns="0" rtlCol="0" anchor="ctr"/>
          <a:lstStyle/>
          <a:p>
            <a:pPr algn="l" indent="0" marL="0">
              <a:buNone/>
            </a:pPr>
            <a:r>
              <a:rPr lang="en-US" sz="1150" b="1" dirty="0">
                <a:solidFill>
                  <a:srgbClr val="5B6B82"/>
                </a:solidFill>
                <a:latin typeface="Calibri" pitchFamily="34" charset="0"/>
                <a:ea typeface="Calibri" pitchFamily="34" charset="-122"/>
                <a:cs typeface="Calibri" pitchFamily="34" charset="-120"/>
              </a:rPr>
              <a:t>Data</a:t>
            </a:r>
            <a:endParaRPr lang="en-US" sz="1150" dirty="0"/>
          </a:p>
        </p:txBody>
      </p:sp>
      <p:sp>
        <p:nvSpPr>
          <p:cNvPr id="40" name="Shape 37"/>
          <p:cNvSpPr/>
          <p:nvPr/>
        </p:nvSpPr>
        <p:spPr>
          <a:xfrm>
            <a:off x="1691640" y="5330952"/>
            <a:ext cx="2103120" cy="585216"/>
          </a:xfrm>
          <a:prstGeom prst="rect">
            <a:avLst/>
          </a:prstGeom>
          <a:solidFill>
            <a:srgbClr val="14213D"/>
          </a:solidFill>
          <a:ln w="12700">
            <a:solidFill>
              <a:srgbClr val="FFFFFF"/>
            </a:solidFill>
            <a:prstDash val="solid"/>
          </a:ln>
        </p:spPr>
      </p:sp>
      <p:sp>
        <p:nvSpPr>
          <p:cNvPr id="41" name="Text 38"/>
          <p:cNvSpPr txBox="1"/>
          <p:nvPr/>
        </p:nvSpPr>
        <p:spPr>
          <a:xfrm>
            <a:off x="1737360" y="5330952"/>
            <a:ext cx="201168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PostgreSQL 16</a:t>
            </a:r>
            <a:endParaRPr lang="en-US" sz="1050" dirty="0"/>
          </a:p>
        </p:txBody>
      </p:sp>
      <p:sp>
        <p:nvSpPr>
          <p:cNvPr id="42" name="Shape 39"/>
          <p:cNvSpPr/>
          <p:nvPr/>
        </p:nvSpPr>
        <p:spPr>
          <a:xfrm>
            <a:off x="3886200" y="5330952"/>
            <a:ext cx="2103120" cy="585216"/>
          </a:xfrm>
          <a:prstGeom prst="rect">
            <a:avLst/>
          </a:prstGeom>
          <a:solidFill>
            <a:srgbClr val="14213D"/>
          </a:solidFill>
          <a:ln w="12700">
            <a:solidFill>
              <a:srgbClr val="FFFFFF"/>
            </a:solidFill>
            <a:prstDash val="solid"/>
          </a:ln>
        </p:spPr>
      </p:sp>
      <p:sp>
        <p:nvSpPr>
          <p:cNvPr id="43" name="Text 40"/>
          <p:cNvSpPr txBox="1"/>
          <p:nvPr/>
        </p:nvSpPr>
        <p:spPr>
          <a:xfrm>
            <a:off x="3931920" y="5330952"/>
            <a:ext cx="201168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Redis cache and queues</a:t>
            </a:r>
            <a:endParaRPr lang="en-US" sz="1050" dirty="0"/>
          </a:p>
        </p:txBody>
      </p:sp>
      <p:sp>
        <p:nvSpPr>
          <p:cNvPr id="44" name="Shape 41"/>
          <p:cNvSpPr/>
          <p:nvPr/>
        </p:nvSpPr>
        <p:spPr>
          <a:xfrm>
            <a:off x="6080760" y="5330952"/>
            <a:ext cx="2103120" cy="585216"/>
          </a:xfrm>
          <a:prstGeom prst="rect">
            <a:avLst/>
          </a:prstGeom>
          <a:solidFill>
            <a:srgbClr val="14213D"/>
          </a:solidFill>
          <a:ln w="12700">
            <a:solidFill>
              <a:srgbClr val="FFFFFF"/>
            </a:solidFill>
            <a:prstDash val="solid"/>
          </a:ln>
        </p:spPr>
      </p:sp>
      <p:sp>
        <p:nvSpPr>
          <p:cNvPr id="45" name="Text 42"/>
          <p:cNvSpPr txBox="1"/>
          <p:nvPr/>
        </p:nvSpPr>
        <p:spPr>
          <a:xfrm>
            <a:off x="6126480" y="5330952"/>
            <a:ext cx="2011680" cy="58521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Private file storage</a:t>
            </a:r>
            <a:endParaRPr lang="en-US" sz="1050" dirty="0"/>
          </a:p>
        </p:txBody>
      </p:sp>
      <p:sp>
        <p:nvSpPr>
          <p:cNvPr id="46" name="Text 43"/>
          <p:cNvSpPr txBox="1"/>
          <p:nvPr/>
        </p:nvSpPr>
        <p:spPr>
          <a:xfrm>
            <a:off x="8641080" y="1600200"/>
            <a:ext cx="3093415" cy="274320"/>
          </a:xfrm>
          <a:prstGeom prst="rect">
            <a:avLst/>
          </a:prstGeom>
          <a:noFill/>
          <a:ln/>
        </p:spPr>
        <p:txBody>
          <a:bodyPr wrap="square" lIns="0" tIns="0" rIns="0" bIns="0" rtlCol="0" anchor="t"/>
          <a:lstStyle/>
          <a:p>
            <a:pPr algn="l" indent="0" marL="0">
              <a:buNone/>
            </a:pPr>
            <a:r>
              <a:rPr lang="en-US" sz="1000" b="1" dirty="0">
                <a:solidFill>
                  <a:srgbClr val="6B7380"/>
                </a:solidFill>
                <a:latin typeface="Calibri" pitchFamily="34" charset="0"/>
                <a:ea typeface="Calibri" pitchFamily="34" charset="-122"/>
                <a:cs typeface="Calibri" pitchFamily="34" charset="-120"/>
              </a:rPr>
              <a:t>OUTSIDE THE TRUST BOUNDARY</a:t>
            </a:r>
            <a:endParaRPr lang="en-US" sz="1000" dirty="0"/>
          </a:p>
        </p:txBody>
      </p:sp>
      <p:sp>
        <p:nvSpPr>
          <p:cNvPr id="47" name="Shape 44"/>
          <p:cNvSpPr/>
          <p:nvPr/>
        </p:nvSpPr>
        <p:spPr>
          <a:xfrm>
            <a:off x="8641080" y="1929384"/>
            <a:ext cx="3093415" cy="694944"/>
          </a:xfrm>
          <a:prstGeom prst="rect">
            <a:avLst/>
          </a:prstGeom>
          <a:solidFill>
            <a:srgbClr val="FFFFFF"/>
          </a:solidFill>
          <a:ln w="12700">
            <a:solidFill>
              <a:srgbClr val="9AA5B5"/>
            </a:solidFill>
            <a:prstDash val="dash"/>
          </a:ln>
        </p:spPr>
      </p:sp>
      <p:sp>
        <p:nvSpPr>
          <p:cNvPr id="48" name="Text 45"/>
          <p:cNvSpPr txBox="1"/>
          <p:nvPr/>
        </p:nvSpPr>
        <p:spPr>
          <a:xfrm>
            <a:off x="8750808" y="1956816"/>
            <a:ext cx="2873959" cy="640080"/>
          </a:xfrm>
          <a:prstGeom prst="rect">
            <a:avLst/>
          </a:prstGeom>
          <a:noFill/>
          <a:ln/>
        </p:spPr>
        <p:txBody>
          <a:bodyPr wrap="square" lIns="0" tIns="0" rIns="0" bIns="0" rtlCol="0" anchor="ctr"/>
          <a:lstStyle/>
          <a:p>
            <a:pPr algn="l" indent="0" marL="0">
              <a:spcAft>
                <a:spcPts val="100"/>
              </a:spcAft>
              <a:buNone/>
            </a:pPr>
            <a:r>
              <a:rPr lang="en-US" sz="1100" b="1" dirty="0">
                <a:solidFill>
                  <a:srgbClr val="14213D"/>
                </a:solidFill>
                <a:latin typeface="Calibri" pitchFamily="34" charset="0"/>
                <a:ea typeface="Calibri" pitchFamily="34" charset="-122"/>
                <a:cs typeface="Calibri" pitchFamily="34" charset="-120"/>
              </a:rPr>
              <a:t>AI service (optional)</a:t>
            </a:r>
            <a:endParaRPr lang="en-US" sz="1100" dirty="0"/>
          </a:p>
          <a:p>
            <a:pPr algn="l" indent="0" marL="0">
              <a:spcAft>
                <a:spcPts val="400"/>
              </a:spcAft>
              <a:buNone/>
            </a:pPr>
            <a:r>
              <a:rPr lang="en-US" sz="1000" dirty="0">
                <a:solidFill>
                  <a:srgbClr val="5B6B82"/>
                </a:solidFill>
                <a:latin typeface="Calibri" pitchFamily="34" charset="0"/>
                <a:ea typeface="Calibri" pitchFamily="34" charset="-122"/>
                <a:cs typeface="Calibri" pitchFamily="34" charset="-120"/>
              </a:rPr>
              <a:t>OpenAI-compatible; every request logged before it is sent</a:t>
            </a:r>
            <a:endParaRPr lang="en-US" sz="1100" dirty="0"/>
          </a:p>
        </p:txBody>
      </p:sp>
      <p:sp>
        <p:nvSpPr>
          <p:cNvPr id="49" name="Shape 46"/>
          <p:cNvSpPr/>
          <p:nvPr/>
        </p:nvSpPr>
        <p:spPr>
          <a:xfrm>
            <a:off x="8321040" y="2276856"/>
            <a:ext cx="320040" cy="0"/>
          </a:xfrm>
          <a:prstGeom prst="line">
            <a:avLst/>
          </a:prstGeom>
          <a:noFill/>
          <a:ln w="12700">
            <a:solidFill>
              <a:srgbClr val="9AA5B5"/>
            </a:solidFill>
            <a:prstDash val="dash"/>
          </a:ln>
        </p:spPr>
      </p:sp>
      <p:sp>
        <p:nvSpPr>
          <p:cNvPr id="50" name="Shape 47"/>
          <p:cNvSpPr/>
          <p:nvPr/>
        </p:nvSpPr>
        <p:spPr>
          <a:xfrm>
            <a:off x="8641080" y="2697480"/>
            <a:ext cx="3093415" cy="694944"/>
          </a:xfrm>
          <a:prstGeom prst="rect">
            <a:avLst/>
          </a:prstGeom>
          <a:solidFill>
            <a:srgbClr val="FFFFFF"/>
          </a:solidFill>
          <a:ln w="12700">
            <a:solidFill>
              <a:srgbClr val="9AA5B5"/>
            </a:solidFill>
            <a:prstDash val="dash"/>
          </a:ln>
        </p:spPr>
      </p:sp>
      <p:sp>
        <p:nvSpPr>
          <p:cNvPr id="51" name="Text 48"/>
          <p:cNvSpPr txBox="1"/>
          <p:nvPr/>
        </p:nvSpPr>
        <p:spPr>
          <a:xfrm>
            <a:off x="8750808" y="2724912"/>
            <a:ext cx="2873959" cy="640080"/>
          </a:xfrm>
          <a:prstGeom prst="rect">
            <a:avLst/>
          </a:prstGeom>
          <a:noFill/>
          <a:ln/>
        </p:spPr>
        <p:txBody>
          <a:bodyPr wrap="square" lIns="0" tIns="0" rIns="0" bIns="0" rtlCol="0" anchor="ctr"/>
          <a:lstStyle/>
          <a:p>
            <a:pPr algn="l" indent="0" marL="0">
              <a:spcAft>
                <a:spcPts val="100"/>
              </a:spcAft>
              <a:buNone/>
            </a:pPr>
            <a:r>
              <a:rPr lang="en-US" sz="1100" b="1" dirty="0">
                <a:solidFill>
                  <a:srgbClr val="14213D"/>
                </a:solidFill>
                <a:latin typeface="Calibri" pitchFamily="34" charset="0"/>
                <a:ea typeface="Calibri" pitchFamily="34" charset="-122"/>
                <a:cs typeface="Calibri" pitchFamily="34" charset="-120"/>
              </a:rPr>
              <a:t>Doc AI and horizon scanning</a:t>
            </a:r>
            <a:endParaRPr lang="en-US" sz="1100" dirty="0"/>
          </a:p>
          <a:p>
            <a:pPr algn="l" indent="0" marL="0">
              <a:spcAft>
                <a:spcPts val="400"/>
              </a:spcAft>
              <a:buNone/>
            </a:pPr>
            <a:r>
              <a:rPr lang="en-US" sz="1000" dirty="0">
                <a:solidFill>
                  <a:srgbClr val="5B6B82"/>
                </a:solidFill>
                <a:latin typeface="Calibri" pitchFamily="34" charset="0"/>
                <a:ea typeface="Calibri" pitchFamily="34" charset="-122"/>
                <a:cs typeface="Calibri" pitchFamily="34" charset="-120"/>
              </a:rPr>
              <a:t>Browser hand-offs, identifiers only; logged</a:t>
            </a:r>
            <a:endParaRPr lang="en-US" sz="1100" dirty="0"/>
          </a:p>
        </p:txBody>
      </p:sp>
      <p:sp>
        <p:nvSpPr>
          <p:cNvPr id="52" name="Shape 49"/>
          <p:cNvSpPr/>
          <p:nvPr/>
        </p:nvSpPr>
        <p:spPr>
          <a:xfrm>
            <a:off x="8321040" y="3044952"/>
            <a:ext cx="320040" cy="0"/>
          </a:xfrm>
          <a:prstGeom prst="line">
            <a:avLst/>
          </a:prstGeom>
          <a:noFill/>
          <a:ln w="12700">
            <a:solidFill>
              <a:srgbClr val="9AA5B5"/>
            </a:solidFill>
            <a:prstDash val="dash"/>
          </a:ln>
        </p:spPr>
      </p:sp>
      <p:sp>
        <p:nvSpPr>
          <p:cNvPr id="53" name="Shape 50"/>
          <p:cNvSpPr/>
          <p:nvPr/>
        </p:nvSpPr>
        <p:spPr>
          <a:xfrm>
            <a:off x="8641080" y="3465576"/>
            <a:ext cx="3093415" cy="694944"/>
          </a:xfrm>
          <a:prstGeom prst="rect">
            <a:avLst/>
          </a:prstGeom>
          <a:solidFill>
            <a:srgbClr val="FFFFFF"/>
          </a:solidFill>
          <a:ln w="12700">
            <a:solidFill>
              <a:srgbClr val="9AA5B5"/>
            </a:solidFill>
            <a:prstDash val="dash"/>
          </a:ln>
        </p:spPr>
      </p:sp>
      <p:sp>
        <p:nvSpPr>
          <p:cNvPr id="54" name="Text 51"/>
          <p:cNvSpPr txBox="1"/>
          <p:nvPr/>
        </p:nvSpPr>
        <p:spPr>
          <a:xfrm>
            <a:off x="8750808" y="3493008"/>
            <a:ext cx="2873959" cy="640080"/>
          </a:xfrm>
          <a:prstGeom prst="rect">
            <a:avLst/>
          </a:prstGeom>
          <a:noFill/>
          <a:ln/>
        </p:spPr>
        <p:txBody>
          <a:bodyPr wrap="square" lIns="0" tIns="0" rIns="0" bIns="0" rtlCol="0" anchor="ctr"/>
          <a:lstStyle/>
          <a:p>
            <a:pPr algn="l" indent="0" marL="0">
              <a:spcAft>
                <a:spcPts val="100"/>
              </a:spcAft>
              <a:buNone/>
            </a:pPr>
            <a:r>
              <a:rPr lang="en-US" sz="1100" b="1" dirty="0">
                <a:solidFill>
                  <a:srgbClr val="14213D"/>
                </a:solidFill>
                <a:latin typeface="Calibri" pitchFamily="34" charset="0"/>
                <a:ea typeface="Calibri" pitchFamily="34" charset="-122"/>
                <a:cs typeface="Calibri" pitchFamily="34" charset="-120"/>
              </a:rPr>
              <a:t>Mail: SMTP or Microsoft Graph</a:t>
            </a:r>
            <a:endParaRPr lang="en-US" sz="1100" dirty="0"/>
          </a:p>
          <a:p>
            <a:pPr algn="l" indent="0" marL="0">
              <a:spcAft>
                <a:spcPts val="400"/>
              </a:spcAft>
              <a:buNone/>
            </a:pPr>
            <a:r>
              <a:rPr lang="en-US" sz="1000" dirty="0">
                <a:solidFill>
                  <a:srgbClr val="5B6B82"/>
                </a:solidFill>
                <a:latin typeface="Calibri" pitchFamily="34" charset="0"/>
                <a:ea typeface="Calibri" pitchFamily="34" charset="-122"/>
                <a:cs typeface="Calibri" pitchFamily="34" charset="-120"/>
              </a:rPr>
              <a:t>Outbound notifications only</a:t>
            </a:r>
            <a:endParaRPr lang="en-US" sz="1100" dirty="0"/>
          </a:p>
        </p:txBody>
      </p:sp>
      <p:sp>
        <p:nvSpPr>
          <p:cNvPr id="55" name="Shape 52"/>
          <p:cNvSpPr/>
          <p:nvPr/>
        </p:nvSpPr>
        <p:spPr>
          <a:xfrm>
            <a:off x="8321040" y="3813048"/>
            <a:ext cx="320040" cy="0"/>
          </a:xfrm>
          <a:prstGeom prst="line">
            <a:avLst/>
          </a:prstGeom>
          <a:noFill/>
          <a:ln w="12700">
            <a:solidFill>
              <a:srgbClr val="9AA5B5"/>
            </a:solidFill>
            <a:prstDash val="dash"/>
          </a:ln>
        </p:spPr>
      </p:sp>
      <p:sp>
        <p:nvSpPr>
          <p:cNvPr id="56" name="Shape 53"/>
          <p:cNvSpPr/>
          <p:nvPr/>
        </p:nvSpPr>
        <p:spPr>
          <a:xfrm>
            <a:off x="8641080" y="4233672"/>
            <a:ext cx="3093415" cy="694944"/>
          </a:xfrm>
          <a:prstGeom prst="rect">
            <a:avLst/>
          </a:prstGeom>
          <a:solidFill>
            <a:srgbClr val="FFFFFF"/>
          </a:solidFill>
          <a:ln w="12700">
            <a:solidFill>
              <a:srgbClr val="9AA5B5"/>
            </a:solidFill>
            <a:prstDash val="dash"/>
          </a:ln>
        </p:spPr>
      </p:sp>
      <p:sp>
        <p:nvSpPr>
          <p:cNvPr id="57" name="Text 54"/>
          <p:cNvSpPr txBox="1"/>
          <p:nvPr/>
        </p:nvSpPr>
        <p:spPr>
          <a:xfrm>
            <a:off x="8750808" y="4261104"/>
            <a:ext cx="2873959" cy="640080"/>
          </a:xfrm>
          <a:prstGeom prst="rect">
            <a:avLst/>
          </a:prstGeom>
          <a:noFill/>
          <a:ln/>
        </p:spPr>
        <p:txBody>
          <a:bodyPr wrap="square" lIns="0" tIns="0" rIns="0" bIns="0" rtlCol="0" anchor="ctr"/>
          <a:lstStyle/>
          <a:p>
            <a:pPr algn="l" indent="0" marL="0">
              <a:spcAft>
                <a:spcPts val="100"/>
              </a:spcAft>
              <a:buNone/>
            </a:pPr>
            <a:r>
              <a:rPr lang="en-US" sz="1100" b="1" dirty="0">
                <a:solidFill>
                  <a:srgbClr val="14213D"/>
                </a:solidFill>
                <a:latin typeface="Calibri" pitchFamily="34" charset="0"/>
                <a:ea typeface="Calibri" pitchFamily="34" charset="-122"/>
                <a:cs typeface="Calibri" pitchFamily="34" charset="-120"/>
              </a:rPr>
              <a:t>Identity provider</a:t>
            </a:r>
            <a:endParaRPr lang="en-US" sz="1100" dirty="0"/>
          </a:p>
          <a:p>
            <a:pPr algn="l" indent="0" marL="0">
              <a:spcAft>
                <a:spcPts val="400"/>
              </a:spcAft>
              <a:buNone/>
            </a:pPr>
            <a:r>
              <a:rPr lang="en-US" sz="1000" dirty="0">
                <a:solidFill>
                  <a:srgbClr val="5B6B82"/>
                </a:solidFill>
                <a:latin typeface="Calibri" pitchFamily="34" charset="0"/>
                <a:ea typeface="Calibri" pitchFamily="34" charset="-122"/>
                <a:cs typeface="Calibri" pitchFamily="34" charset="-120"/>
              </a:rPr>
              <a:t>OIDC or LDAP, authentication only</a:t>
            </a:r>
            <a:endParaRPr lang="en-US" sz="1100" dirty="0"/>
          </a:p>
        </p:txBody>
      </p:sp>
      <p:sp>
        <p:nvSpPr>
          <p:cNvPr id="58" name="Shape 55"/>
          <p:cNvSpPr/>
          <p:nvPr/>
        </p:nvSpPr>
        <p:spPr>
          <a:xfrm>
            <a:off x="8321040" y="4581144"/>
            <a:ext cx="320040" cy="0"/>
          </a:xfrm>
          <a:prstGeom prst="line">
            <a:avLst/>
          </a:prstGeom>
          <a:noFill/>
          <a:ln w="12700">
            <a:solidFill>
              <a:srgbClr val="9AA5B5"/>
            </a:solidFill>
            <a:prstDash val="dash"/>
          </a:ln>
        </p:spPr>
      </p:sp>
      <p:sp>
        <p:nvSpPr>
          <p:cNvPr id="59" name="Shape 56"/>
          <p:cNvSpPr/>
          <p:nvPr/>
        </p:nvSpPr>
        <p:spPr>
          <a:xfrm>
            <a:off x="8641080" y="5001768"/>
            <a:ext cx="3093415" cy="694944"/>
          </a:xfrm>
          <a:prstGeom prst="rect">
            <a:avLst/>
          </a:prstGeom>
          <a:solidFill>
            <a:srgbClr val="FFFFFF"/>
          </a:solidFill>
          <a:ln w="12700">
            <a:solidFill>
              <a:srgbClr val="9AA5B5"/>
            </a:solidFill>
            <a:prstDash val="dash"/>
          </a:ln>
        </p:spPr>
      </p:sp>
      <p:sp>
        <p:nvSpPr>
          <p:cNvPr id="60" name="Text 57"/>
          <p:cNvSpPr txBox="1"/>
          <p:nvPr/>
        </p:nvSpPr>
        <p:spPr>
          <a:xfrm>
            <a:off x="8750808" y="5029200"/>
            <a:ext cx="2873959" cy="640080"/>
          </a:xfrm>
          <a:prstGeom prst="rect">
            <a:avLst/>
          </a:prstGeom>
          <a:noFill/>
          <a:ln/>
        </p:spPr>
        <p:txBody>
          <a:bodyPr wrap="square" lIns="0" tIns="0" rIns="0" bIns="0" rtlCol="0" anchor="ctr"/>
          <a:lstStyle/>
          <a:p>
            <a:pPr algn="l" indent="0" marL="0">
              <a:spcAft>
                <a:spcPts val="100"/>
              </a:spcAft>
              <a:buNone/>
            </a:pPr>
            <a:r>
              <a:rPr lang="en-US" sz="1100" b="1" dirty="0">
                <a:solidFill>
                  <a:srgbClr val="14213D"/>
                </a:solidFill>
                <a:latin typeface="Calibri" pitchFamily="34" charset="0"/>
                <a:ea typeface="Calibri" pitchFamily="34" charset="-122"/>
                <a:cs typeface="Calibri" pitchFamily="34" charset="-120"/>
              </a:rPr>
              <a:t>Import / export drop</a:t>
            </a:r>
            <a:endParaRPr lang="en-US" sz="1100" dirty="0"/>
          </a:p>
          <a:p>
            <a:pPr algn="l" indent="0" marL="0">
              <a:spcAft>
                <a:spcPts val="400"/>
              </a:spcAft>
              <a:buNone/>
            </a:pPr>
            <a:r>
              <a:rPr lang="en-US" sz="1000" dirty="0">
                <a:solidFill>
                  <a:srgbClr val="5B6B82"/>
                </a:solidFill>
                <a:latin typeface="Calibri" pitchFamily="34" charset="0"/>
                <a:ea typeface="Calibri" pitchFamily="34" charset="-122"/>
                <a:cs typeface="Calibri" pitchFamily="34" charset="-120"/>
              </a:rPr>
              <a:t>Nothing commits without human review</a:t>
            </a:r>
            <a:endParaRPr lang="en-US" sz="1100" dirty="0"/>
          </a:p>
        </p:txBody>
      </p:sp>
      <p:sp>
        <p:nvSpPr>
          <p:cNvPr id="61" name="Shape 58"/>
          <p:cNvSpPr/>
          <p:nvPr/>
        </p:nvSpPr>
        <p:spPr>
          <a:xfrm>
            <a:off x="8321040" y="5349240"/>
            <a:ext cx="320040" cy="0"/>
          </a:xfrm>
          <a:prstGeom prst="line">
            <a:avLst/>
          </a:prstGeom>
          <a:noFill/>
          <a:ln w="12700">
            <a:solidFill>
              <a:srgbClr val="9AA5B5"/>
            </a:solidFill>
            <a:prstDash val="dash"/>
          </a:ln>
        </p:spPr>
      </p:sp>
      <p:sp>
        <p:nvSpPr>
          <p:cNvPr id="62" name="Text 59"/>
          <p:cNvSpPr txBox="1"/>
          <p:nvPr/>
        </p:nvSpPr>
        <p:spPr>
          <a:xfrm>
            <a:off x="8641080" y="5751576"/>
            <a:ext cx="3093415" cy="365760"/>
          </a:xfrm>
          <a:prstGeom prst="rect">
            <a:avLst/>
          </a:prstGeom>
          <a:noFill/>
          <a:ln/>
        </p:spPr>
        <p:txBody>
          <a:bodyPr wrap="square" lIns="0" tIns="0" rIns="0" bIns="0" rtlCol="0" anchor="t"/>
          <a:lstStyle/>
          <a:p>
            <a:pPr algn="l" indent="0" marL="0">
              <a:buNone/>
            </a:pPr>
            <a:r>
              <a:rPr lang="en-US" sz="1050" b="1" i="1" dirty="0">
                <a:solidFill>
                  <a:srgbClr val="C8553D"/>
                </a:solidFill>
                <a:latin typeface="Calibri" pitchFamily="34" charset="0"/>
                <a:ea typeface="Calibri" pitchFamily="34" charset="-122"/>
                <a:cs typeface="Calibri" pitchFamily="34" charset="-120"/>
              </a:rPr>
              <a:t>No requirement among the 64 depends on anything outside the zone.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B  ·  WHAT WE BUILT</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The data model marks every element as specified, decided or inferred, so reviewers know exactly what to challenge</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docs/product/02-data-model.md §1.1 (provenance marks), §2.2 (114 logical entities: 78 standalone + 36 child), §2.3 (M-1…M-4); docs/product/07-assumptions-and-gaps.md §4 (C-1…C-5); implemented counts measured on the demonstration site, 18 Sep 2026.</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457200" y="1600200"/>
            <a:ext cx="5669280" cy="1143000"/>
          </a:xfrm>
          <a:prstGeom prst="rect">
            <a:avLst/>
          </a:prstGeom>
          <a:solidFill>
            <a:srgbClr val="F2F4F7"/>
          </a:solidFill>
          <a:ln w="12700">
            <a:solidFill>
              <a:srgbClr val="F2F4F7"/>
            </a:solidFill>
            <a:prstDash val="solid"/>
          </a:ln>
        </p:spPr>
      </p:sp>
      <p:sp>
        <p:nvSpPr>
          <p:cNvPr id="8" name="Shape 5"/>
          <p:cNvSpPr/>
          <p:nvPr/>
        </p:nvSpPr>
        <p:spPr>
          <a:xfrm>
            <a:off x="640080" y="1801368"/>
            <a:ext cx="731520" cy="731520"/>
          </a:xfrm>
          <a:prstGeom prst="rect">
            <a:avLst/>
          </a:prstGeom>
          <a:solidFill>
            <a:srgbClr val="14213D"/>
          </a:solidFill>
          <a:ln w="12700">
            <a:solidFill>
              <a:srgbClr val="14213D"/>
            </a:solidFill>
            <a:prstDash val="solid"/>
          </a:ln>
        </p:spPr>
      </p:sp>
      <p:sp>
        <p:nvSpPr>
          <p:cNvPr id="9" name="Text 6"/>
          <p:cNvSpPr txBox="1"/>
          <p:nvPr/>
        </p:nvSpPr>
        <p:spPr>
          <a:xfrm>
            <a:off x="640080" y="1801368"/>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a:t>
            </a:r>
            <a:endParaRPr lang="en-US" sz="2800" dirty="0"/>
          </a:p>
        </p:txBody>
      </p:sp>
      <p:sp>
        <p:nvSpPr>
          <p:cNvPr id="10" name="Text 7"/>
          <p:cNvSpPr txBox="1"/>
          <p:nvPr/>
        </p:nvSpPr>
        <p:spPr>
          <a:xfrm>
            <a:off x="1554480" y="1691640"/>
            <a:ext cx="4434840" cy="1005840"/>
          </a:xfrm>
          <a:prstGeom prst="rect">
            <a:avLst/>
          </a:prstGeom>
          <a:noFill/>
          <a:ln/>
        </p:spPr>
        <p:txBody>
          <a:bodyPr wrap="square" lIns="0" tIns="0" rIns="0" bIns="0" rtlCol="0" anchor="ctr"/>
          <a:lstStyle/>
          <a:p>
            <a:pPr algn="l" indent="0" marL="0">
              <a:spcAft>
                <a:spcPts val="200"/>
              </a:spcAft>
              <a:buNone/>
            </a:pPr>
            <a:r>
              <a:rPr lang="en-US" sz="1400" b="1" dirty="0">
                <a:solidFill>
                  <a:srgbClr val="14213D"/>
                </a:solidFill>
                <a:latin typeface="Calibri" pitchFamily="34" charset="0"/>
                <a:ea typeface="Calibri" pitchFamily="34" charset="-122"/>
                <a:cs typeface="Calibri" pitchFamily="34" charset="-120"/>
              </a:rPr>
              <a:t>Specified</a:t>
            </a:r>
            <a:endParaRPr lang="en-US" sz="1400" dirty="0"/>
          </a:p>
          <a:p>
            <a:pPr algn="l" indent="0" marL="0">
              <a:spcAft>
                <a:spcPts val="300"/>
              </a:spcAft>
              <a:buNone/>
            </a:pPr>
            <a:r>
              <a:rPr lang="en-US" sz="1150" dirty="0">
                <a:solidFill>
                  <a:srgbClr val="2A2F36"/>
                </a:solidFill>
                <a:latin typeface="Calibri" pitchFamily="34" charset="0"/>
                <a:ea typeface="Calibri" pitchFamily="34" charset="-122"/>
                <a:cs typeface="Calibri" pitchFamily="34" charset="-120"/>
              </a:rPr>
              <a:t>Named in a source requirement document.</a:t>
            </a:r>
            <a:endParaRPr lang="en-US" sz="1400" dirty="0"/>
          </a:p>
          <a:p>
            <a:pPr algn="l" indent="0" marL="0">
              <a:spcAft>
                <a:spcPts val="400"/>
              </a:spcAft>
              <a:buNone/>
            </a:pPr>
            <a:r>
              <a:rPr lang="en-US" sz="1050" dirty="0">
                <a:solidFill>
                  <a:srgbClr val="5B6B82"/>
                </a:solidFill>
                <a:latin typeface="Calibri" pitchFamily="34" charset="0"/>
                <a:ea typeface="Calibri" pitchFamily="34" charset="-122"/>
                <a:cs typeface="Calibri" pitchFamily="34" charset="-120"/>
              </a:rPr>
              <a:t>e.g. Committee formation request, charter, horizon scan</a:t>
            </a:r>
            <a:endParaRPr lang="en-US" sz="1400" dirty="0"/>
          </a:p>
        </p:txBody>
      </p:sp>
      <p:sp>
        <p:nvSpPr>
          <p:cNvPr id="11" name="Shape 8"/>
          <p:cNvSpPr/>
          <p:nvPr/>
        </p:nvSpPr>
        <p:spPr>
          <a:xfrm>
            <a:off x="457200" y="2852928"/>
            <a:ext cx="5669280" cy="1143000"/>
          </a:xfrm>
          <a:prstGeom prst="rect">
            <a:avLst/>
          </a:prstGeom>
          <a:solidFill>
            <a:srgbClr val="F2F4F7"/>
          </a:solidFill>
          <a:ln w="12700">
            <a:solidFill>
              <a:srgbClr val="F2F4F7"/>
            </a:solidFill>
            <a:prstDash val="solid"/>
          </a:ln>
        </p:spPr>
      </p:sp>
      <p:sp>
        <p:nvSpPr>
          <p:cNvPr id="12" name="Shape 9"/>
          <p:cNvSpPr/>
          <p:nvPr/>
        </p:nvSpPr>
        <p:spPr>
          <a:xfrm>
            <a:off x="640080" y="3054096"/>
            <a:ext cx="731520" cy="731520"/>
          </a:xfrm>
          <a:prstGeom prst="rect">
            <a:avLst/>
          </a:prstGeom>
          <a:solidFill>
            <a:srgbClr val="2B3F66"/>
          </a:solidFill>
          <a:ln w="12700">
            <a:solidFill>
              <a:srgbClr val="2B3F66"/>
            </a:solidFill>
            <a:prstDash val="solid"/>
          </a:ln>
        </p:spPr>
      </p:sp>
      <p:sp>
        <p:nvSpPr>
          <p:cNvPr id="13" name="Text 10"/>
          <p:cNvSpPr txBox="1"/>
          <p:nvPr/>
        </p:nvSpPr>
        <p:spPr>
          <a:xfrm>
            <a:off x="640080" y="3054096"/>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D</a:t>
            </a:r>
            <a:endParaRPr lang="en-US" sz="2800" dirty="0"/>
          </a:p>
        </p:txBody>
      </p:sp>
      <p:sp>
        <p:nvSpPr>
          <p:cNvPr id="14" name="Text 11"/>
          <p:cNvSpPr txBox="1"/>
          <p:nvPr/>
        </p:nvSpPr>
        <p:spPr>
          <a:xfrm>
            <a:off x="1554480" y="2944368"/>
            <a:ext cx="4434840" cy="1005840"/>
          </a:xfrm>
          <a:prstGeom prst="rect">
            <a:avLst/>
          </a:prstGeom>
          <a:noFill/>
          <a:ln/>
        </p:spPr>
        <p:txBody>
          <a:bodyPr wrap="square" lIns="0" tIns="0" rIns="0" bIns="0" rtlCol="0" anchor="ctr"/>
          <a:lstStyle/>
          <a:p>
            <a:pPr algn="l" indent="0" marL="0">
              <a:spcAft>
                <a:spcPts val="200"/>
              </a:spcAft>
              <a:buNone/>
            </a:pPr>
            <a:r>
              <a:rPr lang="en-US" sz="1400" b="1" dirty="0">
                <a:solidFill>
                  <a:srgbClr val="14213D"/>
                </a:solidFill>
                <a:latin typeface="Calibri" pitchFamily="34" charset="0"/>
                <a:ea typeface="Calibri" pitchFamily="34" charset="-122"/>
                <a:cs typeface="Calibri" pitchFamily="34" charset="-120"/>
              </a:rPr>
              <a:t>Decided</a:t>
            </a:r>
            <a:endParaRPr lang="en-US" sz="1400" dirty="0"/>
          </a:p>
          <a:p>
            <a:pPr algn="l" indent="0" marL="0">
              <a:spcAft>
                <a:spcPts val="300"/>
              </a:spcAft>
              <a:buNone/>
            </a:pPr>
            <a:r>
              <a:rPr lang="en-US" sz="1150" dirty="0">
                <a:solidFill>
                  <a:srgbClr val="2A2F36"/>
                </a:solidFill>
                <a:latin typeface="Calibri" pitchFamily="34" charset="0"/>
                <a:ea typeface="Calibri" pitchFamily="34" charset="-122"/>
                <a:cs typeface="Calibri" pitchFamily="34" charset="-120"/>
              </a:rPr>
              <a:t>Settled by a stakeholder decision. Binding.</a:t>
            </a:r>
            <a:endParaRPr lang="en-US" sz="1400" dirty="0"/>
          </a:p>
          <a:p>
            <a:pPr algn="l" indent="0" marL="0">
              <a:spcAft>
                <a:spcPts val="400"/>
              </a:spcAft>
              <a:buNone/>
            </a:pPr>
            <a:r>
              <a:rPr lang="en-US" sz="1050" dirty="0">
                <a:solidFill>
                  <a:srgbClr val="5B6B82"/>
                </a:solidFill>
                <a:latin typeface="Calibri" pitchFamily="34" charset="0"/>
                <a:ea typeface="Calibri" pitchFamily="34" charset="-122"/>
                <a:cs typeface="Calibri" pitchFamily="34" charset="-120"/>
              </a:rPr>
              <a:t>e.g. Membership as its own dated record; one attestation engine; document version chain</a:t>
            </a:r>
            <a:endParaRPr lang="en-US" sz="1400" dirty="0"/>
          </a:p>
        </p:txBody>
      </p:sp>
      <p:sp>
        <p:nvSpPr>
          <p:cNvPr id="15" name="Shape 12"/>
          <p:cNvSpPr/>
          <p:nvPr/>
        </p:nvSpPr>
        <p:spPr>
          <a:xfrm>
            <a:off x="457200" y="4105656"/>
            <a:ext cx="5669280" cy="1143000"/>
          </a:xfrm>
          <a:prstGeom prst="rect">
            <a:avLst/>
          </a:prstGeom>
          <a:solidFill>
            <a:srgbClr val="F2F4F7"/>
          </a:solidFill>
          <a:ln w="12700">
            <a:solidFill>
              <a:srgbClr val="F2F4F7"/>
            </a:solidFill>
            <a:prstDash val="solid"/>
          </a:ln>
        </p:spPr>
      </p:sp>
      <p:sp>
        <p:nvSpPr>
          <p:cNvPr id="16" name="Shape 13"/>
          <p:cNvSpPr/>
          <p:nvPr/>
        </p:nvSpPr>
        <p:spPr>
          <a:xfrm>
            <a:off x="640080" y="4306824"/>
            <a:ext cx="731520" cy="731520"/>
          </a:xfrm>
          <a:prstGeom prst="rect">
            <a:avLst/>
          </a:prstGeom>
          <a:solidFill>
            <a:srgbClr val="C8553D"/>
          </a:solidFill>
          <a:ln w="12700">
            <a:solidFill>
              <a:srgbClr val="C8553D"/>
            </a:solidFill>
            <a:prstDash val="solid"/>
          </a:ln>
        </p:spPr>
      </p:sp>
      <p:sp>
        <p:nvSpPr>
          <p:cNvPr id="17" name="Text 14"/>
          <p:cNvSpPr txBox="1"/>
          <p:nvPr/>
        </p:nvSpPr>
        <p:spPr>
          <a:xfrm>
            <a:off x="640080" y="4306824"/>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a:t>
            </a:r>
            <a:endParaRPr lang="en-US" sz="2800" dirty="0"/>
          </a:p>
        </p:txBody>
      </p:sp>
      <p:sp>
        <p:nvSpPr>
          <p:cNvPr id="18" name="Text 15"/>
          <p:cNvSpPr txBox="1"/>
          <p:nvPr/>
        </p:nvSpPr>
        <p:spPr>
          <a:xfrm>
            <a:off x="1554480" y="4197096"/>
            <a:ext cx="4434840" cy="1005840"/>
          </a:xfrm>
          <a:prstGeom prst="rect">
            <a:avLst/>
          </a:prstGeom>
          <a:noFill/>
          <a:ln/>
        </p:spPr>
        <p:txBody>
          <a:bodyPr wrap="square" lIns="0" tIns="0" rIns="0" bIns="0" rtlCol="0" anchor="ctr"/>
          <a:lstStyle/>
          <a:p>
            <a:pPr algn="l" indent="0" marL="0">
              <a:spcAft>
                <a:spcPts val="200"/>
              </a:spcAft>
              <a:buNone/>
            </a:pPr>
            <a:r>
              <a:rPr lang="en-US" sz="1400" b="1" dirty="0">
                <a:solidFill>
                  <a:srgbClr val="14213D"/>
                </a:solidFill>
                <a:latin typeface="Calibri" pitchFamily="34" charset="0"/>
                <a:ea typeface="Calibri" pitchFamily="34" charset="-122"/>
                <a:cs typeface="Calibri" pitchFamily="34" charset="-120"/>
              </a:rPr>
              <a:t>Inferred</a:t>
            </a:r>
            <a:endParaRPr lang="en-US" sz="1400" dirty="0"/>
          </a:p>
          <a:p>
            <a:pPr algn="l" indent="0" marL="0">
              <a:spcAft>
                <a:spcPts val="300"/>
              </a:spcAft>
              <a:buNone/>
            </a:pPr>
            <a:r>
              <a:rPr lang="en-US" sz="1150" dirty="0">
                <a:solidFill>
                  <a:srgbClr val="2A2F36"/>
                </a:solidFill>
                <a:latin typeface="Calibri" pitchFamily="34" charset="0"/>
                <a:ea typeface="Calibri" pitchFamily="34" charset="-122"/>
                <a:cs typeface="Calibri" pitchFamily="34" charset="-120"/>
              </a:rPr>
              <a:t>In no source and not decided. </a:t>
            </a:r>
            <a:pPr algn="l" indent="0" marL="0">
              <a:spcAft>
                <a:spcPts val="300"/>
              </a:spcAft>
              <a:buNone/>
            </a:pPr>
            <a:r>
              <a:rPr lang="en-US" sz="1150" b="1" dirty="0">
                <a:solidFill>
                  <a:srgbClr val="2A2F36"/>
                </a:solidFill>
                <a:latin typeface="Calibri" pitchFamily="34" charset="0"/>
                <a:ea typeface="Calibri" pitchFamily="34" charset="-122"/>
                <a:cs typeface="Calibri" pitchFamily="34" charset="-120"/>
              </a:rPr>
              <a:t>Every item is a review point.</a:t>
            </a:r>
            <a:endParaRPr lang="en-US" sz="1400" dirty="0"/>
          </a:p>
          <a:p>
            <a:pPr algn="l" indent="0" marL="0">
              <a:spcAft>
                <a:spcPts val="400"/>
              </a:spcAft>
              <a:buNone/>
            </a:pPr>
            <a:r>
              <a:rPr lang="en-US" sz="1050" dirty="0">
                <a:solidFill>
                  <a:srgbClr val="5B6B82"/>
                </a:solidFill>
                <a:latin typeface="Calibri" pitchFamily="34" charset="0"/>
                <a:ea typeface="Calibri" pitchFamily="34" charset="-122"/>
                <a:cs typeface="Calibri" pitchFamily="34" charset="-120"/>
              </a:rPr>
              <a:t>e.g. Shared regulatory-requirement library (C-1); what restricted handling must block (C-3)</a:t>
            </a:r>
            <a:endParaRPr lang="en-US" sz="1400" dirty="0"/>
          </a:p>
        </p:txBody>
      </p:sp>
      <p:sp>
        <p:nvSpPr>
          <p:cNvPr id="19" name="Text 16"/>
          <p:cNvSpPr txBox="1"/>
          <p:nvPr/>
        </p:nvSpPr>
        <p:spPr>
          <a:xfrm>
            <a:off x="457200" y="5440680"/>
            <a:ext cx="5669280" cy="685800"/>
          </a:xfrm>
          <a:prstGeom prst="rect">
            <a:avLst/>
          </a:prstGeom>
          <a:noFill/>
          <a:ln/>
        </p:spPr>
        <p:txBody>
          <a:bodyPr wrap="square" lIns="0" tIns="0" rIns="0" bIns="0" rtlCol="0" anchor="t"/>
          <a:lstStyle/>
          <a:p>
            <a:pPr algn="l" indent="0" marL="0">
              <a:buNone/>
            </a:pPr>
            <a:r>
              <a:rPr lang="en-US" sz="1100" i="1" dirty="0">
                <a:solidFill>
                  <a:srgbClr val="5B6B82"/>
                </a:solidFill>
                <a:latin typeface="Calibri" pitchFamily="34" charset="0"/>
                <a:ea typeface="Calibri" pitchFamily="34" charset="-122"/>
                <a:cs typeface="Calibri" pitchFamily="34" charset="-120"/>
              </a:rPr>
              <a:t>Four structural decisions: membership is its own dated record · we hold the document body and version chain · four tagging dimensions are multi-valued · nothing keys off a state name</a:t>
            </a:r>
            <a:endParaRPr lang="en-US" sz="1100" dirty="0"/>
          </a:p>
        </p:txBody>
      </p:sp>
      <p:sp>
        <p:nvSpPr>
          <p:cNvPr id="20" name="Text 17"/>
          <p:cNvSpPr txBox="1"/>
          <p:nvPr/>
        </p:nvSpPr>
        <p:spPr>
          <a:xfrm>
            <a:off x="6583680" y="1600200"/>
            <a:ext cx="5120640" cy="320040"/>
          </a:xfrm>
          <a:prstGeom prst="rect">
            <a:avLst/>
          </a:prstGeom>
          <a:noFill/>
          <a:ln/>
        </p:spPr>
        <p:txBody>
          <a:bodyPr wrap="square" lIns="0" tIns="0" rIns="0" bIns="0" rtlCol="0" anchor="t"/>
          <a:lstStyle/>
          <a:p>
            <a:pPr algn="l" indent="0" marL="0">
              <a:buNone/>
            </a:pPr>
            <a:r>
              <a:rPr lang="en-US" sz="1200" b="1" dirty="0">
                <a:solidFill>
                  <a:srgbClr val="14213D"/>
                </a:solidFill>
                <a:latin typeface="Calibri" pitchFamily="34" charset="0"/>
                <a:ea typeface="Calibri" pitchFamily="34" charset="-122"/>
                <a:cs typeface="Calibri" pitchFamily="34" charset="-120"/>
              </a:rPr>
              <a:t>Implemented entities by module</a:t>
            </a:r>
            <a:endParaRPr lang="en-US" sz="1200" dirty="0"/>
          </a:p>
        </p:txBody>
      </p:sp>
      <p:graphicFrame>
        <p:nvGraphicFramePr>
          <p:cNvPr id="21" name="Chart 0" descr=""/>
          <p:cNvGraphicFramePr/>
          <p:nvPr/>
        </p:nvGraphicFramePr>
        <p:xfrm>
          <a:off x="6492240" y="1920240"/>
          <a:ext cx="5257800" cy="2743200"/>
        </p:xfrm>
        <a:graphic xmlns:a="http://schemas.openxmlformats.org/drawingml/2006/main">
          <a:graphicData uri="http://schemas.openxmlformats.org/drawingml/2006/chart">
            <c:chart xmlns:c="http://schemas.openxmlformats.org/drawingml/2006/chart" r:id="rId1"/>
          </a:graphicData>
        </a:graphic>
      </p:graphicFrame>
      <p:sp>
        <p:nvSpPr>
          <p:cNvPr id="22" name="Text 18"/>
          <p:cNvSpPr txBox="1"/>
          <p:nvPr/>
        </p:nvSpPr>
        <p:spPr>
          <a:xfrm>
            <a:off x="6583680" y="4663440"/>
            <a:ext cx="1645920" cy="640080"/>
          </a:xfrm>
          <a:prstGeom prst="rect">
            <a:avLst/>
          </a:prstGeom>
          <a:noFill/>
          <a:ln/>
        </p:spPr>
        <p:txBody>
          <a:bodyPr wrap="square" lIns="0" tIns="0" rIns="0" bIns="0" rtlCol="0" anchor="b"/>
          <a:lstStyle/>
          <a:p>
            <a:pPr indent="0" marL="0">
              <a:buNone/>
            </a:pPr>
            <a:r>
              <a:rPr lang="en-US" sz="2800" b="1" dirty="0">
                <a:solidFill>
                  <a:srgbClr val="14213D"/>
                </a:solidFill>
                <a:latin typeface="Calibri" pitchFamily="34" charset="0"/>
                <a:ea typeface="Calibri" pitchFamily="34" charset="-122"/>
                <a:cs typeface="Calibri" pitchFamily="34" charset="-120"/>
              </a:rPr>
              <a:t>114</a:t>
            </a:r>
            <a:endParaRPr lang="en-US" sz="2800" dirty="0"/>
          </a:p>
        </p:txBody>
      </p:sp>
      <p:sp>
        <p:nvSpPr>
          <p:cNvPr id="23" name="Text 19"/>
          <p:cNvSpPr txBox="1"/>
          <p:nvPr/>
        </p:nvSpPr>
        <p:spPr>
          <a:xfrm>
            <a:off x="6583680" y="5340096"/>
            <a:ext cx="1645920" cy="45720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logical entities in the model</a:t>
            </a:r>
            <a:endParaRPr lang="en-US" sz="1100" dirty="0"/>
          </a:p>
        </p:txBody>
      </p:sp>
      <p:sp>
        <p:nvSpPr>
          <p:cNvPr id="24" name="Text 20"/>
          <p:cNvSpPr txBox="1"/>
          <p:nvPr/>
        </p:nvSpPr>
        <p:spPr>
          <a:xfrm>
            <a:off x="8321040" y="4663440"/>
            <a:ext cx="1645920" cy="640080"/>
          </a:xfrm>
          <a:prstGeom prst="rect">
            <a:avLst/>
          </a:prstGeom>
          <a:noFill/>
          <a:ln/>
        </p:spPr>
        <p:txBody>
          <a:bodyPr wrap="square" lIns="0" tIns="0" rIns="0" bIns="0" rtlCol="0" anchor="b"/>
          <a:lstStyle/>
          <a:p>
            <a:pPr indent="0" marL="0">
              <a:buNone/>
            </a:pPr>
            <a:r>
              <a:rPr lang="en-US" sz="2800" b="1" dirty="0">
                <a:solidFill>
                  <a:srgbClr val="14213D"/>
                </a:solidFill>
                <a:latin typeface="Calibri" pitchFamily="34" charset="0"/>
                <a:ea typeface="Calibri" pitchFamily="34" charset="-122"/>
                <a:cs typeface="Calibri" pitchFamily="34" charset="-120"/>
              </a:rPr>
              <a:t>144</a:t>
            </a:r>
            <a:endParaRPr lang="en-US" sz="2800" dirty="0"/>
          </a:p>
        </p:txBody>
      </p:sp>
      <p:sp>
        <p:nvSpPr>
          <p:cNvPr id="25" name="Text 21"/>
          <p:cNvSpPr txBox="1"/>
          <p:nvPr/>
        </p:nvSpPr>
        <p:spPr>
          <a:xfrm>
            <a:off x="8321040" y="5340096"/>
            <a:ext cx="1645920" cy="45720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entities implemented</a:t>
            </a:r>
            <a:endParaRPr lang="en-US" sz="1100" dirty="0"/>
          </a:p>
        </p:txBody>
      </p:sp>
      <p:sp>
        <p:nvSpPr>
          <p:cNvPr id="26" name="Text 22"/>
          <p:cNvSpPr txBox="1"/>
          <p:nvPr/>
        </p:nvSpPr>
        <p:spPr>
          <a:xfrm>
            <a:off x="10058400" y="4663440"/>
            <a:ext cx="1645920" cy="640080"/>
          </a:xfrm>
          <a:prstGeom prst="rect">
            <a:avLst/>
          </a:prstGeom>
          <a:noFill/>
          <a:ln/>
        </p:spPr>
        <p:txBody>
          <a:bodyPr wrap="square" lIns="0" tIns="0" rIns="0" bIns="0" rtlCol="0" anchor="b"/>
          <a:lstStyle/>
          <a:p>
            <a:pPr indent="0" marL="0">
              <a:buNone/>
            </a:pPr>
            <a:r>
              <a:rPr lang="en-US" sz="2800" b="1" dirty="0">
                <a:solidFill>
                  <a:srgbClr val="14213D"/>
                </a:solidFill>
                <a:latin typeface="Calibri" pitchFamily="34" charset="0"/>
                <a:ea typeface="Calibri" pitchFamily="34" charset="-122"/>
                <a:cs typeface="Calibri" pitchFamily="34" charset="-120"/>
              </a:rPr>
              <a:t>378</a:t>
            </a:r>
            <a:endParaRPr lang="en-US" sz="2800" dirty="0"/>
          </a:p>
        </p:txBody>
      </p:sp>
      <p:sp>
        <p:nvSpPr>
          <p:cNvPr id="27" name="Text 23"/>
          <p:cNvSpPr txBox="1"/>
          <p:nvPr/>
        </p:nvSpPr>
        <p:spPr>
          <a:xfrm>
            <a:off x="10058400" y="5340096"/>
            <a:ext cx="1645920" cy="45720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database tables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B  ·  WHAT WE BUILT</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Daily work happens in purpose-built portal screens and administration in the workspace, with one permission model behind both</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docs/product/04-architecture.md §3; docs/guides/01-finding-your-way.md; docs/guides/09-administration.md §9.5 (branding); delivery-team change log 18 Sep 2026 (framework name removed; out-of-scope features hidden).</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438912" y="1581912"/>
            <a:ext cx="6803136" cy="4265676"/>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8" name="Image 0" descr="Policy library — filters, search and Export CSV under the new header">    </p:cNvPr>
          <p:cNvPicPr>
            <a:picLocks noChangeAspect="1"/>
          </p:cNvPicPr>
          <p:nvPr/>
        </p:nvPicPr>
        <p:blipFill>
          <a:blip r:embed="rId1"/>
          <a:stretch>
            <a:fillRect/>
          </a:stretch>
        </p:blipFill>
        <p:spPr>
          <a:xfrm>
            <a:off x="457200" y="1600200"/>
            <a:ext cx="6766560" cy="4229100"/>
          </a:xfrm>
          <a:prstGeom prst="rect">
            <a:avLst/>
          </a:prstGeom>
        </p:spPr>
      </p:pic>
      <p:sp>
        <p:nvSpPr>
          <p:cNvPr id="9" name="Text 5"/>
          <p:cNvSpPr txBox="1"/>
          <p:nvPr/>
        </p:nvSpPr>
        <p:spPr>
          <a:xfrm>
            <a:off x="7498080" y="1600200"/>
            <a:ext cx="4236415" cy="4526280"/>
          </a:xfrm>
          <a:prstGeom prst="rect">
            <a:avLst/>
          </a:prstGeom>
          <a:noFill/>
          <a:ln/>
        </p:spPr>
        <p:txBody>
          <a:bodyPr wrap="square" lIns="0" tIns="0" rIns="0" bIns="0" rtlCol="0" anchor="t"/>
          <a:lstStyle/>
          <a:p>
            <a:pPr algn="l" indent="0" marL="0">
              <a:spcAft>
                <a:spcPts val="300"/>
              </a:spcAft>
              <a:buNone/>
            </a:pPr>
            <a:r>
              <a:rPr lang="en-US" sz="1400" b="1" dirty="0">
                <a:solidFill>
                  <a:srgbClr val="14213D"/>
                </a:solidFill>
                <a:latin typeface="Calibri" pitchFamily="34" charset="0"/>
                <a:ea typeface="Calibri" pitchFamily="34" charset="-122"/>
                <a:cs typeface="Calibri" pitchFamily="34" charset="-120"/>
              </a:rPr>
              <a:t>Portal — for daily work</a:t>
            </a:r>
            <a:endParaRPr lang="en-US" sz="140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Menus by area — Home, My work, Governance, Policies, Escalations, Insights — and search from any page</a:t>
            </a:r>
            <a:endParaRPr lang="en-US" sz="140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Every table pages, sorts and searches in the database, and exports to CSV</a:t>
            </a:r>
            <a:endParaRPr lang="en-US" sz="1400" dirty="0"/>
          </a:p>
          <a:p>
            <a:pPr algn="l" marL="177800" indent="-177800">
              <a:spcAft>
                <a:spcPts val="1000"/>
              </a:spcAft>
              <a:buSzPct val="100000"/>
              <a:buChar char="•"/>
            </a:pPr>
            <a:r>
              <a:rPr lang="en-US" sz="1150" dirty="0">
                <a:solidFill>
                  <a:srgbClr val="2A2F36"/>
                </a:solidFill>
                <a:latin typeface="Calibri" pitchFamily="34" charset="0"/>
                <a:ea typeface="Calibri" pitchFamily="34" charset="-122"/>
                <a:cs typeface="Calibri" pitchFamily="34" charset="-120"/>
              </a:rPr>
              <a:t>Light and dark themes; text-size control; a Help assistant on every page</a:t>
            </a:r>
            <a:endParaRPr lang="en-US" sz="1400" dirty="0"/>
          </a:p>
          <a:p>
            <a:pPr algn="l" indent="0" marL="0">
              <a:spcAft>
                <a:spcPts val="300"/>
              </a:spcAft>
              <a:buNone/>
            </a:pPr>
            <a:r>
              <a:rPr lang="en-US" sz="1400" b="1" dirty="0">
                <a:solidFill>
                  <a:srgbClr val="14213D"/>
                </a:solidFill>
                <a:latin typeface="Calibri" pitchFamily="34" charset="0"/>
                <a:ea typeface="Calibri" pitchFamily="34" charset="-122"/>
                <a:cs typeface="Calibri" pitchFamily="34" charset="-120"/>
              </a:rPr>
              <a:t>Workspace — for administration</a:t>
            </a:r>
            <a:endParaRPr lang="en-US" sz="1400" dirty="0"/>
          </a:p>
          <a:p>
            <a:pPr algn="l" marL="177800" indent="-177800">
              <a:spcAft>
                <a:spcPts val="1000"/>
              </a:spcAft>
              <a:buSzPct val="100000"/>
              <a:buChar char="•"/>
            </a:pPr>
            <a:r>
              <a:rPr lang="en-US" sz="1150" dirty="0">
                <a:solidFill>
                  <a:srgbClr val="2A2F36"/>
                </a:solidFill>
                <a:latin typeface="Calibri" pitchFamily="34" charset="0"/>
                <a:ea typeface="Calibri" pitchFamily="34" charset="-122"/>
                <a:cs typeface="Calibri" pitchFamily="34" charset="-120"/>
              </a:rPr>
              <a:t>Roles, reference data, workflow and rule configuration, report builder, audit views</a:t>
            </a:r>
            <a:endParaRPr lang="en-US" sz="1400" dirty="0"/>
          </a:p>
          <a:p>
            <a:pPr algn="l" indent="0" marL="0">
              <a:spcAft>
                <a:spcPts val="300"/>
              </a:spcAft>
              <a:buNone/>
            </a:pPr>
            <a:r>
              <a:rPr lang="en-US" sz="1400" b="1" dirty="0">
                <a:solidFill>
                  <a:srgbClr val="14213D"/>
                </a:solidFill>
                <a:latin typeface="Calibri" pitchFamily="34" charset="0"/>
                <a:ea typeface="Calibri" pitchFamily="34" charset="-122"/>
                <a:cs typeface="Calibri" pitchFamily="34" charset="-120"/>
              </a:rPr>
              <a:t>Made to look like the organisation's own</a:t>
            </a:r>
            <a:endParaRPr lang="en-US" sz="140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Framework name removed from the interface</a:t>
            </a:r>
            <a:endParaRPr lang="en-US" sz="1400" dirty="0"/>
          </a:p>
          <a:p>
            <a:pPr algn="l" marL="177800" indent="-177800">
              <a:spcAft>
                <a:spcPts val="300"/>
              </a:spcAft>
              <a:buSzPct val="100000"/>
              <a:buChar char="•"/>
            </a:pPr>
            <a:r>
              <a:rPr lang="en-US" sz="1150" dirty="0">
                <a:solidFill>
                  <a:srgbClr val="2A2F36"/>
                </a:solidFill>
                <a:latin typeface="Calibri" pitchFamily="34" charset="0"/>
                <a:ea typeface="Calibri" pitchFamily="34" charset="-122"/>
                <a:cs typeface="Calibri" pitchFamily="34" charset="-120"/>
              </a:rPr>
              <a:t>Name, logo, colours, typeface and banner set by an administrator, with no release</a:t>
            </a:r>
            <a:endParaRPr lang="en-US" sz="1400" dirty="0"/>
          </a:p>
          <a:p>
            <a:pPr algn="l" marL="177800" indent="-177800">
              <a:spcAft>
                <a:spcPts val="1000"/>
              </a:spcAft>
              <a:buSzPct val="100000"/>
              <a:buChar char="•"/>
            </a:pPr>
            <a:r>
              <a:rPr lang="en-US" sz="1150" dirty="0">
                <a:solidFill>
                  <a:srgbClr val="2A2F36"/>
                </a:solidFill>
                <a:latin typeface="Calibri" pitchFamily="34" charset="0"/>
                <a:ea typeface="Calibri" pitchFamily="34" charset="-122"/>
                <a:cs typeface="Calibri" pitchFamily="34" charset="-120"/>
              </a:rPr>
              <a:t>Out-of-scope framework features hidden</a:t>
            </a:r>
            <a:endParaRPr lang="en-US" sz="1400" dirty="0"/>
          </a:p>
          <a:p>
            <a:pPr algn="l" indent="0" marL="0">
              <a:spcAft>
                <a:spcPts val="400"/>
              </a:spcAft>
              <a:buNone/>
            </a:pPr>
            <a:r>
              <a:rPr lang="en-US" sz="1150" b="1" i="1" dirty="0">
                <a:solidFill>
                  <a:srgbClr val="C8553D"/>
                </a:solidFill>
                <a:latin typeface="Calibri" pitchFamily="34" charset="0"/>
                <a:ea typeface="Calibri" pitchFamily="34" charset="-122"/>
                <a:cs typeface="Calibri" pitchFamily="34" charset="-120"/>
              </a:rPr>
              <a:t>Hiding is presentation; the server's refusal is the control.</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B  ·  WHAT WE BUILT</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The portal was redesigned around how people work: one header, menus shaped by role, and search from any page</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consilium_core/navigation.py (cns_nav), consilium_core/search.py, templates/base_portal.html; consilium_core/tests/test_navigation.py (11), test_global_search.py (9); scripts/browser_journeys.py (11/11); docs/delivery/EPICS.md E35.</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438912" y="1581912"/>
            <a:ext cx="3643274" cy="2290763"/>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8" name="Image 0" descr="A menu opens a panel of pages and ready-made views, each explained">    </p:cNvPr>
          <p:cNvPicPr>
            <a:picLocks noChangeAspect="1"/>
          </p:cNvPicPr>
          <p:nvPr/>
        </p:nvPicPr>
        <p:blipFill>
          <a:blip r:embed="rId1"/>
          <a:stretch>
            <a:fillRect/>
          </a:stretch>
        </p:blipFill>
        <p:spPr>
          <a:xfrm>
            <a:off x="457200" y="1600200"/>
            <a:ext cx="3606698" cy="2254187"/>
          </a:xfrm>
          <a:prstGeom prst="rect">
            <a:avLst/>
          </a:prstGeom>
        </p:spPr>
      </p:pic>
      <p:sp>
        <p:nvSpPr>
          <p:cNvPr id="9" name="Text 5"/>
          <p:cNvSpPr txBox="1"/>
          <p:nvPr/>
        </p:nvSpPr>
        <p:spPr>
          <a:xfrm>
            <a:off x="457200" y="3909250"/>
            <a:ext cx="3606698" cy="228600"/>
          </a:xfrm>
          <a:prstGeom prst="rect">
            <a:avLst/>
          </a:prstGeom>
          <a:noFill/>
          <a:ln/>
        </p:spPr>
        <p:txBody>
          <a:bodyPr wrap="square" lIns="0" tIns="0" rIns="0" bIns="0" rtlCol="0" anchor="t"/>
          <a:lstStyle/>
          <a:p>
            <a:pPr algn="l" indent="0" marL="0">
              <a:buNone/>
            </a:pPr>
            <a:r>
              <a:rPr lang="en-US" sz="900" i="1" dirty="0">
                <a:solidFill>
                  <a:srgbClr val="6B7380"/>
                </a:solidFill>
                <a:latin typeface="Calibri" pitchFamily="34" charset="0"/>
                <a:ea typeface="Calibri" pitchFamily="34" charset="-122"/>
                <a:cs typeface="Calibri" pitchFamily="34" charset="-120"/>
              </a:rPr>
              <a:t>A menu opens a panel of pages and ready-made views, each explained</a:t>
            </a:r>
            <a:endParaRPr lang="en-US" sz="900" dirty="0"/>
          </a:p>
        </p:txBody>
      </p:sp>
      <p:sp>
        <p:nvSpPr>
          <p:cNvPr id="10" name="Shape 6"/>
          <p:cNvSpPr/>
          <p:nvPr/>
        </p:nvSpPr>
        <p:spPr>
          <a:xfrm>
            <a:off x="4274210" y="1581912"/>
            <a:ext cx="3643274" cy="2290763"/>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11" name="Image 1" descr="Search from any page, grouped by forums, policies and escalations">    </p:cNvPr>
          <p:cNvPicPr>
            <a:picLocks noChangeAspect="1"/>
          </p:cNvPicPr>
          <p:nvPr/>
        </p:nvPicPr>
        <p:blipFill>
          <a:blip r:embed="rId2"/>
          <a:stretch>
            <a:fillRect/>
          </a:stretch>
        </p:blipFill>
        <p:spPr>
          <a:xfrm>
            <a:off x="4292498" y="1600200"/>
            <a:ext cx="3606698" cy="2254187"/>
          </a:xfrm>
          <a:prstGeom prst="rect">
            <a:avLst/>
          </a:prstGeom>
        </p:spPr>
      </p:pic>
      <p:sp>
        <p:nvSpPr>
          <p:cNvPr id="12" name="Text 7"/>
          <p:cNvSpPr txBox="1"/>
          <p:nvPr/>
        </p:nvSpPr>
        <p:spPr>
          <a:xfrm>
            <a:off x="4292498" y="3909250"/>
            <a:ext cx="3606698" cy="228600"/>
          </a:xfrm>
          <a:prstGeom prst="rect">
            <a:avLst/>
          </a:prstGeom>
          <a:noFill/>
          <a:ln/>
        </p:spPr>
        <p:txBody>
          <a:bodyPr wrap="square" lIns="0" tIns="0" rIns="0" bIns="0" rtlCol="0" anchor="t"/>
          <a:lstStyle/>
          <a:p>
            <a:pPr algn="l" indent="0" marL="0">
              <a:buNone/>
            </a:pPr>
            <a:r>
              <a:rPr lang="en-US" sz="900" i="1" dirty="0">
                <a:solidFill>
                  <a:srgbClr val="6B7380"/>
                </a:solidFill>
                <a:latin typeface="Calibri" pitchFamily="34" charset="0"/>
                <a:ea typeface="Calibri" pitchFamily="34" charset="-122"/>
                <a:cs typeface="Calibri" pitchFamily="34" charset="-120"/>
              </a:rPr>
              <a:t>Search from any page, grouped by forums, policies and escalations</a:t>
            </a:r>
            <a:endParaRPr lang="en-US" sz="900" dirty="0"/>
          </a:p>
        </p:txBody>
      </p:sp>
      <p:sp>
        <p:nvSpPr>
          <p:cNvPr id="13" name="Shape 8"/>
          <p:cNvSpPr/>
          <p:nvPr/>
        </p:nvSpPr>
        <p:spPr>
          <a:xfrm>
            <a:off x="8109509" y="1581912"/>
            <a:ext cx="3643274" cy="2290763"/>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14" name="Image 2" descr="My work: approvals described in words, not codes">    </p:cNvPr>
          <p:cNvPicPr>
            <a:picLocks noChangeAspect="1"/>
          </p:cNvPicPr>
          <p:nvPr/>
        </p:nvPicPr>
        <p:blipFill>
          <a:blip r:embed="rId3"/>
          <a:stretch>
            <a:fillRect/>
          </a:stretch>
        </p:blipFill>
        <p:spPr>
          <a:xfrm>
            <a:off x="8127797" y="1600200"/>
            <a:ext cx="3606698" cy="2254187"/>
          </a:xfrm>
          <a:prstGeom prst="rect">
            <a:avLst/>
          </a:prstGeom>
        </p:spPr>
      </p:pic>
      <p:sp>
        <p:nvSpPr>
          <p:cNvPr id="15" name="Text 9"/>
          <p:cNvSpPr txBox="1"/>
          <p:nvPr/>
        </p:nvSpPr>
        <p:spPr>
          <a:xfrm>
            <a:off x="8127797" y="3909250"/>
            <a:ext cx="3606698" cy="228600"/>
          </a:xfrm>
          <a:prstGeom prst="rect">
            <a:avLst/>
          </a:prstGeom>
          <a:noFill/>
          <a:ln/>
        </p:spPr>
        <p:txBody>
          <a:bodyPr wrap="square" lIns="0" tIns="0" rIns="0" bIns="0" rtlCol="0" anchor="t"/>
          <a:lstStyle/>
          <a:p>
            <a:pPr algn="l" indent="0" marL="0">
              <a:buNone/>
            </a:pPr>
            <a:r>
              <a:rPr lang="en-US" sz="900" i="1" dirty="0">
                <a:solidFill>
                  <a:srgbClr val="6B7380"/>
                </a:solidFill>
                <a:latin typeface="Calibri" pitchFamily="34" charset="0"/>
                <a:ea typeface="Calibri" pitchFamily="34" charset="-122"/>
                <a:cs typeface="Calibri" pitchFamily="34" charset="-120"/>
              </a:rPr>
              <a:t>My work: approvals described in words, not codes</a:t>
            </a:r>
            <a:endParaRPr lang="en-US" sz="900" dirty="0"/>
          </a:p>
        </p:txBody>
      </p:sp>
      <p:sp>
        <p:nvSpPr>
          <p:cNvPr id="16" name="Shape 10"/>
          <p:cNvSpPr/>
          <p:nvPr/>
        </p:nvSpPr>
        <p:spPr>
          <a:xfrm>
            <a:off x="457200" y="4265867"/>
            <a:ext cx="2750744" cy="1860614"/>
          </a:xfrm>
          <a:prstGeom prst="rect">
            <a:avLst/>
          </a:prstGeom>
          <a:solidFill>
            <a:srgbClr val="E8EDF5"/>
          </a:solidFill>
          <a:ln w="12700">
            <a:solidFill>
              <a:srgbClr val="E8EDF5"/>
            </a:solidFill>
            <a:prstDash val="solid"/>
          </a:ln>
        </p:spPr>
      </p:sp>
      <p:sp>
        <p:nvSpPr>
          <p:cNvPr id="17" name="Text 11"/>
          <p:cNvSpPr txBox="1"/>
          <p:nvPr/>
        </p:nvSpPr>
        <p:spPr>
          <a:xfrm>
            <a:off x="566928" y="4320730"/>
            <a:ext cx="2531288" cy="1769174"/>
          </a:xfrm>
          <a:prstGeom prst="rect">
            <a:avLst/>
          </a:prstGeom>
          <a:noFill/>
          <a:ln/>
        </p:spPr>
        <p:txBody>
          <a:bodyPr wrap="square" lIns="0" tIns="0" rIns="0" bIns="0" rtlCol="0" anchor="t"/>
          <a:lstStyle/>
          <a:p>
            <a:pPr algn="l" indent="0" marL="0">
              <a:spcAft>
                <a:spcPts val="200"/>
              </a:spcAft>
              <a:buNone/>
            </a:pPr>
            <a:r>
              <a:rPr lang="en-US" sz="1200" b="1" dirty="0">
                <a:solidFill>
                  <a:srgbClr val="14213D"/>
                </a:solidFill>
                <a:latin typeface="Calibri" pitchFamily="34" charset="0"/>
                <a:ea typeface="Calibri" pitchFamily="34" charset="-122"/>
                <a:cs typeface="Calibri" pitchFamily="34" charset="-120"/>
              </a:rPr>
              <a:t>Menus by role</a:t>
            </a:r>
            <a:endParaRPr lang="en-US" sz="1200" dirty="0"/>
          </a:p>
          <a:p>
            <a:pPr algn="l" indent="0" marL="0">
              <a:spcAft>
                <a:spcPts val="400"/>
              </a:spcAft>
              <a:buNone/>
            </a:pPr>
            <a:r>
              <a:rPr lang="en-US" sz="1050" dirty="0">
                <a:solidFill>
                  <a:srgbClr val="2A2F36"/>
                </a:solidFill>
                <a:latin typeface="Calibri" pitchFamily="34" charset="0"/>
                <a:ea typeface="Calibri" pitchFamily="34" charset="-122"/>
                <a:cs typeface="Calibri" pitchFamily="34" charset="-120"/>
              </a:rPr>
              <a:t>Home, My work, Governance, Policies, Escalations, Insights, Admin; nobody is offered a dead end</a:t>
            </a:r>
            <a:endParaRPr lang="en-US" sz="1200" dirty="0"/>
          </a:p>
        </p:txBody>
      </p:sp>
      <p:sp>
        <p:nvSpPr>
          <p:cNvPr id="18" name="Shape 12"/>
          <p:cNvSpPr/>
          <p:nvPr/>
        </p:nvSpPr>
        <p:spPr>
          <a:xfrm>
            <a:off x="3299384" y="4265867"/>
            <a:ext cx="2750744" cy="1860614"/>
          </a:xfrm>
          <a:prstGeom prst="rect">
            <a:avLst/>
          </a:prstGeom>
          <a:solidFill>
            <a:srgbClr val="E8EDF5"/>
          </a:solidFill>
          <a:ln w="12700">
            <a:solidFill>
              <a:srgbClr val="E8EDF5"/>
            </a:solidFill>
            <a:prstDash val="solid"/>
          </a:ln>
        </p:spPr>
      </p:sp>
      <p:sp>
        <p:nvSpPr>
          <p:cNvPr id="19" name="Text 13"/>
          <p:cNvSpPr txBox="1"/>
          <p:nvPr/>
        </p:nvSpPr>
        <p:spPr>
          <a:xfrm>
            <a:off x="3409112" y="4320730"/>
            <a:ext cx="2531288" cy="1769174"/>
          </a:xfrm>
          <a:prstGeom prst="rect">
            <a:avLst/>
          </a:prstGeom>
          <a:noFill/>
          <a:ln/>
        </p:spPr>
        <p:txBody>
          <a:bodyPr wrap="square" lIns="0" tIns="0" rIns="0" bIns="0" rtlCol="0" anchor="t"/>
          <a:lstStyle/>
          <a:p>
            <a:pPr algn="l" indent="0" marL="0">
              <a:spcAft>
                <a:spcPts val="200"/>
              </a:spcAft>
              <a:buNone/>
            </a:pPr>
            <a:r>
              <a:rPr lang="en-US" sz="1200" b="1" dirty="0">
                <a:solidFill>
                  <a:srgbClr val="14213D"/>
                </a:solidFill>
                <a:latin typeface="Calibri" pitchFamily="34" charset="0"/>
                <a:ea typeface="Calibri" pitchFamily="34" charset="-122"/>
                <a:cs typeface="Calibri" pitchFamily="34" charset="-120"/>
              </a:rPr>
              <a:t>Search is safe</a:t>
            </a:r>
            <a:endParaRPr lang="en-US" sz="1200" dirty="0"/>
          </a:p>
          <a:p>
            <a:pPr algn="l" indent="0" marL="0">
              <a:spcAft>
                <a:spcPts val="400"/>
              </a:spcAft>
              <a:buNone/>
            </a:pPr>
            <a:r>
              <a:rPr lang="en-US" sz="1050" dirty="0">
                <a:solidFill>
                  <a:srgbClr val="2A2F36"/>
                </a:solidFill>
                <a:latin typeface="Calibri" pitchFamily="34" charset="0"/>
                <a:ea typeface="Calibri" pitchFamily="34" charset="-122"/>
                <a:cs typeface="Calibri" pitchFamily="34" charset="-120"/>
              </a:rPr>
              <a:t>"/" or Ctrl/Cmd+K; results come only from records the viewer may read</a:t>
            </a:r>
            <a:endParaRPr lang="en-US" sz="1200" dirty="0"/>
          </a:p>
        </p:txBody>
      </p:sp>
      <p:sp>
        <p:nvSpPr>
          <p:cNvPr id="20" name="Shape 14"/>
          <p:cNvSpPr/>
          <p:nvPr/>
        </p:nvSpPr>
        <p:spPr>
          <a:xfrm>
            <a:off x="6141568" y="4265867"/>
            <a:ext cx="2750744" cy="1860614"/>
          </a:xfrm>
          <a:prstGeom prst="rect">
            <a:avLst/>
          </a:prstGeom>
          <a:solidFill>
            <a:srgbClr val="E8EDF5"/>
          </a:solidFill>
          <a:ln w="12700">
            <a:solidFill>
              <a:srgbClr val="E8EDF5"/>
            </a:solidFill>
            <a:prstDash val="solid"/>
          </a:ln>
        </p:spPr>
      </p:sp>
      <p:sp>
        <p:nvSpPr>
          <p:cNvPr id="21" name="Text 15"/>
          <p:cNvSpPr txBox="1"/>
          <p:nvPr/>
        </p:nvSpPr>
        <p:spPr>
          <a:xfrm>
            <a:off x="6251296" y="4320730"/>
            <a:ext cx="2531288" cy="1769174"/>
          </a:xfrm>
          <a:prstGeom prst="rect">
            <a:avLst/>
          </a:prstGeom>
          <a:noFill/>
          <a:ln/>
        </p:spPr>
        <p:txBody>
          <a:bodyPr wrap="square" lIns="0" tIns="0" rIns="0" bIns="0" rtlCol="0" anchor="t"/>
          <a:lstStyle/>
          <a:p>
            <a:pPr algn="l" indent="0" marL="0">
              <a:spcAft>
                <a:spcPts val="200"/>
              </a:spcAft>
              <a:buNone/>
            </a:pPr>
            <a:r>
              <a:rPr lang="en-US" sz="1200" b="1" dirty="0">
                <a:solidFill>
                  <a:srgbClr val="14213D"/>
                </a:solidFill>
                <a:latin typeface="Calibri" pitchFamily="34" charset="0"/>
                <a:ea typeface="Calibri" pitchFamily="34" charset="-122"/>
                <a:cs typeface="Calibri" pitchFamily="34" charset="-120"/>
              </a:rPr>
              <a:t>Lists that work</a:t>
            </a:r>
            <a:endParaRPr lang="en-US" sz="1200" dirty="0"/>
          </a:p>
          <a:p>
            <a:pPr algn="l" indent="0" marL="0">
              <a:spcAft>
                <a:spcPts val="400"/>
              </a:spcAft>
              <a:buNone/>
            </a:pPr>
            <a:r>
              <a:rPr lang="en-US" sz="1050" dirty="0">
                <a:solidFill>
                  <a:srgbClr val="2A2F36"/>
                </a:solidFill>
                <a:latin typeface="Calibri" pitchFamily="34" charset="0"/>
                <a:ea typeface="Calibri" pitchFamily="34" charset="-122"/>
                <a:cs typeface="Calibri" pitchFamily="34" charset="-120"/>
              </a:rPr>
              <a:t>Filter, sort, search and Export CSV on every list; empty states say what to do next</a:t>
            </a:r>
            <a:endParaRPr lang="en-US" sz="1200" dirty="0"/>
          </a:p>
        </p:txBody>
      </p:sp>
      <p:sp>
        <p:nvSpPr>
          <p:cNvPr id="22" name="Shape 16"/>
          <p:cNvSpPr/>
          <p:nvPr/>
        </p:nvSpPr>
        <p:spPr>
          <a:xfrm>
            <a:off x="8983751" y="4265867"/>
            <a:ext cx="2750744" cy="1860614"/>
          </a:xfrm>
          <a:prstGeom prst="rect">
            <a:avLst/>
          </a:prstGeom>
          <a:solidFill>
            <a:srgbClr val="E8EDF5"/>
          </a:solidFill>
          <a:ln w="12700">
            <a:solidFill>
              <a:srgbClr val="E8EDF5"/>
            </a:solidFill>
            <a:prstDash val="solid"/>
          </a:ln>
        </p:spPr>
      </p:sp>
      <p:sp>
        <p:nvSpPr>
          <p:cNvPr id="23" name="Text 17"/>
          <p:cNvSpPr txBox="1"/>
          <p:nvPr/>
        </p:nvSpPr>
        <p:spPr>
          <a:xfrm>
            <a:off x="9093479" y="4320730"/>
            <a:ext cx="2531288" cy="1769174"/>
          </a:xfrm>
          <a:prstGeom prst="rect">
            <a:avLst/>
          </a:prstGeom>
          <a:noFill/>
          <a:ln/>
        </p:spPr>
        <p:txBody>
          <a:bodyPr wrap="square" lIns="0" tIns="0" rIns="0" bIns="0" rtlCol="0" anchor="t"/>
          <a:lstStyle/>
          <a:p>
            <a:pPr algn="l" indent="0" marL="0">
              <a:spcAft>
                <a:spcPts val="200"/>
              </a:spcAft>
              <a:buNone/>
            </a:pPr>
            <a:r>
              <a:rPr lang="en-US" sz="1200" b="1" dirty="0">
                <a:solidFill>
                  <a:srgbClr val="14213D"/>
                </a:solidFill>
                <a:latin typeface="Calibri" pitchFamily="34" charset="0"/>
                <a:ea typeface="Calibri" pitchFamily="34" charset="-122"/>
                <a:cs typeface="Calibri" pitchFamily="34" charset="-120"/>
              </a:rPr>
              <a:t>Keyboard, phone, clarity</a:t>
            </a:r>
            <a:endParaRPr lang="en-US" sz="1200" dirty="0"/>
          </a:p>
          <a:p>
            <a:pPr algn="l" indent="0" marL="0">
              <a:spcAft>
                <a:spcPts val="400"/>
              </a:spcAft>
              <a:buNone/>
            </a:pPr>
            <a:r>
              <a:rPr lang="en-US" sz="1050" dirty="0">
                <a:solidFill>
                  <a:srgbClr val="2A2F36"/>
                </a:solidFill>
                <a:latin typeface="Calibri" pitchFamily="34" charset="0"/>
                <a:ea typeface="Calibri" pitchFamily="34" charset="-122"/>
                <a:cs typeface="Calibri" pitchFamily="34" charset="-120"/>
              </a:rPr>
              <a:t>Menus by keyboard; slide-out on phones; times show their zone; plain names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B  ·  WHAT WE BUILT</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One administrator screen connects the organisation's own systems: AI, the document editor, horizon scanning, mail and sign-on</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consilium_core/integrations/ (admin.py, external_tools.py, graph_mail.py); www/integrations, www/doc-ai, www/horizon-scanning; consilium_core/tests/test_integrations.py (31), test_graph_mail.py (20); docs/delivery/DEPLOYMENT-READINESS.md 'What the organisation provides'; docs/delivery/EPICS.md E36.</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438912" y="1581912"/>
            <a:ext cx="5538064" cy="2959241"/>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8" name="Image 0" descr="Admin → Integrations">    </p:cNvPr>
          <p:cNvPicPr>
            <a:picLocks noChangeAspect="1"/>
          </p:cNvPicPr>
          <p:nvPr/>
        </p:nvPicPr>
        <p:blipFill>
          <a:blip r:embed="rId1"/>
          <a:stretch>
            <a:fillRect/>
          </a:stretch>
        </p:blipFill>
        <p:spPr>
          <a:xfrm>
            <a:off x="457200" y="1600200"/>
            <a:ext cx="5501488" cy="2922665"/>
          </a:xfrm>
          <a:prstGeom prst="rect">
            <a:avLst/>
          </a:prstGeom>
        </p:spPr>
      </p:pic>
      <p:sp>
        <p:nvSpPr>
          <p:cNvPr id="9" name="Shape 5"/>
          <p:cNvSpPr/>
          <p:nvPr/>
        </p:nvSpPr>
        <p:spPr>
          <a:xfrm>
            <a:off x="6214720" y="1581912"/>
            <a:ext cx="5538064" cy="3475006"/>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10" name="Image 1" descr="Open in Doc AI — explains itself until an address is set">    </p:cNvPr>
          <p:cNvPicPr>
            <a:picLocks noChangeAspect="1"/>
          </p:cNvPicPr>
          <p:nvPr/>
        </p:nvPicPr>
        <p:blipFill>
          <a:blip r:embed="rId2"/>
          <a:stretch>
            <a:fillRect/>
          </a:stretch>
        </p:blipFill>
        <p:spPr>
          <a:xfrm>
            <a:off x="6233008" y="1600200"/>
            <a:ext cx="5501488" cy="3438430"/>
          </a:xfrm>
          <a:prstGeom prst="rect">
            <a:avLst/>
          </a:prstGeom>
        </p:spPr>
      </p:pic>
      <p:sp>
        <p:nvSpPr>
          <p:cNvPr id="11" name="Shape 6"/>
          <p:cNvSpPr/>
          <p:nvPr/>
        </p:nvSpPr>
        <p:spPr>
          <a:xfrm>
            <a:off x="457200" y="5221510"/>
            <a:ext cx="2182307" cy="904970"/>
          </a:xfrm>
          <a:prstGeom prst="rect">
            <a:avLst/>
          </a:prstGeom>
          <a:solidFill>
            <a:srgbClr val="E8EDF5"/>
          </a:solidFill>
          <a:ln w="12700">
            <a:solidFill>
              <a:srgbClr val="E8EDF5"/>
            </a:solidFill>
            <a:prstDash val="solid"/>
          </a:ln>
        </p:spPr>
      </p:sp>
      <p:sp>
        <p:nvSpPr>
          <p:cNvPr id="12" name="Text 7"/>
          <p:cNvSpPr txBox="1"/>
          <p:nvPr/>
        </p:nvSpPr>
        <p:spPr>
          <a:xfrm>
            <a:off x="566928" y="5276374"/>
            <a:ext cx="1962851" cy="813530"/>
          </a:xfrm>
          <a:prstGeom prst="rect">
            <a:avLst/>
          </a:prstGeom>
          <a:noFill/>
          <a:ln/>
        </p:spPr>
        <p:txBody>
          <a:bodyPr wrap="square" lIns="0" tIns="0" rIns="0" bIns="0" rtlCol="0" anchor="t"/>
          <a:lstStyle/>
          <a:p>
            <a:pPr algn="l" indent="0" marL="0">
              <a:spcAft>
                <a:spcPts val="200"/>
              </a:spcAft>
              <a:buNone/>
            </a:pPr>
            <a:r>
              <a:rPr lang="en-US" sz="1200" b="1" dirty="0">
                <a:solidFill>
                  <a:srgbClr val="14213D"/>
                </a:solidFill>
                <a:latin typeface="Calibri" pitchFamily="34" charset="0"/>
                <a:ea typeface="Calibri" pitchFamily="34" charset="-122"/>
                <a:cs typeface="Calibri" pitchFamily="34" charset="-120"/>
              </a:rPr>
              <a:t>AI</a:t>
            </a:r>
            <a:endParaRPr lang="en-US" sz="1200" dirty="0"/>
          </a:p>
          <a:p>
            <a:pPr algn="l" indent="0" marL="0">
              <a:spcAft>
                <a:spcPts val="400"/>
              </a:spcAft>
              <a:buNone/>
            </a:pPr>
            <a:r>
              <a:rPr lang="en-US" sz="1000" dirty="0">
                <a:solidFill>
                  <a:srgbClr val="2A2F36"/>
                </a:solidFill>
                <a:latin typeface="Calibri" pitchFamily="34" charset="0"/>
                <a:ea typeface="Calibri" pitchFamily="34" charset="-122"/>
                <a:cs typeface="Calibri" pitchFamily="34" charset="-120"/>
              </a:rPr>
              <a:t>OpenAI-compatible endpoint; write-only key; Test connection; every call logged</a:t>
            </a:r>
            <a:endParaRPr lang="en-US" sz="1200" dirty="0"/>
          </a:p>
        </p:txBody>
      </p:sp>
      <p:sp>
        <p:nvSpPr>
          <p:cNvPr id="13" name="Shape 8"/>
          <p:cNvSpPr/>
          <p:nvPr/>
        </p:nvSpPr>
        <p:spPr>
          <a:xfrm>
            <a:off x="2730947" y="5221510"/>
            <a:ext cx="2182307" cy="904970"/>
          </a:xfrm>
          <a:prstGeom prst="rect">
            <a:avLst/>
          </a:prstGeom>
          <a:solidFill>
            <a:srgbClr val="E8EDF5"/>
          </a:solidFill>
          <a:ln w="12700">
            <a:solidFill>
              <a:srgbClr val="E8EDF5"/>
            </a:solidFill>
            <a:prstDash val="solid"/>
          </a:ln>
        </p:spPr>
      </p:sp>
      <p:sp>
        <p:nvSpPr>
          <p:cNvPr id="14" name="Text 9"/>
          <p:cNvSpPr txBox="1"/>
          <p:nvPr/>
        </p:nvSpPr>
        <p:spPr>
          <a:xfrm>
            <a:off x="2840675" y="5276374"/>
            <a:ext cx="1962851" cy="813530"/>
          </a:xfrm>
          <a:prstGeom prst="rect">
            <a:avLst/>
          </a:prstGeom>
          <a:noFill/>
          <a:ln/>
        </p:spPr>
        <p:txBody>
          <a:bodyPr wrap="square" lIns="0" tIns="0" rIns="0" bIns="0" rtlCol="0" anchor="t"/>
          <a:lstStyle/>
          <a:p>
            <a:pPr algn="l" indent="0" marL="0">
              <a:spcAft>
                <a:spcPts val="200"/>
              </a:spcAft>
              <a:buNone/>
            </a:pPr>
            <a:r>
              <a:rPr lang="en-US" sz="1200" b="1" dirty="0">
                <a:solidFill>
                  <a:srgbClr val="14213D"/>
                </a:solidFill>
                <a:latin typeface="Calibri" pitchFamily="34" charset="0"/>
                <a:ea typeface="Calibri" pitchFamily="34" charset="-122"/>
                <a:cs typeface="Calibri" pitchFamily="34" charset="-120"/>
              </a:rPr>
              <a:t>Doc AI</a:t>
            </a:r>
            <a:endParaRPr lang="en-US" sz="1200" dirty="0"/>
          </a:p>
          <a:p>
            <a:pPr algn="l" indent="0" marL="0">
              <a:spcAft>
                <a:spcPts val="400"/>
              </a:spcAft>
              <a:buNone/>
            </a:pPr>
            <a:r>
              <a:rPr lang="en-US" sz="1000" dirty="0">
                <a:solidFill>
                  <a:srgbClr val="2A2F36"/>
                </a:solidFill>
                <a:latin typeface="Calibri" pitchFamily="34" charset="0"/>
                <a:ea typeface="Calibri" pitchFamily="34" charset="-122"/>
                <a:cs typeface="Calibri" pitchFamily="34" charset="-120"/>
              </a:rPr>
              <a:t>Open a policy in the document editor; access-checked, logged, identifiers only</a:t>
            </a:r>
            <a:endParaRPr lang="en-US" sz="1200" dirty="0"/>
          </a:p>
        </p:txBody>
      </p:sp>
      <p:sp>
        <p:nvSpPr>
          <p:cNvPr id="15" name="Shape 10"/>
          <p:cNvSpPr/>
          <p:nvPr/>
        </p:nvSpPr>
        <p:spPr>
          <a:xfrm>
            <a:off x="5004694" y="5221510"/>
            <a:ext cx="2182307" cy="904970"/>
          </a:xfrm>
          <a:prstGeom prst="rect">
            <a:avLst/>
          </a:prstGeom>
          <a:solidFill>
            <a:srgbClr val="E8EDF5"/>
          </a:solidFill>
          <a:ln w="12700">
            <a:solidFill>
              <a:srgbClr val="E8EDF5"/>
            </a:solidFill>
            <a:prstDash val="solid"/>
          </a:ln>
        </p:spPr>
      </p:sp>
      <p:sp>
        <p:nvSpPr>
          <p:cNvPr id="16" name="Text 11"/>
          <p:cNvSpPr txBox="1"/>
          <p:nvPr/>
        </p:nvSpPr>
        <p:spPr>
          <a:xfrm>
            <a:off x="5114422" y="5276374"/>
            <a:ext cx="1962851" cy="813530"/>
          </a:xfrm>
          <a:prstGeom prst="rect">
            <a:avLst/>
          </a:prstGeom>
          <a:noFill/>
          <a:ln/>
        </p:spPr>
        <p:txBody>
          <a:bodyPr wrap="square" lIns="0" tIns="0" rIns="0" bIns="0" rtlCol="0" anchor="t"/>
          <a:lstStyle/>
          <a:p>
            <a:pPr algn="l" indent="0" marL="0">
              <a:spcAft>
                <a:spcPts val="200"/>
              </a:spcAft>
              <a:buNone/>
            </a:pPr>
            <a:r>
              <a:rPr lang="en-US" sz="1200" b="1" dirty="0">
                <a:solidFill>
                  <a:srgbClr val="14213D"/>
                </a:solidFill>
                <a:latin typeface="Calibri" pitchFamily="34" charset="0"/>
                <a:ea typeface="Calibri" pitchFamily="34" charset="-122"/>
                <a:cs typeface="Calibri" pitchFamily="34" charset="-120"/>
              </a:rPr>
              <a:t>Horizon scanning</a:t>
            </a:r>
            <a:endParaRPr lang="en-US" sz="1200" dirty="0"/>
          </a:p>
          <a:p>
            <a:pPr algn="l" indent="0" marL="0">
              <a:spcAft>
                <a:spcPts val="400"/>
              </a:spcAft>
              <a:buNone/>
            </a:pPr>
            <a:r>
              <a:rPr lang="en-US" sz="1000" dirty="0">
                <a:solidFill>
                  <a:srgbClr val="2A2F36"/>
                </a:solidFill>
                <a:latin typeface="Calibri" pitchFamily="34" charset="0"/>
                <a:ea typeface="Calibri" pitchFamily="34" charset="-122"/>
                <a:cs typeface="Calibri" pitchFamily="34" charset="-120"/>
              </a:rPr>
              <a:t>A link to the external platform; label and roles configurable</a:t>
            </a:r>
            <a:endParaRPr lang="en-US" sz="1200" dirty="0"/>
          </a:p>
        </p:txBody>
      </p:sp>
      <p:sp>
        <p:nvSpPr>
          <p:cNvPr id="17" name="Shape 12"/>
          <p:cNvSpPr/>
          <p:nvPr/>
        </p:nvSpPr>
        <p:spPr>
          <a:xfrm>
            <a:off x="7278441" y="5221510"/>
            <a:ext cx="2182307" cy="904970"/>
          </a:xfrm>
          <a:prstGeom prst="rect">
            <a:avLst/>
          </a:prstGeom>
          <a:solidFill>
            <a:srgbClr val="E8EDF5"/>
          </a:solidFill>
          <a:ln w="12700">
            <a:solidFill>
              <a:srgbClr val="E8EDF5"/>
            </a:solidFill>
            <a:prstDash val="solid"/>
          </a:ln>
        </p:spPr>
      </p:sp>
      <p:sp>
        <p:nvSpPr>
          <p:cNvPr id="18" name="Text 13"/>
          <p:cNvSpPr txBox="1"/>
          <p:nvPr/>
        </p:nvSpPr>
        <p:spPr>
          <a:xfrm>
            <a:off x="7388169" y="5276374"/>
            <a:ext cx="1962851" cy="813530"/>
          </a:xfrm>
          <a:prstGeom prst="rect">
            <a:avLst/>
          </a:prstGeom>
          <a:noFill/>
          <a:ln/>
        </p:spPr>
        <p:txBody>
          <a:bodyPr wrap="square" lIns="0" tIns="0" rIns="0" bIns="0" rtlCol="0" anchor="t"/>
          <a:lstStyle/>
          <a:p>
            <a:pPr algn="l" indent="0" marL="0">
              <a:spcAft>
                <a:spcPts val="200"/>
              </a:spcAft>
              <a:buNone/>
            </a:pPr>
            <a:r>
              <a:rPr lang="en-US" sz="1200" b="1" dirty="0">
                <a:solidFill>
                  <a:srgbClr val="14213D"/>
                </a:solidFill>
                <a:latin typeface="Calibri" pitchFamily="34" charset="0"/>
                <a:ea typeface="Calibri" pitchFamily="34" charset="-122"/>
                <a:cs typeface="Calibri" pitchFamily="34" charset="-120"/>
              </a:rPr>
              <a:t>Mail</a:t>
            </a:r>
            <a:endParaRPr lang="en-US" sz="1200" dirty="0"/>
          </a:p>
          <a:p>
            <a:pPr algn="l" indent="0" marL="0">
              <a:spcAft>
                <a:spcPts val="400"/>
              </a:spcAft>
              <a:buNone/>
            </a:pPr>
            <a:r>
              <a:rPr lang="en-US" sz="1000" dirty="0">
                <a:solidFill>
                  <a:srgbClr val="2A2F36"/>
                </a:solidFill>
                <a:latin typeface="Calibri" pitchFamily="34" charset="0"/>
                <a:ea typeface="Calibri" pitchFamily="34" charset="-122"/>
                <a:cs typeface="Calibri" pitchFamily="34" charset="-120"/>
              </a:rPr>
              <a:t>SMTP, or Microsoft Graph with app-only credentials; send a test to me</a:t>
            </a:r>
            <a:endParaRPr lang="en-US" sz="1200" dirty="0"/>
          </a:p>
        </p:txBody>
      </p:sp>
      <p:sp>
        <p:nvSpPr>
          <p:cNvPr id="19" name="Shape 14"/>
          <p:cNvSpPr/>
          <p:nvPr/>
        </p:nvSpPr>
        <p:spPr>
          <a:xfrm>
            <a:off x="9552188" y="5221510"/>
            <a:ext cx="2182307" cy="904970"/>
          </a:xfrm>
          <a:prstGeom prst="rect">
            <a:avLst/>
          </a:prstGeom>
          <a:solidFill>
            <a:srgbClr val="E8EDF5"/>
          </a:solidFill>
          <a:ln w="12700">
            <a:solidFill>
              <a:srgbClr val="E8EDF5"/>
            </a:solidFill>
            <a:prstDash val="solid"/>
          </a:ln>
        </p:spPr>
      </p:sp>
      <p:sp>
        <p:nvSpPr>
          <p:cNvPr id="20" name="Text 15"/>
          <p:cNvSpPr txBox="1"/>
          <p:nvPr/>
        </p:nvSpPr>
        <p:spPr>
          <a:xfrm>
            <a:off x="9661916" y="5276374"/>
            <a:ext cx="1962851" cy="813530"/>
          </a:xfrm>
          <a:prstGeom prst="rect">
            <a:avLst/>
          </a:prstGeom>
          <a:noFill/>
          <a:ln/>
        </p:spPr>
        <p:txBody>
          <a:bodyPr wrap="square" lIns="0" tIns="0" rIns="0" bIns="0" rtlCol="0" anchor="t"/>
          <a:lstStyle/>
          <a:p>
            <a:pPr algn="l" indent="0" marL="0">
              <a:spcAft>
                <a:spcPts val="200"/>
              </a:spcAft>
              <a:buNone/>
            </a:pPr>
            <a:r>
              <a:rPr lang="en-US" sz="1200" b="1" dirty="0">
                <a:solidFill>
                  <a:srgbClr val="14213D"/>
                </a:solidFill>
                <a:latin typeface="Calibri" pitchFamily="34" charset="0"/>
                <a:ea typeface="Calibri" pitchFamily="34" charset="-122"/>
                <a:cs typeface="Calibri" pitchFamily="34" charset="-120"/>
              </a:rPr>
              <a:t>Sign-on</a:t>
            </a:r>
            <a:endParaRPr lang="en-US" sz="1200" dirty="0"/>
          </a:p>
          <a:p>
            <a:pPr algn="l" indent="0" marL="0">
              <a:spcAft>
                <a:spcPts val="400"/>
              </a:spcAft>
              <a:buNone/>
            </a:pPr>
            <a:r>
              <a:rPr lang="en-US" sz="1000" dirty="0">
                <a:solidFill>
                  <a:srgbClr val="2A2F36"/>
                </a:solidFill>
                <a:latin typeface="Calibri" pitchFamily="34" charset="0"/>
                <a:ea typeface="Calibri" pitchFamily="34" charset="-122"/>
                <a:cs typeface="Calibri" pitchFamily="34" charset="-120"/>
              </a:rPr>
              <a:t>Shows the redirect URI to register; OIDC or LDAP set at install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1417320"/>
            <a:ext cx="2011680" cy="2011680"/>
          </a:xfrm>
          <a:prstGeom prst="rect">
            <a:avLst/>
          </a:prstGeom>
          <a:noFill/>
          <a:ln/>
        </p:spPr>
        <p:txBody>
          <a:bodyPr wrap="square" lIns="0" tIns="0" rIns="0" bIns="0" rtlCol="0" anchor="t"/>
          <a:lstStyle/>
          <a:p>
            <a:pPr indent="0" marL="0">
              <a:buNone/>
            </a:pPr>
            <a:r>
              <a:rPr lang="en-US" sz="15000" b="1" dirty="0">
                <a:solidFill>
                  <a:srgbClr val="C8553D"/>
                </a:solidFill>
                <a:latin typeface="Calibri" pitchFamily="34" charset="0"/>
                <a:ea typeface="Calibri" pitchFamily="34" charset="-122"/>
                <a:cs typeface="Calibri" pitchFamily="34" charset="-120"/>
              </a:rPr>
              <a:t>C</a:t>
            </a:r>
            <a:endParaRPr lang="en-US" sz="15000" dirty="0"/>
          </a:p>
        </p:txBody>
      </p:sp>
      <p:sp>
        <p:nvSpPr>
          <p:cNvPr id="3" name="Text 1"/>
          <p:cNvSpPr txBox="1"/>
          <p:nvPr/>
        </p:nvSpPr>
        <p:spPr>
          <a:xfrm>
            <a:off x="2743200" y="1828800"/>
            <a:ext cx="8686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How it works</a:t>
            </a:r>
            <a:endParaRPr lang="en-US" sz="3600" dirty="0"/>
          </a:p>
        </p:txBody>
      </p:sp>
      <p:sp>
        <p:nvSpPr>
          <p:cNvPr id="4" name="Text 2"/>
          <p:cNvSpPr txBox="1"/>
          <p:nvPr/>
        </p:nvSpPr>
        <p:spPr>
          <a:xfrm>
            <a:off x="2743200" y="2697480"/>
            <a:ext cx="8503920" cy="1097280"/>
          </a:xfrm>
          <a:prstGeom prst="rect">
            <a:avLst/>
          </a:prstGeom>
          <a:noFill/>
          <a:ln/>
        </p:spPr>
        <p:txBody>
          <a:bodyPr wrap="square" lIns="0" tIns="0" rIns="0" bIns="0" rtlCol="0" anchor="t"/>
          <a:lstStyle/>
          <a:p>
            <a:pPr indent="0" marL="0">
              <a:buNone/>
            </a:pPr>
            <a:r>
              <a:rPr lang="en-US" sz="1800" dirty="0">
                <a:solidFill>
                  <a:srgbClr val="C9D3E3"/>
                </a:solidFill>
                <a:latin typeface="Calibri" pitchFamily="34" charset="0"/>
                <a:ea typeface="Calibri" pitchFamily="34" charset="-122"/>
                <a:cs typeface="Calibri" pitchFamily="34" charset="-120"/>
              </a:rPr>
              <a:t>A day in the life, from forming a committee to proving a year later what happened</a:t>
            </a:r>
            <a:endParaRPr lang="en-US" sz="1800" dirty="0"/>
          </a:p>
        </p:txBody>
      </p:sp>
      <p:sp>
        <p:nvSpPr>
          <p:cNvPr id="5" name="Text 3"/>
          <p:cNvSpPr txBox="1"/>
          <p:nvPr/>
        </p:nvSpPr>
        <p:spPr>
          <a:xfrm>
            <a:off x="457200"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A  </a:t>
            </a:r>
            <a:pPr indent="0" marL="0">
              <a:buNone/>
            </a:pPr>
            <a:r>
              <a:rPr lang="en-US" sz="1200" dirty="0">
                <a:solidFill>
                  <a:srgbClr val="8391A8"/>
                </a:solidFill>
                <a:latin typeface="Calibri" pitchFamily="34" charset="0"/>
                <a:ea typeface="Calibri" pitchFamily="34" charset="-122"/>
                <a:cs typeface="Calibri" pitchFamily="34" charset="-120"/>
              </a:rPr>
              <a:t>Why this exists</a:t>
            </a:r>
            <a:endParaRPr lang="en-US" sz="1200" dirty="0"/>
          </a:p>
        </p:txBody>
      </p:sp>
      <p:sp>
        <p:nvSpPr>
          <p:cNvPr id="6" name="Shape 4"/>
          <p:cNvSpPr/>
          <p:nvPr/>
        </p:nvSpPr>
        <p:spPr>
          <a:xfrm>
            <a:off x="457200" y="5303520"/>
            <a:ext cx="1742389" cy="36576"/>
          </a:xfrm>
          <a:prstGeom prst="rect">
            <a:avLst/>
          </a:prstGeom>
          <a:solidFill>
            <a:srgbClr val="3A4A6A"/>
          </a:solidFill>
          <a:ln w="12700">
            <a:solidFill>
              <a:srgbClr val="3A4A6A"/>
            </a:solidFill>
            <a:prstDash val="solid"/>
          </a:ln>
        </p:spPr>
      </p:sp>
      <p:sp>
        <p:nvSpPr>
          <p:cNvPr id="7" name="Text 5"/>
          <p:cNvSpPr txBox="1"/>
          <p:nvPr/>
        </p:nvSpPr>
        <p:spPr>
          <a:xfrm>
            <a:off x="2336749"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B  </a:t>
            </a:r>
            <a:pPr indent="0" marL="0">
              <a:buNone/>
            </a:pPr>
            <a:r>
              <a:rPr lang="en-US" sz="1200" dirty="0">
                <a:solidFill>
                  <a:srgbClr val="8391A8"/>
                </a:solidFill>
                <a:latin typeface="Calibri" pitchFamily="34" charset="0"/>
                <a:ea typeface="Calibri" pitchFamily="34" charset="-122"/>
                <a:cs typeface="Calibri" pitchFamily="34" charset="-120"/>
              </a:rPr>
              <a:t>What we built</a:t>
            </a:r>
            <a:endParaRPr lang="en-US" sz="1200" dirty="0"/>
          </a:p>
        </p:txBody>
      </p:sp>
      <p:sp>
        <p:nvSpPr>
          <p:cNvPr id="8" name="Shape 6"/>
          <p:cNvSpPr/>
          <p:nvPr/>
        </p:nvSpPr>
        <p:spPr>
          <a:xfrm>
            <a:off x="2336749" y="5303520"/>
            <a:ext cx="1742389" cy="36576"/>
          </a:xfrm>
          <a:prstGeom prst="rect">
            <a:avLst/>
          </a:prstGeom>
          <a:solidFill>
            <a:srgbClr val="3A4A6A"/>
          </a:solidFill>
          <a:ln w="12700">
            <a:solidFill>
              <a:srgbClr val="3A4A6A"/>
            </a:solidFill>
            <a:prstDash val="solid"/>
          </a:ln>
        </p:spPr>
      </p:sp>
      <p:sp>
        <p:nvSpPr>
          <p:cNvPr id="9" name="Text 7"/>
          <p:cNvSpPr txBox="1"/>
          <p:nvPr/>
        </p:nvSpPr>
        <p:spPr>
          <a:xfrm>
            <a:off x="4216298" y="5394960"/>
            <a:ext cx="1788109"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C  </a:t>
            </a:r>
            <a:pPr indent="0" marL="0">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p>
        </p:txBody>
      </p:sp>
      <p:sp>
        <p:nvSpPr>
          <p:cNvPr id="10" name="Shape 8"/>
          <p:cNvSpPr/>
          <p:nvPr/>
        </p:nvSpPr>
        <p:spPr>
          <a:xfrm>
            <a:off x="4216298" y="5303520"/>
            <a:ext cx="1742389" cy="36576"/>
          </a:xfrm>
          <a:prstGeom prst="rect">
            <a:avLst/>
          </a:prstGeom>
          <a:solidFill>
            <a:srgbClr val="C8553D"/>
          </a:solidFill>
          <a:ln w="12700">
            <a:solidFill>
              <a:srgbClr val="C8553D"/>
            </a:solidFill>
            <a:prstDash val="solid"/>
          </a:ln>
        </p:spPr>
      </p:sp>
      <p:sp>
        <p:nvSpPr>
          <p:cNvPr id="11" name="Text 9"/>
          <p:cNvSpPr txBox="1"/>
          <p:nvPr/>
        </p:nvSpPr>
        <p:spPr>
          <a:xfrm>
            <a:off x="6095848"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D  </a:t>
            </a:r>
            <a:pPr indent="0" marL="0">
              <a:buNone/>
            </a:pPr>
            <a:r>
              <a:rPr lang="en-US" sz="1200" dirty="0">
                <a:solidFill>
                  <a:srgbClr val="8391A8"/>
                </a:solidFill>
                <a:latin typeface="Calibri" pitchFamily="34" charset="0"/>
                <a:ea typeface="Calibri" pitchFamily="34" charset="-122"/>
                <a:cs typeface="Calibri" pitchFamily="34" charset="-120"/>
              </a:rPr>
              <a:t>Evidence</a:t>
            </a:r>
            <a:endParaRPr lang="en-US" sz="1200" dirty="0"/>
          </a:p>
        </p:txBody>
      </p:sp>
      <p:sp>
        <p:nvSpPr>
          <p:cNvPr id="12" name="Shape 10"/>
          <p:cNvSpPr/>
          <p:nvPr/>
        </p:nvSpPr>
        <p:spPr>
          <a:xfrm>
            <a:off x="6095848" y="5303520"/>
            <a:ext cx="1742389" cy="36576"/>
          </a:xfrm>
          <a:prstGeom prst="rect">
            <a:avLst/>
          </a:prstGeom>
          <a:solidFill>
            <a:srgbClr val="3A4A6A"/>
          </a:solidFill>
          <a:ln w="12700">
            <a:solidFill>
              <a:srgbClr val="3A4A6A"/>
            </a:solidFill>
            <a:prstDash val="solid"/>
          </a:ln>
        </p:spPr>
      </p:sp>
      <p:sp>
        <p:nvSpPr>
          <p:cNvPr id="13" name="Text 11"/>
          <p:cNvSpPr txBox="1"/>
          <p:nvPr/>
        </p:nvSpPr>
        <p:spPr>
          <a:xfrm>
            <a:off x="7975397"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E  </a:t>
            </a:r>
            <a:pPr indent="0" marL="0">
              <a:buNone/>
            </a:pPr>
            <a:r>
              <a:rPr lang="en-US" sz="1200" dirty="0">
                <a:solidFill>
                  <a:srgbClr val="8391A8"/>
                </a:solidFill>
                <a:latin typeface="Calibri" pitchFamily="34" charset="0"/>
                <a:ea typeface="Calibri" pitchFamily="34" charset="-122"/>
                <a:cs typeface="Calibri" pitchFamily="34" charset="-120"/>
              </a:rPr>
              <a:t>What is not done</a:t>
            </a:r>
            <a:endParaRPr lang="en-US" sz="1200" dirty="0"/>
          </a:p>
        </p:txBody>
      </p:sp>
      <p:sp>
        <p:nvSpPr>
          <p:cNvPr id="14" name="Shape 12"/>
          <p:cNvSpPr/>
          <p:nvPr/>
        </p:nvSpPr>
        <p:spPr>
          <a:xfrm>
            <a:off x="7975397" y="5303520"/>
            <a:ext cx="1742389" cy="36576"/>
          </a:xfrm>
          <a:prstGeom prst="rect">
            <a:avLst/>
          </a:prstGeom>
          <a:solidFill>
            <a:srgbClr val="3A4A6A"/>
          </a:solidFill>
          <a:ln w="12700">
            <a:solidFill>
              <a:srgbClr val="3A4A6A"/>
            </a:solidFill>
            <a:prstDash val="solid"/>
          </a:ln>
        </p:spPr>
      </p:sp>
      <p:sp>
        <p:nvSpPr>
          <p:cNvPr id="15" name="Text 13"/>
          <p:cNvSpPr txBox="1"/>
          <p:nvPr/>
        </p:nvSpPr>
        <p:spPr>
          <a:xfrm>
            <a:off x="9854946"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F  </a:t>
            </a:r>
            <a:pPr indent="0" marL="0">
              <a:buNone/>
            </a:pPr>
            <a:r>
              <a:rPr lang="en-US" sz="1200" dirty="0">
                <a:solidFill>
                  <a:srgbClr val="8391A8"/>
                </a:solidFill>
                <a:latin typeface="Calibri" pitchFamily="34" charset="0"/>
                <a:ea typeface="Calibri" pitchFamily="34" charset="-122"/>
                <a:cs typeface="Calibri" pitchFamily="34" charset="-120"/>
              </a:rPr>
              <a:t>Road to production</a:t>
            </a:r>
            <a:endParaRPr lang="en-US" sz="1200" dirty="0"/>
          </a:p>
        </p:txBody>
      </p:sp>
      <p:sp>
        <p:nvSpPr>
          <p:cNvPr id="16" name="Shape 14"/>
          <p:cNvSpPr/>
          <p:nvPr/>
        </p:nvSpPr>
        <p:spPr>
          <a:xfrm>
            <a:off x="9854946" y="5303520"/>
            <a:ext cx="1742389" cy="36576"/>
          </a:xfrm>
          <a:prstGeom prst="rect">
            <a:avLst/>
          </a:prstGeom>
          <a:solidFill>
            <a:srgbClr val="3A4A6A"/>
          </a:solidFill>
          <a:ln w="12700">
            <a:solidFill>
              <a:srgbClr val="3A4A6A"/>
            </a:solidFill>
            <a:prstDash val="solid"/>
          </a:ln>
        </p:spPr>
      </p:sp>
      <p:sp>
        <p:nvSpPr>
          <p:cNvPr id="17" name="Text 15"/>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C9D3E3"/>
                </a:solidFill>
                <a:latin typeface="Calibri" pitchFamily="34" charset="0"/>
                <a:ea typeface="Calibri" pitchFamily="34" charset="-122"/>
                <a:cs typeface="Calibri" pitchFamily="34" charset="-120"/>
              </a:rPr>
              <a:t>Consilium  |  </a:t>
            </a:r>
            <a:pPr algn="r" indent="0" marL="0">
              <a:buNone/>
            </a:pPr>
            <a:r>
              <a:rPr lang="en-US" sz="900" b="1" dirty="0">
                <a:solidFill>
                  <a:srgbClr val="FFFFFF"/>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C  ·  HOW IT WORKS</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One journey, from forming a committee to proving a year later what happened, runs on one set of records</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 docs/delivery/REQUIREMENTS-COVERAGE.md §3 (demonstration records on the rebuilt demo site, queried 18 Sep 2026); docs/guides/ chapters 3–5.</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20</a:t>
            </a:r>
            <a:endParaRPr lang="en-US" sz="900" dirty="0"/>
          </a:p>
        </p:txBody>
      </p:sp>
      <p:sp>
        <p:nvSpPr>
          <p:cNvPr id="7" name="Shape 4"/>
          <p:cNvSpPr/>
          <p:nvPr/>
        </p:nvSpPr>
        <p:spPr>
          <a:xfrm>
            <a:off x="457200" y="1645920"/>
            <a:ext cx="1833829" cy="685800"/>
          </a:xfrm>
          <a:prstGeom prst="homePlate">
            <a:avLst/>
          </a:prstGeom>
          <a:solidFill>
            <a:srgbClr val="14213D"/>
          </a:solidFill>
          <a:ln w="12700">
            <a:solidFill>
              <a:srgbClr val="FFFFFF"/>
            </a:solidFill>
            <a:prstDash val="solid"/>
          </a:ln>
        </p:spPr>
      </p:sp>
      <p:sp>
        <p:nvSpPr>
          <p:cNvPr id="8" name="Text 5"/>
          <p:cNvSpPr txBox="1"/>
          <p:nvPr/>
        </p:nvSpPr>
        <p:spPr>
          <a:xfrm>
            <a:off x="530352" y="1645920"/>
            <a:ext cx="1399489"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  Form a forum</a:t>
            </a:r>
            <a:endParaRPr lang="en-US" sz="1150" dirty="0"/>
          </a:p>
        </p:txBody>
      </p:sp>
      <p:sp>
        <p:nvSpPr>
          <p:cNvPr id="9" name="Shape 6"/>
          <p:cNvSpPr/>
          <p:nvPr/>
        </p:nvSpPr>
        <p:spPr>
          <a:xfrm>
            <a:off x="2345893" y="1645920"/>
            <a:ext cx="1833829" cy="685800"/>
          </a:xfrm>
          <a:prstGeom prst="chevron">
            <a:avLst/>
          </a:prstGeom>
          <a:solidFill>
            <a:srgbClr val="14213D"/>
          </a:solidFill>
          <a:ln w="12700">
            <a:solidFill>
              <a:srgbClr val="FFFFFF"/>
            </a:solidFill>
            <a:prstDash val="solid"/>
          </a:ln>
        </p:spPr>
      </p:sp>
      <p:sp>
        <p:nvSpPr>
          <p:cNvPr id="10" name="Text 7"/>
          <p:cNvSpPr txBox="1"/>
          <p:nvPr/>
        </p:nvSpPr>
        <p:spPr>
          <a:xfrm>
            <a:off x="2707081" y="1645920"/>
            <a:ext cx="1111453"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  Review compliance</a:t>
            </a:r>
            <a:endParaRPr lang="en-US" sz="1150" dirty="0"/>
          </a:p>
        </p:txBody>
      </p:sp>
      <p:sp>
        <p:nvSpPr>
          <p:cNvPr id="11" name="Shape 8"/>
          <p:cNvSpPr/>
          <p:nvPr/>
        </p:nvSpPr>
        <p:spPr>
          <a:xfrm>
            <a:off x="4234586" y="1645920"/>
            <a:ext cx="1833829" cy="685800"/>
          </a:xfrm>
          <a:prstGeom prst="chevron">
            <a:avLst/>
          </a:prstGeom>
          <a:solidFill>
            <a:srgbClr val="14213D"/>
          </a:solidFill>
          <a:ln w="12700">
            <a:solidFill>
              <a:srgbClr val="FFFFFF"/>
            </a:solidFill>
            <a:prstDash val="solid"/>
          </a:ln>
        </p:spPr>
      </p:sp>
      <p:sp>
        <p:nvSpPr>
          <p:cNvPr id="12" name="Text 9"/>
          <p:cNvSpPr txBox="1"/>
          <p:nvPr/>
        </p:nvSpPr>
        <p:spPr>
          <a:xfrm>
            <a:off x="4595774" y="1645920"/>
            <a:ext cx="1111453"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  Run the policy lifecycle</a:t>
            </a:r>
            <a:endParaRPr lang="en-US" sz="1150" dirty="0"/>
          </a:p>
        </p:txBody>
      </p:sp>
      <p:sp>
        <p:nvSpPr>
          <p:cNvPr id="13" name="Shape 10"/>
          <p:cNvSpPr/>
          <p:nvPr/>
        </p:nvSpPr>
        <p:spPr>
          <a:xfrm>
            <a:off x="6123280" y="1645920"/>
            <a:ext cx="1833829" cy="685800"/>
          </a:xfrm>
          <a:prstGeom prst="chevron">
            <a:avLst/>
          </a:prstGeom>
          <a:solidFill>
            <a:srgbClr val="14213D"/>
          </a:solidFill>
          <a:ln w="12700">
            <a:solidFill>
              <a:srgbClr val="FFFFFF"/>
            </a:solidFill>
            <a:prstDash val="solid"/>
          </a:ln>
        </p:spPr>
      </p:sp>
      <p:sp>
        <p:nvSpPr>
          <p:cNvPr id="14" name="Text 11"/>
          <p:cNvSpPr txBox="1"/>
          <p:nvPr/>
        </p:nvSpPr>
        <p:spPr>
          <a:xfrm>
            <a:off x="6484468" y="1645920"/>
            <a:ext cx="1111453"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  Escalate an issue</a:t>
            </a:r>
            <a:endParaRPr lang="en-US" sz="1150" dirty="0"/>
          </a:p>
        </p:txBody>
      </p:sp>
      <p:sp>
        <p:nvSpPr>
          <p:cNvPr id="15" name="Shape 12"/>
          <p:cNvSpPr/>
          <p:nvPr/>
        </p:nvSpPr>
        <p:spPr>
          <a:xfrm>
            <a:off x="8011973" y="1645920"/>
            <a:ext cx="1833829" cy="685800"/>
          </a:xfrm>
          <a:prstGeom prst="chevron">
            <a:avLst/>
          </a:prstGeom>
          <a:solidFill>
            <a:srgbClr val="14213D"/>
          </a:solidFill>
          <a:ln w="12700">
            <a:solidFill>
              <a:srgbClr val="FFFFFF"/>
            </a:solidFill>
            <a:prstDash val="solid"/>
          </a:ln>
        </p:spPr>
      </p:sp>
      <p:sp>
        <p:nvSpPr>
          <p:cNvPr id="16" name="Text 13"/>
          <p:cNvSpPr txBox="1"/>
          <p:nvPr/>
        </p:nvSpPr>
        <p:spPr>
          <a:xfrm>
            <a:off x="8373161" y="1645920"/>
            <a:ext cx="1111453"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  Close with evidence</a:t>
            </a:r>
            <a:endParaRPr lang="en-US" sz="1150" dirty="0"/>
          </a:p>
        </p:txBody>
      </p:sp>
      <p:sp>
        <p:nvSpPr>
          <p:cNvPr id="17" name="Shape 14"/>
          <p:cNvSpPr/>
          <p:nvPr/>
        </p:nvSpPr>
        <p:spPr>
          <a:xfrm>
            <a:off x="9900666" y="1645920"/>
            <a:ext cx="1833829" cy="685800"/>
          </a:xfrm>
          <a:prstGeom prst="chevron">
            <a:avLst/>
          </a:prstGeom>
          <a:solidFill>
            <a:srgbClr val="14213D"/>
          </a:solidFill>
          <a:ln w="12700">
            <a:solidFill>
              <a:srgbClr val="FFFFFF"/>
            </a:solidFill>
            <a:prstDash val="solid"/>
          </a:ln>
        </p:spPr>
      </p:sp>
      <p:sp>
        <p:nvSpPr>
          <p:cNvPr id="18" name="Text 15"/>
          <p:cNvSpPr txBox="1"/>
          <p:nvPr/>
        </p:nvSpPr>
        <p:spPr>
          <a:xfrm>
            <a:off x="10261854" y="1645920"/>
            <a:ext cx="1111453"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  Audit as at any date</a:t>
            </a:r>
            <a:endParaRPr lang="en-US" sz="1150" dirty="0"/>
          </a:p>
        </p:txBody>
      </p:sp>
      <p:sp>
        <p:nvSpPr>
          <p:cNvPr id="19" name="Shape 16"/>
          <p:cNvSpPr/>
          <p:nvPr/>
        </p:nvSpPr>
        <p:spPr>
          <a:xfrm>
            <a:off x="457200" y="2468880"/>
            <a:ext cx="1797253" cy="3657600"/>
          </a:xfrm>
          <a:prstGeom prst="rect">
            <a:avLst/>
          </a:prstGeom>
          <a:solidFill>
            <a:srgbClr val="F2F4F7"/>
          </a:solidFill>
          <a:ln w="12700">
            <a:solidFill>
              <a:srgbClr val="F2F4F7"/>
            </a:solidFill>
            <a:prstDash val="solid"/>
          </a:ln>
        </p:spPr>
      </p:sp>
      <p:sp>
        <p:nvSpPr>
          <p:cNvPr id="20" name="Text 17"/>
          <p:cNvSpPr txBox="1"/>
          <p:nvPr/>
        </p:nvSpPr>
        <p:spPr>
          <a:xfrm>
            <a:off x="566928" y="2560320"/>
            <a:ext cx="1577797" cy="228600"/>
          </a:xfrm>
          <a:prstGeom prst="rect">
            <a:avLst/>
          </a:prstGeom>
          <a:noFill/>
          <a:ln/>
        </p:spPr>
        <p:txBody>
          <a:bodyPr wrap="square" lIns="0" tIns="0" rIns="0" bIns="0" rtlCol="0" anchor="t"/>
          <a:lstStyle/>
          <a:p>
            <a:pPr algn="l" indent="0" marL="0">
              <a:buNone/>
            </a:pPr>
            <a:r>
              <a:rPr lang="en-US" sz="900" b="1" dirty="0">
                <a:solidFill>
                  <a:srgbClr val="6B7380"/>
                </a:solidFill>
                <a:latin typeface="Calibri" pitchFamily="34" charset="0"/>
                <a:ea typeface="Calibri" pitchFamily="34" charset="-122"/>
                <a:cs typeface="Calibri" pitchFamily="34" charset="-120"/>
              </a:rPr>
              <a:t>WHAT HAPPENS</a:t>
            </a:r>
            <a:endParaRPr lang="en-US" sz="900" dirty="0"/>
          </a:p>
        </p:txBody>
      </p:sp>
      <p:sp>
        <p:nvSpPr>
          <p:cNvPr id="21" name="Text 18"/>
          <p:cNvSpPr txBox="1"/>
          <p:nvPr/>
        </p:nvSpPr>
        <p:spPr>
          <a:xfrm>
            <a:off x="566928" y="2788920"/>
            <a:ext cx="1577797" cy="914400"/>
          </a:xfrm>
          <a:prstGeom prst="rect">
            <a:avLst/>
          </a:prstGeom>
          <a:noFill/>
          <a:ln/>
        </p:spPr>
        <p:txBody>
          <a:bodyPr wrap="square" lIns="0" tIns="0" rIns="0" bIns="0" rtlCol="0" anchor="t"/>
          <a:lstStyle/>
          <a:p>
            <a:pPr algn="l" indent="0" marL="0">
              <a:buNone/>
            </a:pPr>
            <a:r>
              <a:rPr lang="en-US" sz="1100" dirty="0">
                <a:solidFill>
                  <a:srgbClr val="2A2F36"/>
                </a:solidFill>
                <a:latin typeface="Calibri" pitchFamily="34" charset="0"/>
                <a:ea typeface="Calibri" pitchFamily="34" charset="-122"/>
                <a:cs typeface="Calibri" pitchFamily="34" charset="-120"/>
              </a:rPr>
              <a:t>Request evaluated on five criteria, approval steps from a configured route; approval creates a draft forum</a:t>
            </a:r>
            <a:endParaRPr lang="en-US" sz="1100" dirty="0"/>
          </a:p>
        </p:txBody>
      </p:sp>
      <p:sp>
        <p:nvSpPr>
          <p:cNvPr id="22" name="Text 19"/>
          <p:cNvSpPr txBox="1"/>
          <p:nvPr/>
        </p:nvSpPr>
        <p:spPr>
          <a:xfrm>
            <a:off x="566928" y="3749040"/>
            <a:ext cx="1577797" cy="228600"/>
          </a:xfrm>
          <a:prstGeom prst="rect">
            <a:avLst/>
          </a:prstGeom>
          <a:noFill/>
          <a:ln/>
        </p:spPr>
        <p:txBody>
          <a:bodyPr wrap="square" lIns="0" tIns="0" rIns="0" bIns="0" rtlCol="0" anchor="t"/>
          <a:lstStyle/>
          <a:p>
            <a:pPr algn="l" indent="0" marL="0">
              <a:buNone/>
            </a:pPr>
            <a:r>
              <a:rPr lang="en-US" sz="900" b="1" dirty="0">
                <a:solidFill>
                  <a:srgbClr val="6B7380"/>
                </a:solidFill>
                <a:latin typeface="Calibri" pitchFamily="34" charset="0"/>
                <a:ea typeface="Calibri" pitchFamily="34" charset="-122"/>
                <a:cs typeface="Calibri" pitchFamily="34" charset="-120"/>
              </a:rPr>
              <a:t>DEMO RECORD</a:t>
            </a:r>
            <a:endParaRPr lang="en-US" sz="900" dirty="0"/>
          </a:p>
        </p:txBody>
      </p:sp>
      <p:sp>
        <p:nvSpPr>
          <p:cNvPr id="23" name="Text 20"/>
          <p:cNvSpPr txBox="1"/>
          <p:nvPr/>
        </p:nvSpPr>
        <p:spPr>
          <a:xfrm>
            <a:off x="566928" y="3977640"/>
            <a:ext cx="1577797" cy="914400"/>
          </a:xfrm>
          <a:prstGeom prst="rect">
            <a:avLst/>
          </a:prstGeom>
          <a:noFill/>
          <a:ln/>
        </p:spPr>
        <p:txBody>
          <a:bodyPr wrap="square" lIns="0" tIns="0" rIns="0" bIns="0" rtlCol="0" anchor="t"/>
          <a:lstStyle/>
          <a:p>
            <a:pPr algn="l" indent="0" marL="0">
              <a:buNone/>
            </a:pPr>
            <a:r>
              <a:rPr lang="en-US" sz="1100" dirty="0">
                <a:solidFill>
                  <a:srgbClr val="2A2F36"/>
                </a:solidFill>
                <a:latin typeface="Calibri" pitchFamily="34" charset="0"/>
                <a:ea typeface="Calibri" pitchFamily="34" charset="-122"/>
                <a:cs typeface="Calibri" pitchFamily="34" charset="-120"/>
              </a:rPr>
              <a:t>CFR-2026-00001 → FRM-2026-00014 Data Governance Council</a:t>
            </a:r>
            <a:endParaRPr lang="en-US" sz="1100" dirty="0"/>
          </a:p>
        </p:txBody>
      </p:sp>
      <p:sp>
        <p:nvSpPr>
          <p:cNvPr id="24" name="Text 21"/>
          <p:cNvSpPr txBox="1"/>
          <p:nvPr/>
        </p:nvSpPr>
        <p:spPr>
          <a:xfrm>
            <a:off x="566928" y="4937760"/>
            <a:ext cx="1577797" cy="228600"/>
          </a:xfrm>
          <a:prstGeom prst="rect">
            <a:avLst/>
          </a:prstGeom>
          <a:noFill/>
          <a:ln/>
        </p:spPr>
        <p:txBody>
          <a:bodyPr wrap="square" lIns="0" tIns="0" rIns="0" bIns="0" rtlCol="0" anchor="t"/>
          <a:lstStyle/>
          <a:p>
            <a:pPr algn="l" indent="0" marL="0">
              <a:buNone/>
            </a:pPr>
            <a:r>
              <a:rPr lang="en-US" sz="900" b="1" dirty="0">
                <a:solidFill>
                  <a:srgbClr val="C8553D"/>
                </a:solidFill>
                <a:latin typeface="Calibri" pitchFamily="34" charset="0"/>
                <a:ea typeface="Calibri" pitchFamily="34" charset="-122"/>
                <a:cs typeface="Calibri" pitchFamily="34" charset="-120"/>
              </a:rPr>
              <a:t>CONTROL</a:t>
            </a:r>
            <a:endParaRPr lang="en-US" sz="900" dirty="0"/>
          </a:p>
        </p:txBody>
      </p:sp>
      <p:sp>
        <p:nvSpPr>
          <p:cNvPr id="25" name="Text 22"/>
          <p:cNvSpPr txBox="1"/>
          <p:nvPr/>
        </p:nvSpPr>
        <p:spPr>
          <a:xfrm>
            <a:off x="566928" y="5166360"/>
            <a:ext cx="1577797" cy="914400"/>
          </a:xfrm>
          <a:prstGeom prst="rect">
            <a:avLst/>
          </a:prstGeom>
          <a:noFill/>
          <a:ln/>
        </p:spPr>
        <p:txBody>
          <a:bodyPr wrap="square" lIns="0" tIns="0" rIns="0" bIns="0" rtlCol="0" anchor="t"/>
          <a:lstStyle/>
          <a:p>
            <a:pPr algn="l" indent="0" marL="0">
              <a:buNone/>
            </a:pPr>
            <a:r>
              <a:rPr lang="en-US" sz="1100" b="1" dirty="0">
                <a:solidFill>
                  <a:srgbClr val="14213D"/>
                </a:solidFill>
                <a:latin typeface="Calibri" pitchFamily="34" charset="0"/>
                <a:ea typeface="Calibri" pitchFamily="34" charset="-122"/>
                <a:cs typeface="Calibri" pitchFamily="34" charset="-120"/>
              </a:rPr>
              <a:t>Approve stays disabled until nothing blocks it</a:t>
            </a:r>
            <a:endParaRPr lang="en-US" sz="1100" dirty="0"/>
          </a:p>
        </p:txBody>
      </p:sp>
      <p:sp>
        <p:nvSpPr>
          <p:cNvPr id="26" name="Shape 23"/>
          <p:cNvSpPr/>
          <p:nvPr/>
        </p:nvSpPr>
        <p:spPr>
          <a:xfrm>
            <a:off x="2345893" y="2468880"/>
            <a:ext cx="1797253" cy="3657600"/>
          </a:xfrm>
          <a:prstGeom prst="rect">
            <a:avLst/>
          </a:prstGeom>
          <a:solidFill>
            <a:srgbClr val="F2F4F7"/>
          </a:solidFill>
          <a:ln w="12700">
            <a:solidFill>
              <a:srgbClr val="F2F4F7"/>
            </a:solidFill>
            <a:prstDash val="solid"/>
          </a:ln>
        </p:spPr>
      </p:sp>
      <p:sp>
        <p:nvSpPr>
          <p:cNvPr id="27" name="Text 24"/>
          <p:cNvSpPr txBox="1"/>
          <p:nvPr/>
        </p:nvSpPr>
        <p:spPr>
          <a:xfrm>
            <a:off x="2455621" y="2560320"/>
            <a:ext cx="1577797" cy="228600"/>
          </a:xfrm>
          <a:prstGeom prst="rect">
            <a:avLst/>
          </a:prstGeom>
          <a:noFill/>
          <a:ln/>
        </p:spPr>
        <p:txBody>
          <a:bodyPr wrap="square" lIns="0" tIns="0" rIns="0" bIns="0" rtlCol="0" anchor="t"/>
          <a:lstStyle/>
          <a:p>
            <a:pPr algn="l" indent="0" marL="0">
              <a:buNone/>
            </a:pPr>
            <a:r>
              <a:rPr lang="en-US" sz="900" b="1" dirty="0">
                <a:solidFill>
                  <a:srgbClr val="6B7380"/>
                </a:solidFill>
                <a:latin typeface="Calibri" pitchFamily="34" charset="0"/>
                <a:ea typeface="Calibri" pitchFamily="34" charset="-122"/>
                <a:cs typeface="Calibri" pitchFamily="34" charset="-120"/>
              </a:rPr>
              <a:t>WHAT HAPPENS</a:t>
            </a:r>
            <a:endParaRPr lang="en-US" sz="900" dirty="0"/>
          </a:p>
        </p:txBody>
      </p:sp>
      <p:sp>
        <p:nvSpPr>
          <p:cNvPr id="28" name="Text 25"/>
          <p:cNvSpPr txBox="1"/>
          <p:nvPr/>
        </p:nvSpPr>
        <p:spPr>
          <a:xfrm>
            <a:off x="2455621" y="2788920"/>
            <a:ext cx="1577797" cy="914400"/>
          </a:xfrm>
          <a:prstGeom prst="rect">
            <a:avLst/>
          </a:prstGeom>
          <a:noFill/>
          <a:ln/>
        </p:spPr>
        <p:txBody>
          <a:bodyPr wrap="square" lIns="0" tIns="0" rIns="0" bIns="0" rtlCol="0" anchor="t"/>
          <a:lstStyle/>
          <a:p>
            <a:pPr algn="l" indent="0" marL="0">
              <a:buNone/>
            </a:pPr>
            <a:r>
              <a:rPr lang="en-US" sz="1100" dirty="0">
                <a:solidFill>
                  <a:srgbClr val="2A2F36"/>
                </a:solidFill>
                <a:latin typeface="Calibri" pitchFamily="34" charset="0"/>
                <a:ea typeface="Calibri" pitchFamily="34" charset="-122"/>
                <a:cs typeface="Calibri" pitchFamily="34" charset="-120"/>
              </a:rPr>
              <a:t>Compliance reviewer records a decision; a change to a watched field reopens review</a:t>
            </a:r>
            <a:endParaRPr lang="en-US" sz="1100" dirty="0"/>
          </a:p>
        </p:txBody>
      </p:sp>
      <p:sp>
        <p:nvSpPr>
          <p:cNvPr id="29" name="Text 26"/>
          <p:cNvSpPr txBox="1"/>
          <p:nvPr/>
        </p:nvSpPr>
        <p:spPr>
          <a:xfrm>
            <a:off x="2455621" y="3749040"/>
            <a:ext cx="1577797" cy="228600"/>
          </a:xfrm>
          <a:prstGeom prst="rect">
            <a:avLst/>
          </a:prstGeom>
          <a:noFill/>
          <a:ln/>
        </p:spPr>
        <p:txBody>
          <a:bodyPr wrap="square" lIns="0" tIns="0" rIns="0" bIns="0" rtlCol="0" anchor="t"/>
          <a:lstStyle/>
          <a:p>
            <a:pPr algn="l" indent="0" marL="0">
              <a:buNone/>
            </a:pPr>
            <a:r>
              <a:rPr lang="en-US" sz="900" b="1" dirty="0">
                <a:solidFill>
                  <a:srgbClr val="6B7380"/>
                </a:solidFill>
                <a:latin typeface="Calibri" pitchFamily="34" charset="0"/>
                <a:ea typeface="Calibri" pitchFamily="34" charset="-122"/>
                <a:cs typeface="Calibri" pitchFamily="34" charset="-120"/>
              </a:rPr>
              <a:t>DEMO RECORD</a:t>
            </a:r>
            <a:endParaRPr lang="en-US" sz="900" dirty="0"/>
          </a:p>
        </p:txBody>
      </p:sp>
      <p:sp>
        <p:nvSpPr>
          <p:cNvPr id="30" name="Text 27"/>
          <p:cNvSpPr txBox="1"/>
          <p:nvPr/>
        </p:nvSpPr>
        <p:spPr>
          <a:xfrm>
            <a:off x="2455621" y="3977640"/>
            <a:ext cx="1577797" cy="914400"/>
          </a:xfrm>
          <a:prstGeom prst="rect">
            <a:avLst/>
          </a:prstGeom>
          <a:noFill/>
          <a:ln/>
        </p:spPr>
        <p:txBody>
          <a:bodyPr wrap="square" lIns="0" tIns="0" rIns="0" bIns="0" rtlCol="0" anchor="t"/>
          <a:lstStyle/>
          <a:p>
            <a:pPr algn="l" indent="0" marL="0">
              <a:buNone/>
            </a:pPr>
            <a:r>
              <a:rPr lang="en-US" sz="1100" dirty="0">
                <a:solidFill>
                  <a:srgbClr val="2A2F36"/>
                </a:solidFill>
                <a:latin typeface="Calibri" pitchFamily="34" charset="0"/>
                <a:ea typeface="Calibri" pitchFamily="34" charset="-122"/>
                <a:cs typeface="Calibri" pitchFamily="34" charset="-120"/>
              </a:rPr>
              <a:t>Operational Risk Committee: watched-field change → review FCR-2026-00006</a:t>
            </a:r>
            <a:endParaRPr lang="en-US" sz="1100" dirty="0"/>
          </a:p>
        </p:txBody>
      </p:sp>
      <p:sp>
        <p:nvSpPr>
          <p:cNvPr id="31" name="Text 28"/>
          <p:cNvSpPr txBox="1"/>
          <p:nvPr/>
        </p:nvSpPr>
        <p:spPr>
          <a:xfrm>
            <a:off x="2455621" y="4937760"/>
            <a:ext cx="1577797" cy="228600"/>
          </a:xfrm>
          <a:prstGeom prst="rect">
            <a:avLst/>
          </a:prstGeom>
          <a:noFill/>
          <a:ln/>
        </p:spPr>
        <p:txBody>
          <a:bodyPr wrap="square" lIns="0" tIns="0" rIns="0" bIns="0" rtlCol="0" anchor="t"/>
          <a:lstStyle/>
          <a:p>
            <a:pPr algn="l" indent="0" marL="0">
              <a:buNone/>
            </a:pPr>
            <a:r>
              <a:rPr lang="en-US" sz="900" b="1" dirty="0">
                <a:solidFill>
                  <a:srgbClr val="C8553D"/>
                </a:solidFill>
                <a:latin typeface="Calibri" pitchFamily="34" charset="0"/>
                <a:ea typeface="Calibri" pitchFamily="34" charset="-122"/>
                <a:cs typeface="Calibri" pitchFamily="34" charset="-120"/>
              </a:rPr>
              <a:t>CONTROL</a:t>
            </a:r>
            <a:endParaRPr lang="en-US" sz="900" dirty="0"/>
          </a:p>
        </p:txBody>
      </p:sp>
      <p:sp>
        <p:nvSpPr>
          <p:cNvPr id="32" name="Text 29"/>
          <p:cNvSpPr txBox="1"/>
          <p:nvPr/>
        </p:nvSpPr>
        <p:spPr>
          <a:xfrm>
            <a:off x="2455621" y="5166360"/>
            <a:ext cx="1577797" cy="914400"/>
          </a:xfrm>
          <a:prstGeom prst="rect">
            <a:avLst/>
          </a:prstGeom>
          <a:noFill/>
          <a:ln/>
        </p:spPr>
        <p:txBody>
          <a:bodyPr wrap="square" lIns="0" tIns="0" rIns="0" bIns="0" rtlCol="0" anchor="t"/>
          <a:lstStyle/>
          <a:p>
            <a:pPr algn="l" indent="0" marL="0">
              <a:buNone/>
            </a:pPr>
            <a:r>
              <a:rPr lang="en-US" sz="1100" b="1" dirty="0">
                <a:solidFill>
                  <a:srgbClr val="14213D"/>
                </a:solidFill>
                <a:latin typeface="Calibri" pitchFamily="34" charset="0"/>
                <a:ea typeface="Calibri" pitchFamily="34" charset="-122"/>
                <a:cs typeface="Calibri" pitchFamily="34" charset="-120"/>
              </a:rPr>
              <a:t>A review is its own record and cannot be edited</a:t>
            </a:r>
            <a:endParaRPr lang="en-US" sz="1100" dirty="0"/>
          </a:p>
        </p:txBody>
      </p:sp>
      <p:sp>
        <p:nvSpPr>
          <p:cNvPr id="33" name="Shape 30"/>
          <p:cNvSpPr/>
          <p:nvPr/>
        </p:nvSpPr>
        <p:spPr>
          <a:xfrm>
            <a:off x="4234586" y="2468880"/>
            <a:ext cx="1797253" cy="3657600"/>
          </a:xfrm>
          <a:prstGeom prst="rect">
            <a:avLst/>
          </a:prstGeom>
          <a:solidFill>
            <a:srgbClr val="F2F4F7"/>
          </a:solidFill>
          <a:ln w="12700">
            <a:solidFill>
              <a:srgbClr val="F2F4F7"/>
            </a:solidFill>
            <a:prstDash val="solid"/>
          </a:ln>
        </p:spPr>
      </p:sp>
      <p:sp>
        <p:nvSpPr>
          <p:cNvPr id="34" name="Text 31"/>
          <p:cNvSpPr txBox="1"/>
          <p:nvPr/>
        </p:nvSpPr>
        <p:spPr>
          <a:xfrm>
            <a:off x="4344314" y="2560320"/>
            <a:ext cx="1577797" cy="228600"/>
          </a:xfrm>
          <a:prstGeom prst="rect">
            <a:avLst/>
          </a:prstGeom>
          <a:noFill/>
          <a:ln/>
        </p:spPr>
        <p:txBody>
          <a:bodyPr wrap="square" lIns="0" tIns="0" rIns="0" bIns="0" rtlCol="0" anchor="t"/>
          <a:lstStyle/>
          <a:p>
            <a:pPr algn="l" indent="0" marL="0">
              <a:buNone/>
            </a:pPr>
            <a:r>
              <a:rPr lang="en-US" sz="900" b="1" dirty="0">
                <a:solidFill>
                  <a:srgbClr val="6B7380"/>
                </a:solidFill>
                <a:latin typeface="Calibri" pitchFamily="34" charset="0"/>
                <a:ea typeface="Calibri" pitchFamily="34" charset="-122"/>
                <a:cs typeface="Calibri" pitchFamily="34" charset="-120"/>
              </a:rPr>
              <a:t>WHAT HAPPENS</a:t>
            </a:r>
            <a:endParaRPr lang="en-US" sz="900" dirty="0"/>
          </a:p>
        </p:txBody>
      </p:sp>
      <p:sp>
        <p:nvSpPr>
          <p:cNvPr id="35" name="Text 32"/>
          <p:cNvSpPr txBox="1"/>
          <p:nvPr/>
        </p:nvSpPr>
        <p:spPr>
          <a:xfrm>
            <a:off x="4344314" y="2788920"/>
            <a:ext cx="1577797" cy="914400"/>
          </a:xfrm>
          <a:prstGeom prst="rect">
            <a:avLst/>
          </a:prstGeom>
          <a:noFill/>
          <a:ln/>
        </p:spPr>
        <p:txBody>
          <a:bodyPr wrap="square" lIns="0" tIns="0" rIns="0" bIns="0" rtlCol="0" anchor="t"/>
          <a:lstStyle/>
          <a:p>
            <a:pPr algn="l" indent="0" marL="0">
              <a:buNone/>
            </a:pPr>
            <a:r>
              <a:rPr lang="en-US" sz="1100" dirty="0">
                <a:solidFill>
                  <a:srgbClr val="2A2F36"/>
                </a:solidFill>
                <a:latin typeface="Calibri" pitchFamily="34" charset="0"/>
                <a:ea typeface="Calibri" pitchFamily="34" charset="-122"/>
                <a:cs typeface="Calibri" pitchFamily="34" charset="-120"/>
              </a:rPr>
              <a:t>Draft → Review → Approved → Published → Implemented → Retired</a:t>
            </a:r>
            <a:endParaRPr lang="en-US" sz="1100" dirty="0"/>
          </a:p>
        </p:txBody>
      </p:sp>
      <p:sp>
        <p:nvSpPr>
          <p:cNvPr id="36" name="Text 33"/>
          <p:cNvSpPr txBox="1"/>
          <p:nvPr/>
        </p:nvSpPr>
        <p:spPr>
          <a:xfrm>
            <a:off x="4344314" y="3749040"/>
            <a:ext cx="1577797" cy="228600"/>
          </a:xfrm>
          <a:prstGeom prst="rect">
            <a:avLst/>
          </a:prstGeom>
          <a:noFill/>
          <a:ln/>
        </p:spPr>
        <p:txBody>
          <a:bodyPr wrap="square" lIns="0" tIns="0" rIns="0" bIns="0" rtlCol="0" anchor="t"/>
          <a:lstStyle/>
          <a:p>
            <a:pPr algn="l" indent="0" marL="0">
              <a:buNone/>
            </a:pPr>
            <a:r>
              <a:rPr lang="en-US" sz="900" b="1" dirty="0">
                <a:solidFill>
                  <a:srgbClr val="6B7380"/>
                </a:solidFill>
                <a:latin typeface="Calibri" pitchFamily="34" charset="0"/>
                <a:ea typeface="Calibri" pitchFamily="34" charset="-122"/>
                <a:cs typeface="Calibri" pitchFamily="34" charset="-120"/>
              </a:rPr>
              <a:t>DEMO RECORD</a:t>
            </a:r>
            <a:endParaRPr lang="en-US" sz="900" dirty="0"/>
          </a:p>
        </p:txBody>
      </p:sp>
      <p:sp>
        <p:nvSpPr>
          <p:cNvPr id="37" name="Text 34"/>
          <p:cNvSpPr txBox="1"/>
          <p:nvPr/>
        </p:nvSpPr>
        <p:spPr>
          <a:xfrm>
            <a:off x="4344314" y="3977640"/>
            <a:ext cx="1577797" cy="914400"/>
          </a:xfrm>
          <a:prstGeom prst="rect">
            <a:avLst/>
          </a:prstGeom>
          <a:noFill/>
          <a:ln/>
        </p:spPr>
        <p:txBody>
          <a:bodyPr wrap="square" lIns="0" tIns="0" rIns="0" bIns="0" rtlCol="0" anchor="t"/>
          <a:lstStyle/>
          <a:p>
            <a:pPr algn="l" indent="0" marL="0">
              <a:buNone/>
            </a:pPr>
            <a:r>
              <a:rPr lang="en-US" sz="1100" dirty="0">
                <a:solidFill>
                  <a:srgbClr val="2A2F36"/>
                </a:solidFill>
                <a:latin typeface="Calibri" pitchFamily="34" charset="0"/>
                <a:ea typeface="Calibri" pitchFamily="34" charset="-122"/>
                <a:cs typeface="Calibri" pitchFamily="34" charset="-120"/>
              </a:rPr>
              <a:t>Risk Appetite Framework published after 2 approval decisions</a:t>
            </a:r>
            <a:endParaRPr lang="en-US" sz="1100" dirty="0"/>
          </a:p>
        </p:txBody>
      </p:sp>
      <p:sp>
        <p:nvSpPr>
          <p:cNvPr id="38" name="Text 35"/>
          <p:cNvSpPr txBox="1"/>
          <p:nvPr/>
        </p:nvSpPr>
        <p:spPr>
          <a:xfrm>
            <a:off x="4344314" y="4937760"/>
            <a:ext cx="1577797" cy="228600"/>
          </a:xfrm>
          <a:prstGeom prst="rect">
            <a:avLst/>
          </a:prstGeom>
          <a:noFill/>
          <a:ln/>
        </p:spPr>
        <p:txBody>
          <a:bodyPr wrap="square" lIns="0" tIns="0" rIns="0" bIns="0" rtlCol="0" anchor="t"/>
          <a:lstStyle/>
          <a:p>
            <a:pPr algn="l" indent="0" marL="0">
              <a:buNone/>
            </a:pPr>
            <a:r>
              <a:rPr lang="en-US" sz="900" b="1" dirty="0">
                <a:solidFill>
                  <a:srgbClr val="C8553D"/>
                </a:solidFill>
                <a:latin typeface="Calibri" pitchFamily="34" charset="0"/>
                <a:ea typeface="Calibri" pitchFamily="34" charset="-122"/>
                <a:cs typeface="Calibri" pitchFamily="34" charset="-120"/>
              </a:rPr>
              <a:t>CONTROL</a:t>
            </a:r>
            <a:endParaRPr lang="en-US" sz="900" dirty="0"/>
          </a:p>
        </p:txBody>
      </p:sp>
      <p:sp>
        <p:nvSpPr>
          <p:cNvPr id="39" name="Text 36"/>
          <p:cNvSpPr txBox="1"/>
          <p:nvPr/>
        </p:nvSpPr>
        <p:spPr>
          <a:xfrm>
            <a:off x="4344314" y="5166360"/>
            <a:ext cx="1577797" cy="914400"/>
          </a:xfrm>
          <a:prstGeom prst="rect">
            <a:avLst/>
          </a:prstGeom>
          <a:noFill/>
          <a:ln/>
        </p:spPr>
        <p:txBody>
          <a:bodyPr wrap="square" lIns="0" tIns="0" rIns="0" bIns="0" rtlCol="0" anchor="t"/>
          <a:lstStyle/>
          <a:p>
            <a:pPr algn="l" indent="0" marL="0">
              <a:buNone/>
            </a:pPr>
            <a:r>
              <a:rPr lang="en-US" sz="1100" b="1" dirty="0">
                <a:solidFill>
                  <a:srgbClr val="14213D"/>
                </a:solidFill>
                <a:latin typeface="Calibri" pitchFamily="34" charset="0"/>
                <a:ea typeface="Calibri" pitchFamily="34" charset="-122"/>
                <a:cs typeface="Calibri" pitchFamily="34" charset="-120"/>
              </a:rPr>
              <a:t>Gates on every route, including the one we found open</a:t>
            </a:r>
            <a:endParaRPr lang="en-US" sz="1100" dirty="0"/>
          </a:p>
        </p:txBody>
      </p:sp>
      <p:sp>
        <p:nvSpPr>
          <p:cNvPr id="40" name="Shape 37"/>
          <p:cNvSpPr/>
          <p:nvPr/>
        </p:nvSpPr>
        <p:spPr>
          <a:xfrm>
            <a:off x="6123280" y="2468880"/>
            <a:ext cx="1797253" cy="3657600"/>
          </a:xfrm>
          <a:prstGeom prst="rect">
            <a:avLst/>
          </a:prstGeom>
          <a:solidFill>
            <a:srgbClr val="F2F4F7"/>
          </a:solidFill>
          <a:ln w="12700">
            <a:solidFill>
              <a:srgbClr val="F2F4F7"/>
            </a:solidFill>
            <a:prstDash val="solid"/>
          </a:ln>
        </p:spPr>
      </p:sp>
      <p:sp>
        <p:nvSpPr>
          <p:cNvPr id="41" name="Text 38"/>
          <p:cNvSpPr txBox="1"/>
          <p:nvPr/>
        </p:nvSpPr>
        <p:spPr>
          <a:xfrm>
            <a:off x="6233008" y="2560320"/>
            <a:ext cx="1577797" cy="228600"/>
          </a:xfrm>
          <a:prstGeom prst="rect">
            <a:avLst/>
          </a:prstGeom>
          <a:noFill/>
          <a:ln/>
        </p:spPr>
        <p:txBody>
          <a:bodyPr wrap="square" lIns="0" tIns="0" rIns="0" bIns="0" rtlCol="0" anchor="t"/>
          <a:lstStyle/>
          <a:p>
            <a:pPr algn="l" indent="0" marL="0">
              <a:buNone/>
            </a:pPr>
            <a:r>
              <a:rPr lang="en-US" sz="900" b="1" dirty="0">
                <a:solidFill>
                  <a:srgbClr val="6B7380"/>
                </a:solidFill>
                <a:latin typeface="Calibri" pitchFamily="34" charset="0"/>
                <a:ea typeface="Calibri" pitchFamily="34" charset="-122"/>
                <a:cs typeface="Calibri" pitchFamily="34" charset="-120"/>
              </a:rPr>
              <a:t>WHAT HAPPENS</a:t>
            </a:r>
            <a:endParaRPr lang="en-US" sz="900" dirty="0"/>
          </a:p>
        </p:txBody>
      </p:sp>
      <p:sp>
        <p:nvSpPr>
          <p:cNvPr id="42" name="Text 39"/>
          <p:cNvSpPr txBox="1"/>
          <p:nvPr/>
        </p:nvSpPr>
        <p:spPr>
          <a:xfrm>
            <a:off x="6233008" y="2788920"/>
            <a:ext cx="1577797" cy="914400"/>
          </a:xfrm>
          <a:prstGeom prst="rect">
            <a:avLst/>
          </a:prstGeom>
          <a:noFill/>
          <a:ln/>
        </p:spPr>
        <p:txBody>
          <a:bodyPr wrap="square" lIns="0" tIns="0" rIns="0" bIns="0" rtlCol="0" anchor="t"/>
          <a:lstStyle/>
          <a:p>
            <a:pPr algn="l" indent="0" marL="0">
              <a:buNone/>
            </a:pPr>
            <a:r>
              <a:rPr lang="en-US" sz="1100" dirty="0">
                <a:solidFill>
                  <a:srgbClr val="2A2F36"/>
                </a:solidFill>
                <a:latin typeface="Calibri" pitchFamily="34" charset="0"/>
                <a:ea typeface="Calibri" pitchFamily="34" charset="-122"/>
                <a:cs typeface="Calibri" pitchFamily="34" charset="-120"/>
              </a:rPr>
              <a:t>Matrix sets severity and pathway; time limits run</a:t>
            </a:r>
            <a:endParaRPr lang="en-US" sz="1100" dirty="0"/>
          </a:p>
        </p:txBody>
      </p:sp>
      <p:sp>
        <p:nvSpPr>
          <p:cNvPr id="43" name="Text 40"/>
          <p:cNvSpPr txBox="1"/>
          <p:nvPr/>
        </p:nvSpPr>
        <p:spPr>
          <a:xfrm>
            <a:off x="6233008" y="3749040"/>
            <a:ext cx="1577797" cy="228600"/>
          </a:xfrm>
          <a:prstGeom prst="rect">
            <a:avLst/>
          </a:prstGeom>
          <a:noFill/>
          <a:ln/>
        </p:spPr>
        <p:txBody>
          <a:bodyPr wrap="square" lIns="0" tIns="0" rIns="0" bIns="0" rtlCol="0" anchor="t"/>
          <a:lstStyle/>
          <a:p>
            <a:pPr algn="l" indent="0" marL="0">
              <a:buNone/>
            </a:pPr>
            <a:r>
              <a:rPr lang="en-US" sz="900" b="1" dirty="0">
                <a:solidFill>
                  <a:srgbClr val="6B7380"/>
                </a:solidFill>
                <a:latin typeface="Calibri" pitchFamily="34" charset="0"/>
                <a:ea typeface="Calibri" pitchFamily="34" charset="-122"/>
                <a:cs typeface="Calibri" pitchFamily="34" charset="-120"/>
              </a:rPr>
              <a:t>DEMO RECORD</a:t>
            </a:r>
            <a:endParaRPr lang="en-US" sz="900" dirty="0"/>
          </a:p>
        </p:txBody>
      </p:sp>
      <p:sp>
        <p:nvSpPr>
          <p:cNvPr id="44" name="Text 41"/>
          <p:cNvSpPr txBox="1"/>
          <p:nvPr/>
        </p:nvSpPr>
        <p:spPr>
          <a:xfrm>
            <a:off x="6233008" y="3977640"/>
            <a:ext cx="1577797" cy="914400"/>
          </a:xfrm>
          <a:prstGeom prst="rect">
            <a:avLst/>
          </a:prstGeom>
          <a:noFill/>
          <a:ln/>
        </p:spPr>
        <p:txBody>
          <a:bodyPr wrap="square" lIns="0" tIns="0" rIns="0" bIns="0" rtlCol="0" anchor="t"/>
          <a:lstStyle/>
          <a:p>
            <a:pPr algn="l" indent="0" marL="0">
              <a:buNone/>
            </a:pPr>
            <a:r>
              <a:rPr lang="en-US" sz="1100" dirty="0">
                <a:solidFill>
                  <a:srgbClr val="2A2F36"/>
                </a:solidFill>
                <a:latin typeface="Calibri" pitchFamily="34" charset="0"/>
                <a:ea typeface="Calibri" pitchFamily="34" charset="-122"/>
                <a:cs typeface="Calibri" pitchFamily="34" charset="-120"/>
              </a:rPr>
              <a:t>ESC-2026-00007: severity High, breached 31 Jul 2026, raised</a:t>
            </a:r>
            <a:endParaRPr lang="en-US" sz="1100" dirty="0"/>
          </a:p>
        </p:txBody>
      </p:sp>
      <p:sp>
        <p:nvSpPr>
          <p:cNvPr id="45" name="Text 42"/>
          <p:cNvSpPr txBox="1"/>
          <p:nvPr/>
        </p:nvSpPr>
        <p:spPr>
          <a:xfrm>
            <a:off x="6233008" y="4937760"/>
            <a:ext cx="1577797" cy="228600"/>
          </a:xfrm>
          <a:prstGeom prst="rect">
            <a:avLst/>
          </a:prstGeom>
          <a:noFill/>
          <a:ln/>
        </p:spPr>
        <p:txBody>
          <a:bodyPr wrap="square" lIns="0" tIns="0" rIns="0" bIns="0" rtlCol="0" anchor="t"/>
          <a:lstStyle/>
          <a:p>
            <a:pPr algn="l" indent="0" marL="0">
              <a:buNone/>
            </a:pPr>
            <a:r>
              <a:rPr lang="en-US" sz="900" b="1" dirty="0">
                <a:solidFill>
                  <a:srgbClr val="C8553D"/>
                </a:solidFill>
                <a:latin typeface="Calibri" pitchFamily="34" charset="0"/>
                <a:ea typeface="Calibri" pitchFamily="34" charset="-122"/>
                <a:cs typeface="Calibri" pitchFamily="34" charset="-120"/>
              </a:rPr>
              <a:t>CONTROL</a:t>
            </a:r>
            <a:endParaRPr lang="en-US" sz="900" dirty="0"/>
          </a:p>
        </p:txBody>
      </p:sp>
      <p:sp>
        <p:nvSpPr>
          <p:cNvPr id="46" name="Text 43"/>
          <p:cNvSpPr txBox="1"/>
          <p:nvPr/>
        </p:nvSpPr>
        <p:spPr>
          <a:xfrm>
            <a:off x="6233008" y="5166360"/>
            <a:ext cx="1577797" cy="914400"/>
          </a:xfrm>
          <a:prstGeom prst="rect">
            <a:avLst/>
          </a:prstGeom>
          <a:noFill/>
          <a:ln/>
        </p:spPr>
        <p:txBody>
          <a:bodyPr wrap="square" lIns="0" tIns="0" rIns="0" bIns="0" rtlCol="0" anchor="t"/>
          <a:lstStyle/>
          <a:p>
            <a:pPr algn="l" indent="0" marL="0">
              <a:buNone/>
            </a:pPr>
            <a:r>
              <a:rPr lang="en-US" sz="1100" b="1" dirty="0">
                <a:solidFill>
                  <a:srgbClr val="14213D"/>
                </a:solidFill>
                <a:latin typeface="Calibri" pitchFamily="34" charset="0"/>
                <a:ea typeface="Calibri" pitchFamily="34" charset="-122"/>
                <a:cs typeface="Calibri" pitchFamily="34" charset="-120"/>
              </a:rPr>
              <a:t>Sensitive matters invisible to anyone not cleared</a:t>
            </a:r>
            <a:endParaRPr lang="en-US" sz="1100" dirty="0"/>
          </a:p>
        </p:txBody>
      </p:sp>
      <p:sp>
        <p:nvSpPr>
          <p:cNvPr id="47" name="Shape 44"/>
          <p:cNvSpPr/>
          <p:nvPr/>
        </p:nvSpPr>
        <p:spPr>
          <a:xfrm>
            <a:off x="8011973" y="2468880"/>
            <a:ext cx="1797253" cy="3657600"/>
          </a:xfrm>
          <a:prstGeom prst="rect">
            <a:avLst/>
          </a:prstGeom>
          <a:solidFill>
            <a:srgbClr val="F2F4F7"/>
          </a:solidFill>
          <a:ln w="12700">
            <a:solidFill>
              <a:srgbClr val="F2F4F7"/>
            </a:solidFill>
            <a:prstDash val="solid"/>
          </a:ln>
        </p:spPr>
      </p:sp>
      <p:sp>
        <p:nvSpPr>
          <p:cNvPr id="48" name="Text 45"/>
          <p:cNvSpPr txBox="1"/>
          <p:nvPr/>
        </p:nvSpPr>
        <p:spPr>
          <a:xfrm>
            <a:off x="8121701" y="2560320"/>
            <a:ext cx="1577797" cy="228600"/>
          </a:xfrm>
          <a:prstGeom prst="rect">
            <a:avLst/>
          </a:prstGeom>
          <a:noFill/>
          <a:ln/>
        </p:spPr>
        <p:txBody>
          <a:bodyPr wrap="square" lIns="0" tIns="0" rIns="0" bIns="0" rtlCol="0" anchor="t"/>
          <a:lstStyle/>
          <a:p>
            <a:pPr algn="l" indent="0" marL="0">
              <a:buNone/>
            </a:pPr>
            <a:r>
              <a:rPr lang="en-US" sz="900" b="1" dirty="0">
                <a:solidFill>
                  <a:srgbClr val="6B7380"/>
                </a:solidFill>
                <a:latin typeface="Calibri" pitchFamily="34" charset="0"/>
                <a:ea typeface="Calibri" pitchFamily="34" charset="-122"/>
                <a:cs typeface="Calibri" pitchFamily="34" charset="-120"/>
              </a:rPr>
              <a:t>WHAT HAPPENS</a:t>
            </a:r>
            <a:endParaRPr lang="en-US" sz="900" dirty="0"/>
          </a:p>
        </p:txBody>
      </p:sp>
      <p:sp>
        <p:nvSpPr>
          <p:cNvPr id="49" name="Text 46"/>
          <p:cNvSpPr txBox="1"/>
          <p:nvPr/>
        </p:nvSpPr>
        <p:spPr>
          <a:xfrm>
            <a:off x="8121701" y="2788920"/>
            <a:ext cx="1577797" cy="914400"/>
          </a:xfrm>
          <a:prstGeom prst="rect">
            <a:avLst/>
          </a:prstGeom>
          <a:noFill/>
          <a:ln/>
        </p:spPr>
        <p:txBody>
          <a:bodyPr wrap="square" lIns="0" tIns="0" rIns="0" bIns="0" rtlCol="0" anchor="t"/>
          <a:lstStyle/>
          <a:p>
            <a:pPr algn="l" indent="0" marL="0">
              <a:buNone/>
            </a:pPr>
            <a:r>
              <a:rPr lang="en-US" sz="1100" dirty="0">
                <a:solidFill>
                  <a:srgbClr val="2A2F36"/>
                </a:solidFill>
                <a:latin typeface="Calibri" pitchFamily="34" charset="0"/>
                <a:ea typeface="Calibri" pitchFamily="34" charset="-122"/>
                <a:cs typeface="Calibri" pitchFamily="34" charset="-120"/>
              </a:rPr>
              <a:t>Closure record plus completed response template</a:t>
            </a:r>
            <a:endParaRPr lang="en-US" sz="1100" dirty="0"/>
          </a:p>
        </p:txBody>
      </p:sp>
      <p:sp>
        <p:nvSpPr>
          <p:cNvPr id="50" name="Text 47"/>
          <p:cNvSpPr txBox="1"/>
          <p:nvPr/>
        </p:nvSpPr>
        <p:spPr>
          <a:xfrm>
            <a:off x="8121701" y="3749040"/>
            <a:ext cx="1577797" cy="228600"/>
          </a:xfrm>
          <a:prstGeom prst="rect">
            <a:avLst/>
          </a:prstGeom>
          <a:noFill/>
          <a:ln/>
        </p:spPr>
        <p:txBody>
          <a:bodyPr wrap="square" lIns="0" tIns="0" rIns="0" bIns="0" rtlCol="0" anchor="t"/>
          <a:lstStyle/>
          <a:p>
            <a:pPr algn="l" indent="0" marL="0">
              <a:buNone/>
            </a:pPr>
            <a:r>
              <a:rPr lang="en-US" sz="900" b="1" dirty="0">
                <a:solidFill>
                  <a:srgbClr val="6B7380"/>
                </a:solidFill>
                <a:latin typeface="Calibri" pitchFamily="34" charset="0"/>
                <a:ea typeface="Calibri" pitchFamily="34" charset="-122"/>
                <a:cs typeface="Calibri" pitchFamily="34" charset="-120"/>
              </a:rPr>
              <a:t>DEMO RECORD</a:t>
            </a:r>
            <a:endParaRPr lang="en-US" sz="900" dirty="0"/>
          </a:p>
        </p:txBody>
      </p:sp>
      <p:sp>
        <p:nvSpPr>
          <p:cNvPr id="51" name="Text 48"/>
          <p:cNvSpPr txBox="1"/>
          <p:nvPr/>
        </p:nvSpPr>
        <p:spPr>
          <a:xfrm>
            <a:off x="8121701" y="3977640"/>
            <a:ext cx="1577797" cy="914400"/>
          </a:xfrm>
          <a:prstGeom prst="rect">
            <a:avLst/>
          </a:prstGeom>
          <a:noFill/>
          <a:ln/>
        </p:spPr>
        <p:txBody>
          <a:bodyPr wrap="square" lIns="0" tIns="0" rIns="0" bIns="0" rtlCol="0" anchor="t"/>
          <a:lstStyle/>
          <a:p>
            <a:pPr algn="l" indent="0" marL="0">
              <a:buNone/>
            </a:pPr>
            <a:r>
              <a:rPr lang="en-US" sz="1100" dirty="0">
                <a:solidFill>
                  <a:srgbClr val="2A2F36"/>
                </a:solidFill>
                <a:latin typeface="Calibri" pitchFamily="34" charset="0"/>
                <a:ea typeface="Calibri" pitchFamily="34" charset="-122"/>
                <a:cs typeface="Calibri" pitchFamily="34" charset="-120"/>
              </a:rPr>
              <a:t>ESC-2026-00006 closed, tracked externally</a:t>
            </a:r>
            <a:endParaRPr lang="en-US" sz="1100" dirty="0"/>
          </a:p>
        </p:txBody>
      </p:sp>
      <p:sp>
        <p:nvSpPr>
          <p:cNvPr id="52" name="Text 49"/>
          <p:cNvSpPr txBox="1"/>
          <p:nvPr/>
        </p:nvSpPr>
        <p:spPr>
          <a:xfrm>
            <a:off x="8121701" y="4937760"/>
            <a:ext cx="1577797" cy="228600"/>
          </a:xfrm>
          <a:prstGeom prst="rect">
            <a:avLst/>
          </a:prstGeom>
          <a:noFill/>
          <a:ln/>
        </p:spPr>
        <p:txBody>
          <a:bodyPr wrap="square" lIns="0" tIns="0" rIns="0" bIns="0" rtlCol="0" anchor="t"/>
          <a:lstStyle/>
          <a:p>
            <a:pPr algn="l" indent="0" marL="0">
              <a:buNone/>
            </a:pPr>
            <a:r>
              <a:rPr lang="en-US" sz="900" b="1" dirty="0">
                <a:solidFill>
                  <a:srgbClr val="C8553D"/>
                </a:solidFill>
                <a:latin typeface="Calibri" pitchFamily="34" charset="0"/>
                <a:ea typeface="Calibri" pitchFamily="34" charset="-122"/>
                <a:cs typeface="Calibri" pitchFamily="34" charset="-120"/>
              </a:rPr>
              <a:t>CONTROL</a:t>
            </a:r>
            <a:endParaRPr lang="en-US" sz="900" dirty="0"/>
          </a:p>
        </p:txBody>
      </p:sp>
      <p:sp>
        <p:nvSpPr>
          <p:cNvPr id="53" name="Text 50"/>
          <p:cNvSpPr txBox="1"/>
          <p:nvPr/>
        </p:nvSpPr>
        <p:spPr>
          <a:xfrm>
            <a:off x="8121701" y="5166360"/>
            <a:ext cx="1577797" cy="914400"/>
          </a:xfrm>
          <a:prstGeom prst="rect">
            <a:avLst/>
          </a:prstGeom>
          <a:noFill/>
          <a:ln/>
        </p:spPr>
        <p:txBody>
          <a:bodyPr wrap="square" lIns="0" tIns="0" rIns="0" bIns="0" rtlCol="0" anchor="t"/>
          <a:lstStyle/>
          <a:p>
            <a:pPr algn="l" indent="0" marL="0">
              <a:buNone/>
            </a:pPr>
            <a:r>
              <a:rPr lang="en-US" sz="1100" b="1" dirty="0">
                <a:solidFill>
                  <a:srgbClr val="14213D"/>
                </a:solidFill>
                <a:latin typeface="Calibri" pitchFamily="34" charset="0"/>
                <a:ea typeface="Calibri" pitchFamily="34" charset="-122"/>
                <a:cs typeface="Calibri" pitchFamily="34" charset="-120"/>
              </a:rPr>
              <a:t>Refused until both are done</a:t>
            </a:r>
            <a:endParaRPr lang="en-US" sz="1100" dirty="0"/>
          </a:p>
        </p:txBody>
      </p:sp>
      <p:sp>
        <p:nvSpPr>
          <p:cNvPr id="54" name="Shape 51"/>
          <p:cNvSpPr/>
          <p:nvPr/>
        </p:nvSpPr>
        <p:spPr>
          <a:xfrm>
            <a:off x="9900666" y="2468880"/>
            <a:ext cx="1797253" cy="3657600"/>
          </a:xfrm>
          <a:prstGeom prst="rect">
            <a:avLst/>
          </a:prstGeom>
          <a:solidFill>
            <a:srgbClr val="F2F4F7"/>
          </a:solidFill>
          <a:ln w="12700">
            <a:solidFill>
              <a:srgbClr val="F2F4F7"/>
            </a:solidFill>
            <a:prstDash val="solid"/>
          </a:ln>
        </p:spPr>
      </p:sp>
      <p:sp>
        <p:nvSpPr>
          <p:cNvPr id="55" name="Text 52"/>
          <p:cNvSpPr txBox="1"/>
          <p:nvPr/>
        </p:nvSpPr>
        <p:spPr>
          <a:xfrm>
            <a:off x="10010394" y="2560320"/>
            <a:ext cx="1577797" cy="228600"/>
          </a:xfrm>
          <a:prstGeom prst="rect">
            <a:avLst/>
          </a:prstGeom>
          <a:noFill/>
          <a:ln/>
        </p:spPr>
        <p:txBody>
          <a:bodyPr wrap="square" lIns="0" tIns="0" rIns="0" bIns="0" rtlCol="0" anchor="t"/>
          <a:lstStyle/>
          <a:p>
            <a:pPr algn="l" indent="0" marL="0">
              <a:buNone/>
            </a:pPr>
            <a:r>
              <a:rPr lang="en-US" sz="900" b="1" dirty="0">
                <a:solidFill>
                  <a:srgbClr val="6B7380"/>
                </a:solidFill>
                <a:latin typeface="Calibri" pitchFamily="34" charset="0"/>
                <a:ea typeface="Calibri" pitchFamily="34" charset="-122"/>
                <a:cs typeface="Calibri" pitchFamily="34" charset="-120"/>
              </a:rPr>
              <a:t>WHAT HAPPENS</a:t>
            </a:r>
            <a:endParaRPr lang="en-US" sz="900" dirty="0"/>
          </a:p>
        </p:txBody>
      </p:sp>
      <p:sp>
        <p:nvSpPr>
          <p:cNvPr id="56" name="Text 53"/>
          <p:cNvSpPr txBox="1"/>
          <p:nvPr/>
        </p:nvSpPr>
        <p:spPr>
          <a:xfrm>
            <a:off x="10010394" y="2788920"/>
            <a:ext cx="1577797" cy="914400"/>
          </a:xfrm>
          <a:prstGeom prst="rect">
            <a:avLst/>
          </a:prstGeom>
          <a:noFill/>
          <a:ln/>
        </p:spPr>
        <p:txBody>
          <a:bodyPr wrap="square" lIns="0" tIns="0" rIns="0" bIns="0" rtlCol="0" anchor="t"/>
          <a:lstStyle/>
          <a:p>
            <a:pPr algn="l" indent="0" marL="0">
              <a:buNone/>
            </a:pPr>
            <a:r>
              <a:rPr lang="en-US" sz="1100" dirty="0">
                <a:solidFill>
                  <a:srgbClr val="2A2F36"/>
                </a:solidFill>
                <a:latin typeface="Calibri" pitchFamily="34" charset="0"/>
                <a:ea typeface="Calibri" pitchFamily="34" charset="-122"/>
                <a:cs typeface="Calibri" pitchFamily="34" charset="-120"/>
              </a:rPr>
              <a:t>Membership, votes, versions and refusals, as at any date</a:t>
            </a:r>
            <a:endParaRPr lang="en-US" sz="1100" dirty="0"/>
          </a:p>
        </p:txBody>
      </p:sp>
      <p:sp>
        <p:nvSpPr>
          <p:cNvPr id="57" name="Text 54"/>
          <p:cNvSpPr txBox="1"/>
          <p:nvPr/>
        </p:nvSpPr>
        <p:spPr>
          <a:xfrm>
            <a:off x="10010394" y="3749040"/>
            <a:ext cx="1577797" cy="228600"/>
          </a:xfrm>
          <a:prstGeom prst="rect">
            <a:avLst/>
          </a:prstGeom>
          <a:noFill/>
          <a:ln/>
        </p:spPr>
        <p:txBody>
          <a:bodyPr wrap="square" lIns="0" tIns="0" rIns="0" bIns="0" rtlCol="0" anchor="t"/>
          <a:lstStyle/>
          <a:p>
            <a:pPr algn="l" indent="0" marL="0">
              <a:buNone/>
            </a:pPr>
            <a:r>
              <a:rPr lang="en-US" sz="900" b="1" dirty="0">
                <a:solidFill>
                  <a:srgbClr val="6B7380"/>
                </a:solidFill>
                <a:latin typeface="Calibri" pitchFamily="34" charset="0"/>
                <a:ea typeface="Calibri" pitchFamily="34" charset="-122"/>
                <a:cs typeface="Calibri" pitchFamily="34" charset="-120"/>
              </a:rPr>
              <a:t>DEMO RECORD</a:t>
            </a:r>
            <a:endParaRPr lang="en-US" sz="900" dirty="0"/>
          </a:p>
        </p:txBody>
      </p:sp>
      <p:sp>
        <p:nvSpPr>
          <p:cNvPr id="58" name="Text 55"/>
          <p:cNvSpPr txBox="1"/>
          <p:nvPr/>
        </p:nvSpPr>
        <p:spPr>
          <a:xfrm>
            <a:off x="10010394" y="3977640"/>
            <a:ext cx="1577797" cy="914400"/>
          </a:xfrm>
          <a:prstGeom prst="rect">
            <a:avLst/>
          </a:prstGeom>
          <a:noFill/>
          <a:ln/>
        </p:spPr>
        <p:txBody>
          <a:bodyPr wrap="square" lIns="0" tIns="0" rIns="0" bIns="0" rtlCol="0" anchor="t"/>
          <a:lstStyle/>
          <a:p>
            <a:pPr algn="l" indent="0" marL="0">
              <a:buNone/>
            </a:pPr>
            <a:r>
              <a:rPr lang="en-US" sz="1100" dirty="0">
                <a:solidFill>
                  <a:srgbClr val="2A2F36"/>
                </a:solidFill>
                <a:latin typeface="Calibri" pitchFamily="34" charset="0"/>
                <a:ea typeface="Calibri" pitchFamily="34" charset="-122"/>
                <a:cs typeface="Calibri" pitchFamily="34" charset="-120"/>
              </a:rPr>
              <a:t>67 meetings, 38 minute versions, 17 charter versions</a:t>
            </a:r>
            <a:endParaRPr lang="en-US" sz="1100" dirty="0"/>
          </a:p>
        </p:txBody>
      </p:sp>
      <p:sp>
        <p:nvSpPr>
          <p:cNvPr id="59" name="Text 56"/>
          <p:cNvSpPr txBox="1"/>
          <p:nvPr/>
        </p:nvSpPr>
        <p:spPr>
          <a:xfrm>
            <a:off x="10010394" y="4937760"/>
            <a:ext cx="1577797" cy="228600"/>
          </a:xfrm>
          <a:prstGeom prst="rect">
            <a:avLst/>
          </a:prstGeom>
          <a:noFill/>
          <a:ln/>
        </p:spPr>
        <p:txBody>
          <a:bodyPr wrap="square" lIns="0" tIns="0" rIns="0" bIns="0" rtlCol="0" anchor="t"/>
          <a:lstStyle/>
          <a:p>
            <a:pPr algn="l" indent="0" marL="0">
              <a:buNone/>
            </a:pPr>
            <a:r>
              <a:rPr lang="en-US" sz="900" b="1" dirty="0">
                <a:solidFill>
                  <a:srgbClr val="C8553D"/>
                </a:solidFill>
                <a:latin typeface="Calibri" pitchFamily="34" charset="0"/>
                <a:ea typeface="Calibri" pitchFamily="34" charset="-122"/>
                <a:cs typeface="Calibri" pitchFamily="34" charset="-120"/>
              </a:rPr>
              <a:t>CONTROL</a:t>
            </a:r>
            <a:endParaRPr lang="en-US" sz="900" dirty="0"/>
          </a:p>
        </p:txBody>
      </p:sp>
      <p:sp>
        <p:nvSpPr>
          <p:cNvPr id="60" name="Text 57"/>
          <p:cNvSpPr txBox="1"/>
          <p:nvPr/>
        </p:nvSpPr>
        <p:spPr>
          <a:xfrm>
            <a:off x="10010394" y="5166360"/>
            <a:ext cx="1577797" cy="914400"/>
          </a:xfrm>
          <a:prstGeom prst="rect">
            <a:avLst/>
          </a:prstGeom>
          <a:noFill/>
          <a:ln/>
        </p:spPr>
        <p:txBody>
          <a:bodyPr wrap="square" lIns="0" tIns="0" rIns="0" bIns="0" rtlCol="0" anchor="t"/>
          <a:lstStyle/>
          <a:p>
            <a:pPr algn="l" indent="0" marL="0">
              <a:buNone/>
            </a:pPr>
            <a:r>
              <a:rPr lang="en-US" sz="1100" b="1" dirty="0">
                <a:solidFill>
                  <a:srgbClr val="14213D"/>
                </a:solidFill>
                <a:latin typeface="Calibri" pitchFamily="34" charset="0"/>
                <a:ea typeface="Calibri" pitchFamily="34" charset="-122"/>
                <a:cs typeface="Calibri" pitchFamily="34" charset="-120"/>
              </a:rPr>
              <a:t>Nothing is deleted</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C  ·  HOW IT WORKS</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Forming a committee is evaluated against five criteria, and approval stays disabled while anything is outstanding</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docs/guides/03-governance.md §3.4–3.5; docs/delivery/REQUIREMENTS-COVERAGE.md G-5, G-7, G-8, G-17 (tests and demo records).</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21</a:t>
            </a:r>
            <a:endParaRPr lang="en-US" sz="900" dirty="0"/>
          </a:p>
        </p:txBody>
      </p:sp>
      <p:sp>
        <p:nvSpPr>
          <p:cNvPr id="7" name="Shape 4"/>
          <p:cNvSpPr/>
          <p:nvPr/>
        </p:nvSpPr>
        <p:spPr>
          <a:xfrm>
            <a:off x="438912" y="1581912"/>
            <a:ext cx="6757416" cy="4237101"/>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8" name="Image 0" descr="Formation request — Approve disabled, with what still blocks it">    </p:cNvPr>
          <p:cNvPicPr>
            <a:picLocks noChangeAspect="1"/>
          </p:cNvPicPr>
          <p:nvPr/>
        </p:nvPicPr>
        <p:blipFill>
          <a:blip r:embed="rId1"/>
          <a:stretch>
            <a:fillRect/>
          </a:stretch>
        </p:blipFill>
        <p:spPr>
          <a:xfrm>
            <a:off x="457200" y="1600200"/>
            <a:ext cx="6720840" cy="4200525"/>
          </a:xfrm>
          <a:prstGeom prst="rect">
            <a:avLst/>
          </a:prstGeom>
        </p:spPr>
      </p:pic>
      <p:sp>
        <p:nvSpPr>
          <p:cNvPr id="9" name="Shape 5"/>
          <p:cNvSpPr/>
          <p:nvPr/>
        </p:nvSpPr>
        <p:spPr>
          <a:xfrm>
            <a:off x="7498080" y="1618488"/>
            <a:ext cx="292608" cy="292608"/>
          </a:xfrm>
          <a:prstGeom prst="ellipse">
            <a:avLst/>
          </a:prstGeom>
          <a:solidFill>
            <a:srgbClr val="C8553D"/>
          </a:solidFill>
          <a:ln w="12700">
            <a:solidFill>
              <a:srgbClr val="C8553D"/>
            </a:solidFill>
            <a:prstDash val="solid"/>
          </a:ln>
        </p:spPr>
      </p:sp>
      <p:sp>
        <p:nvSpPr>
          <p:cNvPr id="10" name="Text 6"/>
          <p:cNvSpPr txBox="1"/>
          <p:nvPr/>
        </p:nvSpPr>
        <p:spPr>
          <a:xfrm>
            <a:off x="7498080" y="16184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txBox="1"/>
          <p:nvPr/>
        </p:nvSpPr>
        <p:spPr>
          <a:xfrm>
            <a:off x="7909560" y="1600200"/>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Guided request:</a:t>
            </a:r>
            <a:pPr algn="l" indent="0" marL="0">
              <a:buNone/>
            </a:pPr>
            <a:r>
              <a:rPr lang="en-US" sz="1250" dirty="0">
                <a:solidFill>
                  <a:srgbClr val="2A2F36"/>
                </a:solidFill>
                <a:latin typeface="Calibri" pitchFamily="34" charset="0"/>
                <a:ea typeface="Calibri" pitchFamily="34" charset="-122"/>
                <a:cs typeface="Calibri" pitchFamily="34" charset="-120"/>
              </a:rPr>
              <a:t> required fields, guidance and draft save. The governance office confirms the request is complete.</a:t>
            </a:r>
            <a:endParaRPr lang="en-US" sz="1250" dirty="0"/>
          </a:p>
        </p:txBody>
      </p:sp>
      <p:sp>
        <p:nvSpPr>
          <p:cNvPr id="12" name="Shape 8"/>
          <p:cNvSpPr/>
          <p:nvPr/>
        </p:nvSpPr>
        <p:spPr>
          <a:xfrm>
            <a:off x="7498080" y="2468880"/>
            <a:ext cx="292608" cy="292608"/>
          </a:xfrm>
          <a:prstGeom prst="ellipse">
            <a:avLst/>
          </a:prstGeom>
          <a:solidFill>
            <a:srgbClr val="C8553D"/>
          </a:solidFill>
          <a:ln w="12700">
            <a:solidFill>
              <a:srgbClr val="C8553D"/>
            </a:solidFill>
            <a:prstDash val="solid"/>
          </a:ln>
        </p:spPr>
      </p:sp>
      <p:sp>
        <p:nvSpPr>
          <p:cNvPr id="13" name="Text 9"/>
          <p:cNvSpPr txBox="1"/>
          <p:nvPr/>
        </p:nvSpPr>
        <p:spPr>
          <a:xfrm>
            <a:off x="7498080" y="2468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7909560" y="2450592"/>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Five criteria assessed:</a:t>
            </a:r>
            <a:pPr algn="l" indent="0" marL="0">
              <a:buNone/>
            </a:pPr>
            <a:r>
              <a:rPr lang="en-US" sz="1250" dirty="0">
                <a:solidFill>
                  <a:srgbClr val="2A2F36"/>
                </a:solidFill>
                <a:latin typeface="Calibri" pitchFamily="34" charset="0"/>
                <a:ea typeface="Calibri" pitchFamily="34" charset="-122"/>
                <a:cs typeface="Calibri" pitchFamily="34" charset="-120"/>
              </a:rPr>
              <a:t> coverage gap, duplication, escalation pathway, framework alignment, resource feasibility.</a:t>
            </a:r>
            <a:endParaRPr lang="en-US" sz="1250" dirty="0"/>
          </a:p>
        </p:txBody>
      </p:sp>
      <p:sp>
        <p:nvSpPr>
          <p:cNvPr id="15" name="Shape 11"/>
          <p:cNvSpPr/>
          <p:nvPr/>
        </p:nvSpPr>
        <p:spPr>
          <a:xfrm>
            <a:off x="7498080" y="3319272"/>
            <a:ext cx="292608" cy="292608"/>
          </a:xfrm>
          <a:prstGeom prst="ellipse">
            <a:avLst/>
          </a:prstGeom>
          <a:solidFill>
            <a:srgbClr val="C8553D"/>
          </a:solidFill>
          <a:ln w="12700">
            <a:solidFill>
              <a:srgbClr val="C8553D"/>
            </a:solidFill>
            <a:prstDash val="solid"/>
          </a:ln>
        </p:spPr>
      </p:sp>
      <p:sp>
        <p:nvSpPr>
          <p:cNvPr id="16" name="Text 12"/>
          <p:cNvSpPr txBox="1"/>
          <p:nvPr/>
        </p:nvSpPr>
        <p:spPr>
          <a:xfrm>
            <a:off x="7498080" y="33192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3"/>
          <p:cNvSpPr txBox="1"/>
          <p:nvPr/>
        </p:nvSpPr>
        <p:spPr>
          <a:xfrm>
            <a:off x="7909560" y="3300984"/>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Approval steps come from a configured route,</a:t>
            </a:r>
            <a:pPr algn="l" indent="0" marL="0">
              <a:buNone/>
            </a:pPr>
            <a:r>
              <a:rPr lang="en-US" sz="1250" dirty="0">
                <a:solidFill>
                  <a:srgbClr val="2A2F36"/>
                </a:solidFill>
                <a:latin typeface="Calibri" pitchFamily="34" charset="0"/>
                <a:ea typeface="Calibri" pitchFamily="34" charset="-122"/>
                <a:cs typeface="Calibri" pitchFamily="34" charset="-120"/>
              </a:rPr>
              <a:t> sequential order enforced, role queues, changed without a release.</a:t>
            </a:r>
            <a:endParaRPr lang="en-US" sz="1250" dirty="0"/>
          </a:p>
        </p:txBody>
      </p:sp>
      <p:sp>
        <p:nvSpPr>
          <p:cNvPr id="18" name="Shape 14"/>
          <p:cNvSpPr/>
          <p:nvPr/>
        </p:nvSpPr>
        <p:spPr>
          <a:xfrm>
            <a:off x="7498080" y="4169664"/>
            <a:ext cx="292608" cy="292608"/>
          </a:xfrm>
          <a:prstGeom prst="ellipse">
            <a:avLst/>
          </a:prstGeom>
          <a:solidFill>
            <a:srgbClr val="C8553D"/>
          </a:solidFill>
          <a:ln w="12700">
            <a:solidFill>
              <a:srgbClr val="C8553D"/>
            </a:solidFill>
            <a:prstDash val="solid"/>
          </a:ln>
        </p:spPr>
      </p:sp>
      <p:sp>
        <p:nvSpPr>
          <p:cNvPr id="19" name="Text 15"/>
          <p:cNvSpPr txBox="1"/>
          <p:nvPr/>
        </p:nvSpPr>
        <p:spPr>
          <a:xfrm>
            <a:off x="7498080" y="41696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6"/>
          <p:cNvSpPr txBox="1"/>
          <p:nvPr/>
        </p:nvSpPr>
        <p:spPr>
          <a:xfrm>
            <a:off x="7909560" y="4151376"/>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A bypass needs a recorded authorisation,</a:t>
            </a:r>
            <a:pPr algn="l" indent="0" marL="0">
              <a:buNone/>
            </a:pPr>
            <a:r>
              <a:rPr lang="en-US" sz="1250" dirty="0">
                <a:solidFill>
                  <a:srgbClr val="2A2F36"/>
                </a:solidFill>
                <a:latin typeface="Calibri" pitchFamily="34" charset="0"/>
                <a:ea typeface="Calibri" pitchFamily="34" charset="-122"/>
                <a:cs typeface="Calibri" pitchFamily="34" charset="-120"/>
              </a:rPr>
              <a:t> waives only its own step, and never by the step's own holder.</a:t>
            </a:r>
            <a:endParaRPr lang="en-US" sz="1250" dirty="0"/>
          </a:p>
        </p:txBody>
      </p:sp>
      <p:sp>
        <p:nvSpPr>
          <p:cNvPr id="21" name="Shape 17"/>
          <p:cNvSpPr/>
          <p:nvPr/>
        </p:nvSpPr>
        <p:spPr>
          <a:xfrm>
            <a:off x="7498080" y="5047488"/>
            <a:ext cx="4236415" cy="1078992"/>
          </a:xfrm>
          <a:prstGeom prst="rect">
            <a:avLst/>
          </a:prstGeom>
          <a:solidFill>
            <a:srgbClr val="E8EDF5"/>
          </a:solidFill>
          <a:ln w="12700">
            <a:solidFill>
              <a:srgbClr val="E8EDF5"/>
            </a:solidFill>
            <a:prstDash val="solid"/>
          </a:ln>
        </p:spPr>
      </p:sp>
      <p:sp>
        <p:nvSpPr>
          <p:cNvPr id="22" name="Text 18"/>
          <p:cNvSpPr txBox="1"/>
          <p:nvPr/>
        </p:nvSpPr>
        <p:spPr>
          <a:xfrm>
            <a:off x="7635240" y="5120640"/>
            <a:ext cx="3962095" cy="941832"/>
          </a:xfrm>
          <a:prstGeom prst="rect">
            <a:avLst/>
          </a:prstGeom>
          <a:noFill/>
          <a:ln/>
        </p:spPr>
        <p:txBody>
          <a:bodyPr wrap="square" lIns="0" tIns="0" rIns="0" bIns="0" rtlCol="0" anchor="t"/>
          <a:lstStyle/>
          <a:p>
            <a:pPr algn="l" indent="0" marL="0">
              <a:spcAft>
                <a:spcPts val="300"/>
              </a:spcAft>
              <a:buNone/>
            </a:pPr>
            <a:r>
              <a:rPr lang="en-US" sz="900" b="1" dirty="0">
                <a:solidFill>
                  <a:srgbClr val="6B7380"/>
                </a:solidFill>
                <a:latin typeface="Calibri" pitchFamily="34" charset="0"/>
                <a:ea typeface="Calibri" pitchFamily="34" charset="-122"/>
                <a:cs typeface="Calibri" pitchFamily="34" charset="-120"/>
              </a:rPr>
              <a:t>EVIDENCE</a:t>
            </a:r>
            <a:endParaRPr lang="en-US" sz="900" dirty="0"/>
          </a:p>
          <a:p>
            <a:pPr algn="l" indent="0" marL="0">
              <a:spcAft>
                <a:spcPts val="300"/>
              </a:spcAft>
              <a:buNone/>
            </a:pPr>
            <a:r>
              <a:rPr lang="en-US" sz="1100" dirty="0">
                <a:solidFill>
                  <a:srgbClr val="2A2F36"/>
                </a:solidFill>
                <a:latin typeface="Calibri" pitchFamily="34" charset="0"/>
                <a:ea typeface="Calibri" pitchFamily="34" charset="-122"/>
                <a:cs typeface="Calibri" pitchFamily="34" charset="-120"/>
              </a:rPr>
              <a:t>62 formation tests (27 engine, 35 portal).</a:t>
            </a:r>
            <a:endParaRPr lang="en-US" sz="900" dirty="0"/>
          </a:p>
          <a:p>
            <a:pPr algn="l" indent="0" marL="0">
              <a:spcAft>
                <a:spcPts val="300"/>
              </a:spcAft>
              <a:buNone/>
            </a:pPr>
            <a:r>
              <a:rPr lang="en-US" sz="1100" dirty="0">
                <a:solidFill>
                  <a:srgbClr val="2A2F36"/>
                </a:solidFill>
                <a:latin typeface="Calibri" pitchFamily="34" charset="0"/>
                <a:ea typeface="Calibri" pitchFamily="34" charset="-122"/>
                <a:cs typeface="Calibri" pitchFamily="34" charset="-120"/>
              </a:rPr>
              <a:t>Demo requests at every stage, draft to approved.</a:t>
            </a:r>
            <a:endParaRPr lang="en-US" sz="900" dirty="0"/>
          </a:p>
          <a:p>
            <a:pPr algn="l" indent="0" marL="0">
              <a:spcAft>
                <a:spcPts val="300"/>
              </a:spcAft>
              <a:buNone/>
            </a:pPr>
            <a:r>
              <a:rPr lang="en-US" sz="1100" dirty="0">
                <a:solidFill>
                  <a:srgbClr val="2A2F36"/>
                </a:solidFill>
                <a:latin typeface="Calibri" pitchFamily="34" charset="0"/>
                <a:ea typeface="Calibri" pitchFamily="34" charset="-122"/>
                <a:cs typeface="Calibri" pitchFamily="34" charset="-120"/>
              </a:rPr>
              <a:t>A charter challenge blocks approval (G-7).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C  ·  HOW IT WORKS</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A forum's compliance standing stays current: changing a watched field sends it back for review automatically</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docs/guides/03-governance.md §3.1–3.3, §3.6; docs/delivery/REQUIREMENTS-COVERAGE.md G-4, G-6, G-11, G-13, §1.1 (screen map).</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22</a:t>
            </a:r>
            <a:endParaRPr lang="en-US" sz="900" dirty="0"/>
          </a:p>
        </p:txBody>
      </p:sp>
      <p:sp>
        <p:nvSpPr>
          <p:cNvPr id="7" name="Shape 4"/>
          <p:cNvSpPr/>
          <p:nvPr/>
        </p:nvSpPr>
        <p:spPr>
          <a:xfrm>
            <a:off x="438912" y="1581912"/>
            <a:ext cx="6757416" cy="4237101"/>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8" name="Image 0" descr="Forum page — standing, officers and actions">    </p:cNvPr>
          <p:cNvPicPr>
            <a:picLocks noChangeAspect="1"/>
          </p:cNvPicPr>
          <p:nvPr/>
        </p:nvPicPr>
        <p:blipFill>
          <a:blip r:embed="rId1"/>
          <a:stretch>
            <a:fillRect/>
          </a:stretch>
        </p:blipFill>
        <p:spPr>
          <a:xfrm>
            <a:off x="457200" y="1600200"/>
            <a:ext cx="6720840" cy="4200525"/>
          </a:xfrm>
          <a:prstGeom prst="rect">
            <a:avLst/>
          </a:prstGeom>
        </p:spPr>
      </p:pic>
      <p:sp>
        <p:nvSpPr>
          <p:cNvPr id="9" name="Shape 5"/>
          <p:cNvSpPr/>
          <p:nvPr/>
        </p:nvSpPr>
        <p:spPr>
          <a:xfrm>
            <a:off x="7498080" y="1618488"/>
            <a:ext cx="292608" cy="292608"/>
          </a:xfrm>
          <a:prstGeom prst="ellipse">
            <a:avLst/>
          </a:prstGeom>
          <a:solidFill>
            <a:srgbClr val="C8553D"/>
          </a:solidFill>
          <a:ln w="12700">
            <a:solidFill>
              <a:srgbClr val="C8553D"/>
            </a:solidFill>
            <a:prstDash val="solid"/>
          </a:ln>
        </p:spPr>
      </p:sp>
      <p:sp>
        <p:nvSpPr>
          <p:cNvPr id="10" name="Text 6"/>
          <p:cNvSpPr txBox="1"/>
          <p:nvPr/>
        </p:nvSpPr>
        <p:spPr>
          <a:xfrm>
            <a:off x="7498080" y="16184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txBox="1"/>
          <p:nvPr/>
        </p:nvSpPr>
        <p:spPr>
          <a:xfrm>
            <a:off x="7909560" y="1600200"/>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Compliance decision recorded:</a:t>
            </a:r>
            <a:pPr algn="l" indent="0" marL="0">
              <a:buNone/>
            </a:pPr>
            <a:r>
              <a:rPr lang="en-US" sz="1250" dirty="0">
                <a:solidFill>
                  <a:srgbClr val="2A2F36"/>
                </a:solidFill>
                <a:latin typeface="Calibri" pitchFamily="34" charset="0"/>
                <a:ea typeface="Calibri" pitchFamily="34" charset="-122"/>
                <a:cs typeface="Calibri" pitchFamily="34" charset="-120"/>
              </a:rPr>
              <a:t> Compliant, Non-Compliant (reasons required), Not Applicable, or returned to its creator.</a:t>
            </a:r>
            <a:endParaRPr lang="en-US" sz="1250" dirty="0"/>
          </a:p>
        </p:txBody>
      </p:sp>
      <p:sp>
        <p:nvSpPr>
          <p:cNvPr id="12" name="Shape 8"/>
          <p:cNvSpPr/>
          <p:nvPr/>
        </p:nvSpPr>
        <p:spPr>
          <a:xfrm>
            <a:off x="7498080" y="2468880"/>
            <a:ext cx="292608" cy="292608"/>
          </a:xfrm>
          <a:prstGeom prst="ellipse">
            <a:avLst/>
          </a:prstGeom>
          <a:solidFill>
            <a:srgbClr val="C8553D"/>
          </a:solidFill>
          <a:ln w="12700">
            <a:solidFill>
              <a:srgbClr val="C8553D"/>
            </a:solidFill>
            <a:prstDash val="solid"/>
          </a:ln>
        </p:spPr>
      </p:sp>
      <p:sp>
        <p:nvSpPr>
          <p:cNvPr id="13" name="Text 9"/>
          <p:cNvSpPr txBox="1"/>
          <p:nvPr/>
        </p:nvSpPr>
        <p:spPr>
          <a:xfrm>
            <a:off x="7498080" y="2468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7909560" y="2450592"/>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The review is its own record</a:t>
            </a:r>
            <a:pPr algn="l" indent="0" marL="0">
              <a:buNone/>
            </a:pPr>
            <a:r>
              <a:rPr lang="en-US" sz="1250" dirty="0">
                <a:solidFill>
                  <a:srgbClr val="2A2F36"/>
                </a:solidFill>
                <a:latin typeface="Calibri" pitchFamily="34" charset="0"/>
                <a:ea typeface="Calibri" pitchFamily="34" charset="-122"/>
                <a:cs typeface="Calibri" pitchFamily="34" charset="-120"/>
              </a:rPr>
              <a:t> and cannot be edited afterwards.</a:t>
            </a:r>
            <a:endParaRPr lang="en-US" sz="1250" dirty="0"/>
          </a:p>
        </p:txBody>
      </p:sp>
      <p:sp>
        <p:nvSpPr>
          <p:cNvPr id="15" name="Shape 11"/>
          <p:cNvSpPr/>
          <p:nvPr/>
        </p:nvSpPr>
        <p:spPr>
          <a:xfrm>
            <a:off x="7498080" y="3319272"/>
            <a:ext cx="292608" cy="292608"/>
          </a:xfrm>
          <a:prstGeom prst="ellipse">
            <a:avLst/>
          </a:prstGeom>
          <a:solidFill>
            <a:srgbClr val="C8553D"/>
          </a:solidFill>
          <a:ln w="12700">
            <a:solidFill>
              <a:srgbClr val="C8553D"/>
            </a:solidFill>
            <a:prstDash val="solid"/>
          </a:ln>
        </p:spPr>
      </p:sp>
      <p:sp>
        <p:nvSpPr>
          <p:cNvPr id="16" name="Text 12"/>
          <p:cNvSpPr txBox="1"/>
          <p:nvPr/>
        </p:nvSpPr>
        <p:spPr>
          <a:xfrm>
            <a:off x="7498080" y="33192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3"/>
          <p:cNvSpPr txBox="1"/>
          <p:nvPr/>
        </p:nvSpPr>
        <p:spPr>
          <a:xfrm>
            <a:off x="7909560" y="3300984"/>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Watched fields are configuration:</a:t>
            </a:r>
            <a:pPr algn="l" indent="0" marL="0">
              <a:buNone/>
            </a:pPr>
            <a:r>
              <a:rPr lang="en-US" sz="1250" dirty="0">
                <a:solidFill>
                  <a:srgbClr val="2A2F36"/>
                </a:solidFill>
                <a:latin typeface="Calibri" pitchFamily="34" charset="0"/>
                <a:ea typeface="Calibri" pitchFamily="34" charset="-122"/>
                <a:cs typeface="Calibri" pitchFamily="34" charset="-120"/>
              </a:rPr>
              <a:t> a change to, say, the mandate moves the forum back to pending and notifies compliance.</a:t>
            </a:r>
            <a:endParaRPr lang="en-US" sz="1250" dirty="0"/>
          </a:p>
        </p:txBody>
      </p:sp>
      <p:sp>
        <p:nvSpPr>
          <p:cNvPr id="18" name="Shape 14"/>
          <p:cNvSpPr/>
          <p:nvPr/>
        </p:nvSpPr>
        <p:spPr>
          <a:xfrm>
            <a:off x="7498080" y="4169664"/>
            <a:ext cx="292608" cy="292608"/>
          </a:xfrm>
          <a:prstGeom prst="ellipse">
            <a:avLst/>
          </a:prstGeom>
          <a:solidFill>
            <a:srgbClr val="C8553D"/>
          </a:solidFill>
          <a:ln w="12700">
            <a:solidFill>
              <a:srgbClr val="C8553D"/>
            </a:solidFill>
            <a:prstDash val="solid"/>
          </a:ln>
        </p:spPr>
      </p:sp>
      <p:sp>
        <p:nvSpPr>
          <p:cNvPr id="19" name="Text 15"/>
          <p:cNvSpPr txBox="1"/>
          <p:nvPr/>
        </p:nvSpPr>
        <p:spPr>
          <a:xfrm>
            <a:off x="7498080" y="41696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6"/>
          <p:cNvSpPr txBox="1"/>
          <p:nvPr/>
        </p:nvSpPr>
        <p:spPr>
          <a:xfrm>
            <a:off x="7909560" y="4151376"/>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Forum page shows everything in one place:</a:t>
            </a:r>
            <a:pPr algn="l" indent="0" marL="0">
              <a:buNone/>
            </a:pPr>
            <a:r>
              <a:rPr lang="en-US" sz="1250" dirty="0">
                <a:solidFill>
                  <a:srgbClr val="2A2F36"/>
                </a:solidFill>
                <a:latin typeface="Calibri" pitchFamily="34" charset="0"/>
                <a:ea typeface="Calibri" pitchFamily="34" charset="-122"/>
                <a:cs typeface="Calibri" pitchFamily="34" charset="-120"/>
              </a:rPr>
              <a:t> seats, charter, meetings, motions, decisions, approved documents and the connections diagram.</a:t>
            </a:r>
            <a:endParaRPr lang="en-US" sz="1250" dirty="0"/>
          </a:p>
        </p:txBody>
      </p:sp>
      <p:sp>
        <p:nvSpPr>
          <p:cNvPr id="21" name="Shape 17"/>
          <p:cNvSpPr/>
          <p:nvPr/>
        </p:nvSpPr>
        <p:spPr>
          <a:xfrm>
            <a:off x="7498080" y="5047488"/>
            <a:ext cx="4236415" cy="1078992"/>
          </a:xfrm>
          <a:prstGeom prst="rect">
            <a:avLst/>
          </a:prstGeom>
          <a:solidFill>
            <a:srgbClr val="E8EDF5"/>
          </a:solidFill>
          <a:ln w="12700">
            <a:solidFill>
              <a:srgbClr val="E8EDF5"/>
            </a:solidFill>
            <a:prstDash val="solid"/>
          </a:ln>
        </p:spPr>
      </p:sp>
      <p:sp>
        <p:nvSpPr>
          <p:cNvPr id="22" name="Text 18"/>
          <p:cNvSpPr txBox="1"/>
          <p:nvPr/>
        </p:nvSpPr>
        <p:spPr>
          <a:xfrm>
            <a:off x="7635240" y="5120640"/>
            <a:ext cx="3962095" cy="941832"/>
          </a:xfrm>
          <a:prstGeom prst="rect">
            <a:avLst/>
          </a:prstGeom>
          <a:noFill/>
          <a:ln/>
        </p:spPr>
        <p:txBody>
          <a:bodyPr wrap="square" lIns="0" tIns="0" rIns="0" bIns="0" rtlCol="0" anchor="t"/>
          <a:lstStyle/>
          <a:p>
            <a:pPr algn="l" indent="0" marL="0">
              <a:spcAft>
                <a:spcPts val="300"/>
              </a:spcAft>
              <a:buNone/>
            </a:pPr>
            <a:r>
              <a:rPr lang="en-US" sz="900" b="1" dirty="0">
                <a:solidFill>
                  <a:srgbClr val="6B7380"/>
                </a:solidFill>
                <a:latin typeface="Calibri" pitchFamily="34" charset="0"/>
                <a:ea typeface="Calibri" pitchFamily="34" charset="-122"/>
                <a:cs typeface="Calibri" pitchFamily="34" charset="-120"/>
              </a:rPr>
              <a:t>EVIDENCE</a:t>
            </a:r>
            <a:endParaRPr lang="en-US" sz="900" dirty="0"/>
          </a:p>
          <a:p>
            <a:pPr algn="l" indent="0" marL="0">
              <a:spcAft>
                <a:spcPts val="300"/>
              </a:spcAft>
              <a:buNone/>
            </a:pPr>
            <a:r>
              <a:rPr lang="en-US" sz="1100" dirty="0">
                <a:solidFill>
                  <a:srgbClr val="2A2F36"/>
                </a:solidFill>
                <a:latin typeface="Calibri" pitchFamily="34" charset="0"/>
                <a:ea typeface="Calibri" pitchFamily="34" charset="-122"/>
                <a:cs typeface="Calibri" pitchFamily="34" charset="-120"/>
              </a:rPr>
              <a:t>FRM-2026-00006: watched-field change → review FCR-2026-00006.</a:t>
            </a:r>
            <a:endParaRPr lang="en-US" sz="900" dirty="0"/>
          </a:p>
          <a:p>
            <a:pPr algn="l" indent="0" marL="0">
              <a:spcAft>
                <a:spcPts val="300"/>
              </a:spcAft>
              <a:buNone/>
            </a:pPr>
            <a:r>
              <a:rPr lang="en-US" sz="1100" dirty="0">
                <a:solidFill>
                  <a:srgbClr val="2A2F36"/>
                </a:solidFill>
                <a:latin typeface="Calibri" pitchFamily="34" charset="0"/>
                <a:ea typeface="Calibri" pitchFamily="34" charset="-122"/>
                <a:cs typeface="Calibri" pitchFamily="34" charset="-120"/>
              </a:rPr>
              <a:t>FRM-2026-00007 recorded Non-Compliant.</a:t>
            </a:r>
            <a:endParaRPr lang="en-US" sz="900" dirty="0"/>
          </a:p>
          <a:p>
            <a:pPr algn="l" indent="0" marL="0">
              <a:spcAft>
                <a:spcPts val="300"/>
              </a:spcAft>
              <a:buNone/>
            </a:pPr>
            <a:r>
              <a:rPr lang="en-US" sz="1100" dirty="0">
                <a:solidFill>
                  <a:srgbClr val="2A2F36"/>
                </a:solidFill>
                <a:latin typeface="Calibri" pitchFamily="34" charset="0"/>
                <a:ea typeface="Calibri" pitchFamily="34" charset="-122"/>
                <a:cs typeface="Calibri" pitchFamily="34" charset="-120"/>
              </a:rPr>
              <a:t>43 membership and voting tests.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C  ·  HOW IT WORKS</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A policy moves through a gated lifecycle and cannot be published without its complete approval set, on any route</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docs/guides/04-policies.md; docs/delivery/REQUIREMENTS-COVERAGE.md P-9, P-25 (TestPublicationRefusal ×7, TestGatesOnEveryRoute ×3); policy/tests/test_portal_actions.py.</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23</a:t>
            </a:r>
            <a:endParaRPr lang="en-US" sz="900" dirty="0"/>
          </a:p>
        </p:txBody>
      </p:sp>
      <p:sp>
        <p:nvSpPr>
          <p:cNvPr id="7" name="Shape 4"/>
          <p:cNvSpPr/>
          <p:nvPr/>
        </p:nvSpPr>
        <p:spPr>
          <a:xfrm>
            <a:off x="438912" y="1581912"/>
            <a:ext cx="6757416" cy="4237101"/>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8" name="Image 0" descr="Policy page — the actions open now, including Open in Doc AI">    </p:cNvPr>
          <p:cNvPicPr>
            <a:picLocks noChangeAspect="1"/>
          </p:cNvPicPr>
          <p:nvPr/>
        </p:nvPicPr>
        <p:blipFill>
          <a:blip r:embed="rId1"/>
          <a:stretch>
            <a:fillRect/>
          </a:stretch>
        </p:blipFill>
        <p:spPr>
          <a:xfrm>
            <a:off x="457200" y="1600200"/>
            <a:ext cx="6720840" cy="4200525"/>
          </a:xfrm>
          <a:prstGeom prst="rect">
            <a:avLst/>
          </a:prstGeom>
        </p:spPr>
      </p:pic>
      <p:sp>
        <p:nvSpPr>
          <p:cNvPr id="9" name="Shape 5"/>
          <p:cNvSpPr/>
          <p:nvPr/>
        </p:nvSpPr>
        <p:spPr>
          <a:xfrm>
            <a:off x="7498080" y="1618488"/>
            <a:ext cx="292608" cy="292608"/>
          </a:xfrm>
          <a:prstGeom prst="ellipse">
            <a:avLst/>
          </a:prstGeom>
          <a:solidFill>
            <a:srgbClr val="C8553D"/>
          </a:solidFill>
          <a:ln w="12700">
            <a:solidFill>
              <a:srgbClr val="C8553D"/>
            </a:solidFill>
            <a:prstDash val="solid"/>
          </a:ln>
        </p:spPr>
      </p:sp>
      <p:sp>
        <p:nvSpPr>
          <p:cNvPr id="10" name="Text 6"/>
          <p:cNvSpPr txBox="1"/>
          <p:nvPr/>
        </p:nvSpPr>
        <p:spPr>
          <a:xfrm>
            <a:off x="7498080" y="16184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txBox="1"/>
          <p:nvPr/>
        </p:nvSpPr>
        <p:spPr>
          <a:xfrm>
            <a:off x="7909560" y="1600200"/>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Six phases, each move limited to its role:</a:t>
            </a:r>
            <a:pPr algn="l" indent="0" marL="0">
              <a:buNone/>
            </a:pPr>
            <a:r>
              <a:rPr lang="en-US" sz="1250" dirty="0">
                <a:solidFill>
                  <a:srgbClr val="2A2F36"/>
                </a:solidFill>
                <a:latin typeface="Calibri" pitchFamily="34" charset="0"/>
                <a:ea typeface="Calibri" pitchFamily="34" charset="-122"/>
                <a:cs typeface="Calibri" pitchFamily="34" charset="-120"/>
              </a:rPr>
              <a:t> policy owner submits; the policy office approves, publishes and retires.</a:t>
            </a:r>
            <a:endParaRPr lang="en-US" sz="1250" dirty="0"/>
          </a:p>
        </p:txBody>
      </p:sp>
      <p:sp>
        <p:nvSpPr>
          <p:cNvPr id="12" name="Shape 8"/>
          <p:cNvSpPr/>
          <p:nvPr/>
        </p:nvSpPr>
        <p:spPr>
          <a:xfrm>
            <a:off x="7498080" y="2468880"/>
            <a:ext cx="292608" cy="292608"/>
          </a:xfrm>
          <a:prstGeom prst="ellipse">
            <a:avLst/>
          </a:prstGeom>
          <a:solidFill>
            <a:srgbClr val="C8553D"/>
          </a:solidFill>
          <a:ln w="12700">
            <a:solidFill>
              <a:srgbClr val="C8553D"/>
            </a:solidFill>
            <a:prstDash val="solid"/>
          </a:ln>
        </p:spPr>
      </p:sp>
      <p:sp>
        <p:nvSpPr>
          <p:cNvPr id="13" name="Text 9"/>
          <p:cNvSpPr txBox="1"/>
          <p:nvPr/>
        </p:nvSpPr>
        <p:spPr>
          <a:xfrm>
            <a:off x="7498080" y="2468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7909560" y="2450592"/>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Gates checked on every phase change:</a:t>
            </a:r>
            <a:pPr algn="l" indent="0" marL="0">
              <a:buNone/>
            </a:pPr>
            <a:r>
              <a:rPr lang="en-US" sz="1250" dirty="0">
                <a:solidFill>
                  <a:srgbClr val="2A2F36"/>
                </a:solidFill>
                <a:latin typeface="Calibri" pitchFamily="34" charset="0"/>
                <a:ea typeface="Calibri" pitchFamily="34" charset="-122"/>
                <a:cs typeface="Calibri" pitchFamily="34" charset="-120"/>
              </a:rPr>
              <a:t> complete approval chain, current version, applicability. A written exception is the only bypass.</a:t>
            </a:r>
            <a:endParaRPr lang="en-US" sz="1250" dirty="0"/>
          </a:p>
        </p:txBody>
      </p:sp>
      <p:sp>
        <p:nvSpPr>
          <p:cNvPr id="15" name="Shape 11"/>
          <p:cNvSpPr/>
          <p:nvPr/>
        </p:nvSpPr>
        <p:spPr>
          <a:xfrm>
            <a:off x="7498080" y="3319272"/>
            <a:ext cx="292608" cy="292608"/>
          </a:xfrm>
          <a:prstGeom prst="ellipse">
            <a:avLst/>
          </a:prstGeom>
          <a:solidFill>
            <a:srgbClr val="C8553D"/>
          </a:solidFill>
          <a:ln w="12700">
            <a:solidFill>
              <a:srgbClr val="C8553D"/>
            </a:solidFill>
            <a:prstDash val="solid"/>
          </a:ln>
        </p:spPr>
      </p:sp>
      <p:sp>
        <p:nvSpPr>
          <p:cNvPr id="16" name="Text 12"/>
          <p:cNvSpPr txBox="1"/>
          <p:nvPr/>
        </p:nvSpPr>
        <p:spPr>
          <a:xfrm>
            <a:off x="7498080" y="33192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3"/>
          <p:cNvSpPr txBox="1"/>
          <p:nvPr/>
        </p:nvSpPr>
        <p:spPr>
          <a:xfrm>
            <a:off x="7909560" y="3300984"/>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Reopened documents start a fresh approval cycle.</a:t>
            </a:r>
            <a:pPr algn="l" indent="0" marL="0">
              <a:buNone/>
            </a:pPr>
            <a:r>
              <a:rPr lang="en-US" sz="1250" dirty="0">
                <a:solidFill>
                  <a:srgbClr val="2A2F36"/>
                </a:solidFill>
                <a:latin typeface="Calibri" pitchFamily="34" charset="0"/>
                <a:ea typeface="Calibri" pitchFamily="34" charset="-122"/>
                <a:cs typeface="Calibri" pitchFamily="34" charset="-120"/>
              </a:rPr>
              <a:t> The previous cycle's approvals no longer count (fixed).</a:t>
            </a:r>
            <a:endParaRPr lang="en-US" sz="1250" dirty="0"/>
          </a:p>
        </p:txBody>
      </p:sp>
      <p:sp>
        <p:nvSpPr>
          <p:cNvPr id="18" name="Shape 14"/>
          <p:cNvSpPr/>
          <p:nvPr/>
        </p:nvSpPr>
        <p:spPr>
          <a:xfrm>
            <a:off x="7498080" y="4169664"/>
            <a:ext cx="292608" cy="292608"/>
          </a:xfrm>
          <a:prstGeom prst="ellipse">
            <a:avLst/>
          </a:prstGeom>
          <a:solidFill>
            <a:srgbClr val="C8553D"/>
          </a:solidFill>
          <a:ln w="12700">
            <a:solidFill>
              <a:srgbClr val="C8553D"/>
            </a:solidFill>
            <a:prstDash val="solid"/>
          </a:ln>
        </p:spPr>
      </p:sp>
      <p:sp>
        <p:nvSpPr>
          <p:cNvPr id="19" name="Text 15"/>
          <p:cNvSpPr txBox="1"/>
          <p:nvPr/>
        </p:nvSpPr>
        <p:spPr>
          <a:xfrm>
            <a:off x="7498080" y="41696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6"/>
          <p:cNvSpPr txBox="1"/>
          <p:nvPr/>
        </p:nvSpPr>
        <p:spPr>
          <a:xfrm>
            <a:off x="7909560" y="4151376"/>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Version chain held here:</a:t>
            </a:r>
            <a:pPr algn="l" indent="0" marL="0">
              <a:buNone/>
            </a:pPr>
            <a:r>
              <a:rPr lang="en-US" sz="1250" dirty="0">
                <a:solidFill>
                  <a:srgbClr val="2A2F36"/>
                </a:solidFill>
                <a:latin typeface="Calibri" pitchFamily="34" charset="0"/>
                <a:ea typeface="Calibri" pitchFamily="34" charset="-122"/>
                <a:cs typeface="Calibri" pitchFamily="34" charset="-120"/>
              </a:rPr>
              <a:t> each upload is a new immutable version. Revert writes a new version.</a:t>
            </a:r>
            <a:endParaRPr lang="en-US" sz="1250" dirty="0"/>
          </a:p>
        </p:txBody>
      </p:sp>
      <p:sp>
        <p:nvSpPr>
          <p:cNvPr id="21" name="Shape 17"/>
          <p:cNvSpPr/>
          <p:nvPr/>
        </p:nvSpPr>
        <p:spPr>
          <a:xfrm>
            <a:off x="7498080" y="5047488"/>
            <a:ext cx="4236415" cy="1078992"/>
          </a:xfrm>
          <a:prstGeom prst="rect">
            <a:avLst/>
          </a:prstGeom>
          <a:solidFill>
            <a:srgbClr val="E8EDF5"/>
          </a:solidFill>
          <a:ln w="12700">
            <a:solidFill>
              <a:srgbClr val="E8EDF5"/>
            </a:solidFill>
            <a:prstDash val="solid"/>
          </a:ln>
        </p:spPr>
      </p:sp>
      <p:sp>
        <p:nvSpPr>
          <p:cNvPr id="22" name="Text 18"/>
          <p:cNvSpPr txBox="1"/>
          <p:nvPr/>
        </p:nvSpPr>
        <p:spPr>
          <a:xfrm>
            <a:off x="7635240" y="5120640"/>
            <a:ext cx="3962095" cy="941832"/>
          </a:xfrm>
          <a:prstGeom prst="rect">
            <a:avLst/>
          </a:prstGeom>
          <a:noFill/>
          <a:ln/>
        </p:spPr>
        <p:txBody>
          <a:bodyPr wrap="square" lIns="0" tIns="0" rIns="0" bIns="0" rtlCol="0" anchor="t"/>
          <a:lstStyle/>
          <a:p>
            <a:pPr algn="l" indent="0" marL="0">
              <a:spcAft>
                <a:spcPts val="300"/>
              </a:spcAft>
              <a:buNone/>
            </a:pPr>
            <a:r>
              <a:rPr lang="en-US" sz="900" b="1" dirty="0">
                <a:solidFill>
                  <a:srgbClr val="6B7380"/>
                </a:solidFill>
                <a:latin typeface="Calibri" pitchFamily="34" charset="0"/>
                <a:ea typeface="Calibri" pitchFamily="34" charset="-122"/>
                <a:cs typeface="Calibri" pitchFamily="34" charset="-120"/>
              </a:rPr>
              <a:t>EVIDENCE</a:t>
            </a:r>
            <a:endParaRPr lang="en-US" sz="900" dirty="0"/>
          </a:p>
          <a:p>
            <a:pPr algn="l" indent="0" marL="0">
              <a:spcAft>
                <a:spcPts val="300"/>
              </a:spcAft>
              <a:buNone/>
            </a:pPr>
            <a:r>
              <a:rPr lang="en-US" sz="1100" dirty="0">
                <a:solidFill>
                  <a:srgbClr val="2A2F36"/>
                </a:solidFill>
                <a:latin typeface="Calibri" pitchFamily="34" charset="0"/>
                <a:ea typeface="Calibri" pitchFamily="34" charset="-122"/>
                <a:cs typeface="Calibri" pitchFamily="34" charset="-120"/>
              </a:rPr>
              <a:t>10 publication-gate tests, including menu and direct-write refusal.</a:t>
            </a:r>
            <a:endParaRPr lang="en-US" sz="900" dirty="0"/>
          </a:p>
          <a:p>
            <a:pPr algn="l" indent="0" marL="0">
              <a:spcAft>
                <a:spcPts val="300"/>
              </a:spcAft>
              <a:buNone/>
            </a:pPr>
            <a:r>
              <a:rPr lang="en-US" sz="1100" dirty="0">
                <a:solidFill>
                  <a:srgbClr val="2A2F36"/>
                </a:solidFill>
                <a:latin typeface="Calibri" pitchFamily="34" charset="0"/>
                <a:ea typeface="Calibri" pitchFamily="34" charset="-122"/>
                <a:cs typeface="Calibri" pitchFamily="34" charset="-120"/>
              </a:rPr>
              <a:t>GDOC-00002 Risk Appetite Framework published after 2 decisions.</a:t>
            </a:r>
            <a:endParaRPr lang="en-US" sz="900" dirty="0"/>
          </a:p>
          <a:p>
            <a:pPr algn="l" indent="0" marL="0">
              <a:spcAft>
                <a:spcPts val="300"/>
              </a:spcAft>
              <a:buNone/>
            </a:pPr>
            <a:r>
              <a:rPr lang="en-US" sz="1100" dirty="0">
                <a:solidFill>
                  <a:srgbClr val="2A2F36"/>
                </a:solidFill>
                <a:latin typeface="Calibri" pitchFamily="34" charset="0"/>
                <a:ea typeface="Calibri" pitchFamily="34" charset="-122"/>
                <a:cs typeface="Calibri" pitchFamily="34" charset="-120"/>
              </a:rPr>
              <a:t>68 portal-action tests, incl. 15 on the approval chain.</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C  ·  HOW IT WORKS</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Escalations are routed by an approved matrix, timed against limits, and invisible to anyone not cleared for sensitive matters</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docs/guides/05-escalations.md; docs/delivery/REQUIREMENTS-COVERAGE.md E-4, E-10, E-13, E-16 (tests, demo records); escalation/tests/test_portal_actions.py.</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24</a:t>
            </a:r>
            <a:endParaRPr lang="en-US" sz="900" dirty="0"/>
          </a:p>
        </p:txBody>
      </p:sp>
      <p:sp>
        <p:nvSpPr>
          <p:cNvPr id="7" name="Shape 4"/>
          <p:cNvSpPr/>
          <p:nvPr/>
        </p:nvSpPr>
        <p:spPr>
          <a:xfrm>
            <a:off x="438912" y="1581912"/>
            <a:ext cx="6757416" cy="4237101"/>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8" name="Image 0" descr="Escalation page — the actions open at this stage">    </p:cNvPr>
          <p:cNvPicPr>
            <a:picLocks noChangeAspect="1"/>
          </p:cNvPicPr>
          <p:nvPr/>
        </p:nvPicPr>
        <p:blipFill>
          <a:blip r:embed="rId1"/>
          <a:stretch>
            <a:fillRect/>
          </a:stretch>
        </p:blipFill>
        <p:spPr>
          <a:xfrm>
            <a:off x="457200" y="1600200"/>
            <a:ext cx="6720840" cy="4200525"/>
          </a:xfrm>
          <a:prstGeom prst="rect">
            <a:avLst/>
          </a:prstGeom>
        </p:spPr>
      </p:pic>
      <p:sp>
        <p:nvSpPr>
          <p:cNvPr id="9" name="Shape 5"/>
          <p:cNvSpPr/>
          <p:nvPr/>
        </p:nvSpPr>
        <p:spPr>
          <a:xfrm>
            <a:off x="7498080" y="1618488"/>
            <a:ext cx="292608" cy="292608"/>
          </a:xfrm>
          <a:prstGeom prst="ellipse">
            <a:avLst/>
          </a:prstGeom>
          <a:solidFill>
            <a:srgbClr val="C8553D"/>
          </a:solidFill>
          <a:ln w="12700">
            <a:solidFill>
              <a:srgbClr val="C8553D"/>
            </a:solidFill>
            <a:prstDash val="solid"/>
          </a:ln>
        </p:spPr>
      </p:sp>
      <p:sp>
        <p:nvSpPr>
          <p:cNvPr id="10" name="Text 6"/>
          <p:cNvSpPr txBox="1"/>
          <p:nvPr/>
        </p:nvSpPr>
        <p:spPr>
          <a:xfrm>
            <a:off x="7498080" y="16184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txBox="1"/>
          <p:nvPr/>
        </p:nvSpPr>
        <p:spPr>
          <a:xfrm>
            <a:off x="7909560" y="1600200"/>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Matrix-driven severity and pathway.</a:t>
            </a:r>
            <a:pPr algn="l" indent="0" marL="0">
              <a:buNone/>
            </a:pPr>
            <a:r>
              <a:rPr lang="en-US" sz="1250" dirty="0">
                <a:solidFill>
                  <a:srgbClr val="2A2F36"/>
                </a:solidFill>
                <a:latin typeface="Calibri" pitchFamily="34" charset="0"/>
                <a:ea typeface="Calibri" pitchFamily="34" charset="-122"/>
                <a:cs typeface="Calibri" pitchFamily="34" charset="-120"/>
              </a:rPr>
              <a:t> The rule that fired is recorded; a manual override is visible as such.</a:t>
            </a:r>
            <a:endParaRPr lang="en-US" sz="1250" dirty="0"/>
          </a:p>
        </p:txBody>
      </p:sp>
      <p:sp>
        <p:nvSpPr>
          <p:cNvPr id="12" name="Shape 8"/>
          <p:cNvSpPr/>
          <p:nvPr/>
        </p:nvSpPr>
        <p:spPr>
          <a:xfrm>
            <a:off x="7498080" y="2468880"/>
            <a:ext cx="292608" cy="292608"/>
          </a:xfrm>
          <a:prstGeom prst="ellipse">
            <a:avLst/>
          </a:prstGeom>
          <a:solidFill>
            <a:srgbClr val="C8553D"/>
          </a:solidFill>
          <a:ln w="12700">
            <a:solidFill>
              <a:srgbClr val="C8553D"/>
            </a:solidFill>
            <a:prstDash val="solid"/>
          </a:ln>
        </p:spPr>
      </p:sp>
      <p:sp>
        <p:nvSpPr>
          <p:cNvPr id="13" name="Text 9"/>
          <p:cNvSpPr txBox="1"/>
          <p:nvPr/>
        </p:nvSpPr>
        <p:spPr>
          <a:xfrm>
            <a:off x="7498080" y="2468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7909560" y="2450592"/>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Time limits run on a business calendar.</a:t>
            </a:r>
            <a:pPr algn="l" indent="0" marL="0">
              <a:buNone/>
            </a:pPr>
            <a:r>
              <a:rPr lang="en-US" sz="1250" dirty="0">
                <a:solidFill>
                  <a:srgbClr val="2A2F36"/>
                </a:solidFill>
                <a:latin typeface="Calibri" pitchFamily="34" charset="0"/>
                <a:ea typeface="Calibri" pitchFamily="34" charset="-122"/>
                <a:cs typeface="Calibri" pitchFamily="34" charset="-120"/>
              </a:rPr>
              <a:t> A breach raises severity and notifies, once.</a:t>
            </a:r>
            <a:endParaRPr lang="en-US" sz="1250" dirty="0"/>
          </a:p>
        </p:txBody>
      </p:sp>
      <p:sp>
        <p:nvSpPr>
          <p:cNvPr id="15" name="Shape 11"/>
          <p:cNvSpPr/>
          <p:nvPr/>
        </p:nvSpPr>
        <p:spPr>
          <a:xfrm>
            <a:off x="7498080" y="3319272"/>
            <a:ext cx="292608" cy="292608"/>
          </a:xfrm>
          <a:prstGeom prst="ellipse">
            <a:avLst/>
          </a:prstGeom>
          <a:solidFill>
            <a:srgbClr val="C8553D"/>
          </a:solidFill>
          <a:ln w="12700">
            <a:solidFill>
              <a:srgbClr val="C8553D"/>
            </a:solidFill>
            <a:prstDash val="solid"/>
          </a:ln>
        </p:spPr>
      </p:sp>
      <p:sp>
        <p:nvSpPr>
          <p:cNvPr id="16" name="Text 12"/>
          <p:cNvSpPr txBox="1"/>
          <p:nvPr/>
        </p:nvSpPr>
        <p:spPr>
          <a:xfrm>
            <a:off x="7498080" y="33192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3"/>
          <p:cNvSpPr txBox="1"/>
          <p:nvPr/>
        </p:nvSpPr>
        <p:spPr>
          <a:xfrm>
            <a:off x="7909560" y="3300984"/>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Sensitive matters are hidden</a:t>
            </a:r>
            <a:pPr algn="l" indent="0" marL="0">
              <a:buNone/>
            </a:pPr>
            <a:r>
              <a:rPr lang="en-US" sz="1250" dirty="0">
                <a:solidFill>
                  <a:srgbClr val="2A2F36"/>
                </a:solidFill>
                <a:latin typeface="Calibri" pitchFamily="34" charset="0"/>
                <a:ea typeface="Calibri" pitchFamily="34" charset="-122"/>
                <a:cs typeface="Calibri" pitchFamily="34" charset="-120"/>
              </a:rPr>
              <a:t> from lists, counts, search, reports and the API. A link reads like a record that does not exist.</a:t>
            </a:r>
            <a:endParaRPr lang="en-US" sz="1250" dirty="0"/>
          </a:p>
        </p:txBody>
      </p:sp>
      <p:sp>
        <p:nvSpPr>
          <p:cNvPr id="18" name="Shape 14"/>
          <p:cNvSpPr/>
          <p:nvPr/>
        </p:nvSpPr>
        <p:spPr>
          <a:xfrm>
            <a:off x="7498080" y="4169664"/>
            <a:ext cx="292608" cy="292608"/>
          </a:xfrm>
          <a:prstGeom prst="ellipse">
            <a:avLst/>
          </a:prstGeom>
          <a:solidFill>
            <a:srgbClr val="C8553D"/>
          </a:solidFill>
          <a:ln w="12700">
            <a:solidFill>
              <a:srgbClr val="C8553D"/>
            </a:solidFill>
            <a:prstDash val="solid"/>
          </a:ln>
        </p:spPr>
      </p:sp>
      <p:sp>
        <p:nvSpPr>
          <p:cNvPr id="19" name="Text 15"/>
          <p:cNvSpPr txBox="1"/>
          <p:nvPr/>
        </p:nvSpPr>
        <p:spPr>
          <a:xfrm>
            <a:off x="7498080" y="41696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6"/>
          <p:cNvSpPr txBox="1"/>
          <p:nvPr/>
        </p:nvSpPr>
        <p:spPr>
          <a:xfrm>
            <a:off x="7909560" y="4151376"/>
            <a:ext cx="3824935" cy="868680"/>
          </a:xfrm>
          <a:prstGeom prst="rect">
            <a:avLst/>
          </a:prstGeom>
          <a:noFill/>
          <a:ln/>
        </p:spPr>
        <p:txBody>
          <a:bodyPr wrap="square" lIns="0" tIns="0" rIns="0" bIns="0" rtlCol="0" anchor="t"/>
          <a:lstStyle/>
          <a:p>
            <a:pPr algn="l" indent="0" marL="0">
              <a:buNone/>
            </a:pPr>
            <a:r>
              <a:rPr lang="en-US" sz="1250" b="1" dirty="0">
                <a:solidFill>
                  <a:srgbClr val="2A2F36"/>
                </a:solidFill>
                <a:latin typeface="Calibri" pitchFamily="34" charset="0"/>
                <a:ea typeface="Calibri" pitchFamily="34" charset="-122"/>
                <a:cs typeface="Calibri" pitchFamily="34" charset="-120"/>
              </a:rPr>
              <a:t>No closure without its outcome:</a:t>
            </a:r>
            <a:pPr algn="l" indent="0" marL="0">
              <a:buNone/>
            </a:pPr>
            <a:r>
              <a:rPr lang="en-US" sz="1250" dirty="0">
                <a:solidFill>
                  <a:srgbClr val="2A2F36"/>
                </a:solidFill>
                <a:latin typeface="Calibri" pitchFamily="34" charset="0"/>
                <a:ea typeface="Calibri" pitchFamily="34" charset="-122"/>
                <a:cs typeface="Calibri" pitchFamily="34" charset="-120"/>
              </a:rPr>
              <a:t> a closure record and the completed response template are both required.</a:t>
            </a:r>
            <a:endParaRPr lang="en-US" sz="1250" dirty="0"/>
          </a:p>
        </p:txBody>
      </p:sp>
      <p:sp>
        <p:nvSpPr>
          <p:cNvPr id="21" name="Shape 17"/>
          <p:cNvSpPr/>
          <p:nvPr/>
        </p:nvSpPr>
        <p:spPr>
          <a:xfrm>
            <a:off x="7498080" y="5047488"/>
            <a:ext cx="4236415" cy="1078992"/>
          </a:xfrm>
          <a:prstGeom prst="rect">
            <a:avLst/>
          </a:prstGeom>
          <a:solidFill>
            <a:srgbClr val="E8EDF5"/>
          </a:solidFill>
          <a:ln w="12700">
            <a:solidFill>
              <a:srgbClr val="E8EDF5"/>
            </a:solidFill>
            <a:prstDash val="solid"/>
          </a:ln>
        </p:spPr>
      </p:sp>
      <p:sp>
        <p:nvSpPr>
          <p:cNvPr id="22" name="Text 18"/>
          <p:cNvSpPr txBox="1"/>
          <p:nvPr/>
        </p:nvSpPr>
        <p:spPr>
          <a:xfrm>
            <a:off x="7635240" y="5120640"/>
            <a:ext cx="3962095" cy="941832"/>
          </a:xfrm>
          <a:prstGeom prst="rect">
            <a:avLst/>
          </a:prstGeom>
          <a:noFill/>
          <a:ln/>
        </p:spPr>
        <p:txBody>
          <a:bodyPr wrap="square" lIns="0" tIns="0" rIns="0" bIns="0" rtlCol="0" anchor="t"/>
          <a:lstStyle/>
          <a:p>
            <a:pPr algn="l" indent="0" marL="0">
              <a:spcAft>
                <a:spcPts val="300"/>
              </a:spcAft>
              <a:buNone/>
            </a:pPr>
            <a:r>
              <a:rPr lang="en-US" sz="900" b="1" dirty="0">
                <a:solidFill>
                  <a:srgbClr val="6B7380"/>
                </a:solidFill>
                <a:latin typeface="Calibri" pitchFamily="34" charset="0"/>
                <a:ea typeface="Calibri" pitchFamily="34" charset="-122"/>
                <a:cs typeface="Calibri" pitchFamily="34" charset="-120"/>
              </a:rPr>
              <a:t>EVIDENCE</a:t>
            </a:r>
            <a:endParaRPr lang="en-US" sz="900" dirty="0"/>
          </a:p>
          <a:p>
            <a:pPr algn="l" indent="0" marL="0">
              <a:spcAft>
                <a:spcPts val="300"/>
              </a:spcAft>
              <a:buNone/>
            </a:pPr>
            <a:r>
              <a:rPr lang="en-US" sz="1100" dirty="0">
                <a:solidFill>
                  <a:srgbClr val="2A2F36"/>
                </a:solidFill>
                <a:latin typeface="Calibri" pitchFamily="34" charset="0"/>
                <a:ea typeface="Calibri" pitchFamily="34" charset="-122"/>
                <a:cs typeface="Calibri" pitchFamily="34" charset="-120"/>
              </a:rPr>
              <a:t>19 routing and closure tests; 12 sensitivity tests.</a:t>
            </a:r>
            <a:endParaRPr lang="en-US" sz="900" dirty="0"/>
          </a:p>
          <a:p>
            <a:pPr algn="l" indent="0" marL="0">
              <a:spcAft>
                <a:spcPts val="300"/>
              </a:spcAft>
              <a:buNone/>
            </a:pPr>
            <a:r>
              <a:rPr lang="en-US" sz="1100" dirty="0">
                <a:solidFill>
                  <a:srgbClr val="2A2F36"/>
                </a:solidFill>
                <a:latin typeface="Calibri" pitchFamily="34" charset="0"/>
                <a:ea typeface="Calibri" pitchFamily="34" charset="-122"/>
                <a:cs typeface="Calibri" pitchFamily="34" charset="-120"/>
              </a:rPr>
              <a:t>ESC-2026-00007 breached 31 Jul 2026 → raised.</a:t>
            </a:r>
            <a:endParaRPr lang="en-US" sz="900" dirty="0"/>
          </a:p>
          <a:p>
            <a:pPr algn="l" indent="0" marL="0">
              <a:spcAft>
                <a:spcPts val="300"/>
              </a:spcAft>
              <a:buNone/>
            </a:pPr>
            <a:r>
              <a:rPr lang="en-US" sz="1100" dirty="0">
                <a:solidFill>
                  <a:srgbClr val="2A2F36"/>
                </a:solidFill>
                <a:latin typeface="Calibri" pitchFamily="34" charset="0"/>
                <a:ea typeface="Calibri" pitchFamily="34" charset="-122"/>
                <a:cs typeface="Calibri" pitchFamily="34" charset="-120"/>
              </a:rPr>
              <a:t>Portal actions: 43 tests (raise, work, approve, close); time in each status measured against targets.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C  ·  HOW IT WORKS</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A year later, the record shows who sat, who voted, what was approved and what was refused, as at any date</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docs/product/02-data-model.md §2.3 (M-1, M-2); docs/product/05-glossary.md §D; docs/OPERATIONS.md §A; docs/delivery/REQUIREMENTS-COVERAGE.md G-9, G-13, G-15, G-16 (demo counts, tests).</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25</a:t>
            </a:r>
            <a:endParaRPr lang="en-US" sz="900" dirty="0"/>
          </a:p>
        </p:txBody>
      </p:sp>
      <p:sp>
        <p:nvSpPr>
          <p:cNvPr id="7" name="Shape 4"/>
          <p:cNvSpPr/>
          <p:nvPr/>
        </p:nvSpPr>
        <p:spPr>
          <a:xfrm>
            <a:off x="438912" y="1581912"/>
            <a:ext cx="5157216" cy="3236976"/>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8" name="Image 0" descr="Forum History tab — revisions and the record history">    </p:cNvPr>
          <p:cNvPicPr>
            <a:picLocks noChangeAspect="1"/>
          </p:cNvPicPr>
          <p:nvPr/>
        </p:nvPicPr>
        <p:blipFill>
          <a:blip r:embed="rId1"/>
          <a:stretch>
            <a:fillRect/>
          </a:stretch>
        </p:blipFill>
        <p:spPr>
          <a:xfrm>
            <a:off x="457200" y="1600200"/>
            <a:ext cx="5120640" cy="3200400"/>
          </a:xfrm>
          <a:prstGeom prst="rect">
            <a:avLst/>
          </a:prstGeom>
        </p:spPr>
      </p:pic>
      <p:sp>
        <p:nvSpPr>
          <p:cNvPr id="9" name="Shape 5"/>
          <p:cNvSpPr/>
          <p:nvPr/>
        </p:nvSpPr>
        <p:spPr>
          <a:xfrm>
            <a:off x="5852160" y="1600200"/>
            <a:ext cx="2849728" cy="1554480"/>
          </a:xfrm>
          <a:prstGeom prst="rect">
            <a:avLst/>
          </a:prstGeom>
          <a:solidFill>
            <a:srgbClr val="F2F4F7"/>
          </a:solidFill>
          <a:ln w="12700">
            <a:solidFill>
              <a:srgbClr val="F2F4F7"/>
            </a:solidFill>
            <a:prstDash val="solid"/>
          </a:ln>
        </p:spPr>
      </p:sp>
      <p:sp>
        <p:nvSpPr>
          <p:cNvPr id="10" name="Text 6"/>
          <p:cNvSpPr txBox="1"/>
          <p:nvPr/>
        </p:nvSpPr>
        <p:spPr>
          <a:xfrm>
            <a:off x="5989320" y="1691640"/>
            <a:ext cx="2575408" cy="1417320"/>
          </a:xfrm>
          <a:prstGeom prst="rect">
            <a:avLst/>
          </a:prstGeom>
          <a:noFill/>
          <a:ln/>
        </p:spPr>
        <p:txBody>
          <a:bodyPr wrap="square" lIns="0" tIns="0" rIns="0" bIns="0" rtlCol="0" anchor="t"/>
          <a:lstStyle/>
          <a:p>
            <a:pPr algn="l" indent="0" marL="0">
              <a:spcAft>
                <a:spcPts val="400"/>
              </a:spcAft>
              <a:buNone/>
            </a:pPr>
            <a:r>
              <a:rPr lang="en-US" sz="1250" b="1" dirty="0">
                <a:solidFill>
                  <a:srgbClr val="14213D"/>
                </a:solidFill>
                <a:latin typeface="Calibri" pitchFamily="34" charset="0"/>
                <a:ea typeface="Calibri" pitchFamily="34" charset="-122"/>
                <a:cs typeface="Calibri" pitchFamily="34" charset="-120"/>
              </a:rPr>
              <a:t>Who sat on the forum?</a:t>
            </a:r>
            <a:endParaRPr lang="en-US" sz="1250" dirty="0"/>
          </a:p>
          <a:p>
            <a:pPr algn="l" indent="0" marL="0">
              <a:spcAft>
                <a:spcPts val="400"/>
              </a:spcAft>
              <a:buNone/>
            </a:pPr>
            <a:r>
              <a:rPr lang="en-US" sz="1100" dirty="0">
                <a:solidFill>
                  <a:srgbClr val="2A2F36"/>
                </a:solidFill>
                <a:latin typeface="Calibri" pitchFamily="34" charset="0"/>
                <a:ea typeface="Calibri" pitchFamily="34" charset="-122"/>
                <a:cs typeface="Calibri" pitchFamily="34" charset="-120"/>
              </a:rPr>
              <a:t>Membership is a dated record; seats can be held by position; delegations carry validity windows.</a:t>
            </a:r>
            <a:endParaRPr lang="en-US" sz="1250" dirty="0"/>
          </a:p>
          <a:p>
            <a:pPr algn="l" indent="0" marL="0">
              <a:spcAft>
                <a:spcPts val="400"/>
              </a:spcAft>
              <a:buNone/>
            </a:pPr>
            <a:r>
              <a:rPr lang="en-US" sz="1050" b="1" dirty="0">
                <a:solidFill>
                  <a:srgbClr val="C8553D"/>
                </a:solidFill>
                <a:latin typeface="Calibri" pitchFamily="34" charset="0"/>
                <a:ea typeface="Calibri" pitchFamily="34" charset="-122"/>
                <a:cs typeface="Calibri" pitchFamily="34" charset="-120"/>
              </a:rPr>
              <a:t>Composition on any past date is a query</a:t>
            </a:r>
            <a:endParaRPr lang="en-US" sz="1250" dirty="0"/>
          </a:p>
        </p:txBody>
      </p:sp>
      <p:sp>
        <p:nvSpPr>
          <p:cNvPr id="11" name="Shape 7"/>
          <p:cNvSpPr/>
          <p:nvPr/>
        </p:nvSpPr>
        <p:spPr>
          <a:xfrm>
            <a:off x="8884768" y="1600200"/>
            <a:ext cx="2849728" cy="1554480"/>
          </a:xfrm>
          <a:prstGeom prst="rect">
            <a:avLst/>
          </a:prstGeom>
          <a:solidFill>
            <a:srgbClr val="F2F4F7"/>
          </a:solidFill>
          <a:ln w="12700">
            <a:solidFill>
              <a:srgbClr val="F2F4F7"/>
            </a:solidFill>
            <a:prstDash val="solid"/>
          </a:ln>
        </p:spPr>
      </p:sp>
      <p:sp>
        <p:nvSpPr>
          <p:cNvPr id="12" name="Text 8"/>
          <p:cNvSpPr txBox="1"/>
          <p:nvPr/>
        </p:nvSpPr>
        <p:spPr>
          <a:xfrm>
            <a:off x="9021928" y="1691640"/>
            <a:ext cx="2575408" cy="1417320"/>
          </a:xfrm>
          <a:prstGeom prst="rect">
            <a:avLst/>
          </a:prstGeom>
          <a:noFill/>
          <a:ln/>
        </p:spPr>
        <p:txBody>
          <a:bodyPr wrap="square" lIns="0" tIns="0" rIns="0" bIns="0" rtlCol="0" anchor="t"/>
          <a:lstStyle/>
          <a:p>
            <a:pPr algn="l" indent="0" marL="0">
              <a:spcAft>
                <a:spcPts val="400"/>
              </a:spcAft>
              <a:buNone/>
            </a:pPr>
            <a:r>
              <a:rPr lang="en-US" sz="1250" b="1" dirty="0">
                <a:solidFill>
                  <a:srgbClr val="14213D"/>
                </a:solidFill>
                <a:latin typeface="Calibri" pitchFamily="34" charset="0"/>
                <a:ea typeface="Calibri" pitchFamily="34" charset="-122"/>
                <a:cs typeface="Calibri" pitchFamily="34" charset="-120"/>
              </a:rPr>
              <a:t>Who voted, and was there quorum?</a:t>
            </a:r>
            <a:endParaRPr lang="en-US" sz="1250" dirty="0"/>
          </a:p>
          <a:p>
            <a:pPr algn="l" indent="0" marL="0">
              <a:spcAft>
                <a:spcPts val="400"/>
              </a:spcAft>
              <a:buNone/>
            </a:pPr>
            <a:r>
              <a:rPr lang="en-US" sz="1100" dirty="0">
                <a:solidFill>
                  <a:srgbClr val="2A2F36"/>
                </a:solidFill>
                <a:latin typeface="Calibri" pitchFamily="34" charset="0"/>
                <a:ea typeface="Calibri" pitchFamily="34" charset="-122"/>
                <a:cs typeface="Calibri" pitchFamily="34" charset="-120"/>
              </a:rPr>
              <a:t>One vote row per entitled voter; quorum calculated and stored when the decision is taken.</a:t>
            </a:r>
            <a:endParaRPr lang="en-US" sz="1250" dirty="0"/>
          </a:p>
          <a:p>
            <a:pPr algn="l" indent="0" marL="0">
              <a:spcAft>
                <a:spcPts val="400"/>
              </a:spcAft>
              <a:buNone/>
            </a:pPr>
            <a:r>
              <a:rPr lang="en-US" sz="1050" b="1" dirty="0">
                <a:solidFill>
                  <a:srgbClr val="C8553D"/>
                </a:solidFill>
                <a:latin typeface="Calibri" pitchFamily="34" charset="0"/>
                <a:ea typeface="Calibri" pitchFamily="34" charset="-122"/>
                <a:cs typeface="Calibri" pitchFamily="34" charset="-120"/>
              </a:rPr>
              <a:t>Later membership changes do not rewrite it</a:t>
            </a:r>
            <a:endParaRPr lang="en-US" sz="1250" dirty="0"/>
          </a:p>
        </p:txBody>
      </p:sp>
      <p:sp>
        <p:nvSpPr>
          <p:cNvPr id="13" name="Shape 9"/>
          <p:cNvSpPr/>
          <p:nvPr/>
        </p:nvSpPr>
        <p:spPr>
          <a:xfrm>
            <a:off x="5852160" y="3291840"/>
            <a:ext cx="2849728" cy="1554480"/>
          </a:xfrm>
          <a:prstGeom prst="rect">
            <a:avLst/>
          </a:prstGeom>
          <a:solidFill>
            <a:srgbClr val="F2F4F7"/>
          </a:solidFill>
          <a:ln w="12700">
            <a:solidFill>
              <a:srgbClr val="F2F4F7"/>
            </a:solidFill>
            <a:prstDash val="solid"/>
          </a:ln>
        </p:spPr>
      </p:sp>
      <p:sp>
        <p:nvSpPr>
          <p:cNvPr id="14" name="Text 10"/>
          <p:cNvSpPr txBox="1"/>
          <p:nvPr/>
        </p:nvSpPr>
        <p:spPr>
          <a:xfrm>
            <a:off x="5989320" y="3383280"/>
            <a:ext cx="2575408" cy="1417320"/>
          </a:xfrm>
          <a:prstGeom prst="rect">
            <a:avLst/>
          </a:prstGeom>
          <a:noFill/>
          <a:ln/>
        </p:spPr>
        <p:txBody>
          <a:bodyPr wrap="square" lIns="0" tIns="0" rIns="0" bIns="0" rtlCol="0" anchor="t"/>
          <a:lstStyle/>
          <a:p>
            <a:pPr algn="l" indent="0" marL="0">
              <a:spcAft>
                <a:spcPts val="400"/>
              </a:spcAft>
              <a:buNone/>
            </a:pPr>
            <a:r>
              <a:rPr lang="en-US" sz="1250" b="1" dirty="0">
                <a:solidFill>
                  <a:srgbClr val="14213D"/>
                </a:solidFill>
                <a:latin typeface="Calibri" pitchFamily="34" charset="0"/>
                <a:ea typeface="Calibri" pitchFamily="34" charset="-122"/>
                <a:cs typeface="Calibri" pitchFamily="34" charset="-120"/>
              </a:rPr>
              <a:t>What did the document say?</a:t>
            </a:r>
            <a:endParaRPr lang="en-US" sz="1250" dirty="0"/>
          </a:p>
          <a:p>
            <a:pPr algn="l" indent="0" marL="0">
              <a:spcAft>
                <a:spcPts val="400"/>
              </a:spcAft>
              <a:buNone/>
            </a:pPr>
            <a:r>
              <a:rPr lang="en-US" sz="1100" dirty="0">
                <a:solidFill>
                  <a:srgbClr val="2A2F36"/>
                </a:solidFill>
                <a:latin typeface="Calibri" pitchFamily="34" charset="0"/>
                <a:ea typeface="Calibri" pitchFamily="34" charset="-122"/>
                <a:cs typeface="Calibri" pitchFamily="34" charset="-120"/>
              </a:rPr>
              <a:t>Immutable version chain with content hash. Revert writes a new version and is itself audited.</a:t>
            </a:r>
            <a:endParaRPr lang="en-US" sz="1250" dirty="0"/>
          </a:p>
          <a:p>
            <a:pPr algn="l" indent="0" marL="0">
              <a:spcAft>
                <a:spcPts val="400"/>
              </a:spcAft>
              <a:buNone/>
            </a:pPr>
            <a:r>
              <a:rPr lang="en-US" sz="1050" b="1" dirty="0">
                <a:solidFill>
                  <a:srgbClr val="C8553D"/>
                </a:solidFill>
                <a:latin typeface="Calibri" pitchFamily="34" charset="0"/>
                <a:ea typeface="Calibri" pitchFamily="34" charset="-122"/>
                <a:cs typeface="Calibri" pitchFamily="34" charset="-120"/>
              </a:rPr>
              <a:t>38 minute versions; 17 charter versions</a:t>
            </a:r>
            <a:endParaRPr lang="en-US" sz="1250" dirty="0"/>
          </a:p>
        </p:txBody>
      </p:sp>
      <p:sp>
        <p:nvSpPr>
          <p:cNvPr id="15" name="Shape 11"/>
          <p:cNvSpPr/>
          <p:nvPr/>
        </p:nvSpPr>
        <p:spPr>
          <a:xfrm>
            <a:off x="8884768" y="3291840"/>
            <a:ext cx="2849728" cy="1554480"/>
          </a:xfrm>
          <a:prstGeom prst="rect">
            <a:avLst/>
          </a:prstGeom>
          <a:solidFill>
            <a:srgbClr val="F2F4F7"/>
          </a:solidFill>
          <a:ln w="12700">
            <a:solidFill>
              <a:srgbClr val="F2F4F7"/>
            </a:solidFill>
            <a:prstDash val="solid"/>
          </a:ln>
        </p:spPr>
      </p:sp>
      <p:sp>
        <p:nvSpPr>
          <p:cNvPr id="16" name="Text 12"/>
          <p:cNvSpPr txBox="1"/>
          <p:nvPr/>
        </p:nvSpPr>
        <p:spPr>
          <a:xfrm>
            <a:off x="9021928" y="3383280"/>
            <a:ext cx="2575408" cy="1417320"/>
          </a:xfrm>
          <a:prstGeom prst="rect">
            <a:avLst/>
          </a:prstGeom>
          <a:noFill/>
          <a:ln/>
        </p:spPr>
        <p:txBody>
          <a:bodyPr wrap="square" lIns="0" tIns="0" rIns="0" bIns="0" rtlCol="0" anchor="t"/>
          <a:lstStyle/>
          <a:p>
            <a:pPr algn="l" indent="0" marL="0">
              <a:spcAft>
                <a:spcPts val="400"/>
              </a:spcAft>
              <a:buNone/>
            </a:pPr>
            <a:r>
              <a:rPr lang="en-US" sz="1250" b="1" dirty="0">
                <a:solidFill>
                  <a:srgbClr val="14213D"/>
                </a:solidFill>
                <a:latin typeface="Calibri" pitchFamily="34" charset="0"/>
                <a:ea typeface="Calibri" pitchFamily="34" charset="-122"/>
                <a:cs typeface="Calibri" pitchFamily="34" charset="-120"/>
              </a:rPr>
              <a:t>What was refused, and why?</a:t>
            </a:r>
            <a:endParaRPr lang="en-US" sz="1250" dirty="0"/>
          </a:p>
          <a:p>
            <a:pPr algn="l" indent="0" marL="0">
              <a:spcAft>
                <a:spcPts val="400"/>
              </a:spcAft>
              <a:buNone/>
            </a:pPr>
            <a:r>
              <a:rPr lang="en-US" sz="1100" dirty="0">
                <a:solidFill>
                  <a:srgbClr val="2A2F36"/>
                </a:solidFill>
                <a:latin typeface="Calibri" pitchFamily="34" charset="0"/>
                <a:ea typeface="Calibri" pitchFamily="34" charset="-122"/>
                <a:cs typeface="Calibri" pitchFamily="34" charset="-120"/>
              </a:rPr>
              <a:t>Governance Refusal Log; field-level change history; exception authorisations for any bypass.</a:t>
            </a:r>
            <a:endParaRPr lang="en-US" sz="1250" dirty="0"/>
          </a:p>
          <a:p>
            <a:pPr algn="l" indent="0" marL="0">
              <a:spcAft>
                <a:spcPts val="400"/>
              </a:spcAft>
              <a:buNone/>
            </a:pPr>
            <a:r>
              <a:rPr lang="en-US" sz="1050" b="1" dirty="0">
                <a:solidFill>
                  <a:srgbClr val="C8553D"/>
                </a:solidFill>
                <a:latin typeface="Calibri" pitchFamily="34" charset="0"/>
                <a:ea typeface="Calibri" pitchFamily="34" charset="-122"/>
                <a:cs typeface="Calibri" pitchFamily="34" charset="-120"/>
              </a:rPr>
              <a:t>Refusals logged even when rolled back</a:t>
            </a:r>
            <a:endParaRPr lang="en-US" sz="1250" dirty="0"/>
          </a:p>
        </p:txBody>
      </p:sp>
      <p:sp>
        <p:nvSpPr>
          <p:cNvPr id="17" name="Shape 13"/>
          <p:cNvSpPr/>
          <p:nvPr/>
        </p:nvSpPr>
        <p:spPr>
          <a:xfrm>
            <a:off x="457200" y="5074920"/>
            <a:ext cx="11277295" cy="1051560"/>
          </a:xfrm>
          <a:prstGeom prst="rect">
            <a:avLst/>
          </a:prstGeom>
          <a:solidFill>
            <a:srgbClr val="F7E3DE"/>
          </a:solidFill>
          <a:ln w="12700">
            <a:solidFill>
              <a:srgbClr val="F7E3DE"/>
            </a:solidFill>
            <a:prstDash val="solid"/>
          </a:ln>
        </p:spPr>
      </p:sp>
      <p:sp>
        <p:nvSpPr>
          <p:cNvPr id="18" name="Text 14"/>
          <p:cNvSpPr txBox="1"/>
          <p:nvPr/>
        </p:nvSpPr>
        <p:spPr>
          <a:xfrm>
            <a:off x="640080" y="5120640"/>
            <a:ext cx="10911535" cy="960120"/>
          </a:xfrm>
          <a:prstGeom prst="rect">
            <a:avLst/>
          </a:prstGeom>
          <a:noFill/>
          <a:ln/>
        </p:spPr>
        <p:txBody>
          <a:bodyPr wrap="square" lIns="0" tIns="0" rIns="0" bIns="0" rtlCol="0" anchor="ctr"/>
          <a:lstStyle/>
          <a:p>
            <a:pPr algn="l" indent="0" marL="0">
              <a:buNone/>
            </a:pPr>
            <a:r>
              <a:rPr lang="en-US" sz="1150" b="1" dirty="0">
                <a:solidFill>
                  <a:srgbClr val="2A2F36"/>
                </a:solidFill>
                <a:latin typeface="Calibri" pitchFamily="34" charset="0"/>
                <a:ea typeface="Calibri" pitchFamily="34" charset="-122"/>
                <a:cs typeface="Calibri" pitchFamily="34" charset="-120"/>
              </a:rPr>
              <a:t>Not yet proven end to end:</a:t>
            </a:r>
            <a:pPr algn="l" indent="0" marL="0">
              <a:buNone/>
            </a:pPr>
            <a:r>
              <a:rPr lang="en-US" sz="1150" dirty="0">
                <a:solidFill>
                  <a:srgbClr val="2A2F36"/>
                </a:solidFill>
                <a:latin typeface="Calibri" pitchFamily="34" charset="0"/>
                <a:ea typeface="Calibri" pitchFamily="34" charset="-122"/>
                <a:cs typeface="Calibri" pitchFamily="34" charset="-120"/>
              </a:rPr>
              <a:t> the retention and legal-hold engine is built (19 tests pass) and a daily job flags records due for disposal, but no demo record is under retention, carrying out an approved disposal and releasing a hold have no screen, and write-once storage is an open infrastructure decision. Until that decision, describe the control as </a:t>
            </a:r>
            <a:pPr algn="l" indent="0" marL="0">
              <a:buNone/>
            </a:pPr>
            <a:r>
              <a:rPr lang="en-US" sz="1150" b="1" dirty="0">
                <a:solidFill>
                  <a:srgbClr val="2A2F36"/>
                </a:solidFill>
                <a:latin typeface="Calibri" pitchFamily="34" charset="0"/>
                <a:ea typeface="Calibri" pitchFamily="34" charset="-122"/>
                <a:cs typeface="Calibri" pitchFamily="34" charset="-120"/>
              </a:rPr>
              <a:t>tamper-evident with restricted write access</a:t>
            </a:r>
            <a:pPr algn="l" indent="0" marL="0">
              <a:buNone/>
            </a:pPr>
            <a:r>
              <a:rPr lang="en-US" sz="1150" dirty="0">
                <a:solidFill>
                  <a:srgbClr val="2A2F36"/>
                </a:solidFill>
                <a:latin typeface="Calibri" pitchFamily="34" charset="0"/>
                <a:ea typeface="Calibri" pitchFamily="34" charset="-122"/>
                <a:cs typeface="Calibri" pitchFamily="34" charset="-120"/>
              </a:rPr>
              <a:t>, not write-once. Every record now exports as an evidence pack with a SHA-256 manifest.</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1417320"/>
            <a:ext cx="2011680" cy="2011680"/>
          </a:xfrm>
          <a:prstGeom prst="rect">
            <a:avLst/>
          </a:prstGeom>
          <a:noFill/>
          <a:ln/>
        </p:spPr>
        <p:txBody>
          <a:bodyPr wrap="square" lIns="0" tIns="0" rIns="0" bIns="0" rtlCol="0" anchor="t"/>
          <a:lstStyle/>
          <a:p>
            <a:pPr indent="0" marL="0">
              <a:buNone/>
            </a:pPr>
            <a:r>
              <a:rPr lang="en-US" sz="15000" b="1" dirty="0">
                <a:solidFill>
                  <a:srgbClr val="C8553D"/>
                </a:solidFill>
                <a:latin typeface="Calibri" pitchFamily="34" charset="0"/>
                <a:ea typeface="Calibri" pitchFamily="34" charset="-122"/>
                <a:cs typeface="Calibri" pitchFamily="34" charset="-120"/>
              </a:rPr>
              <a:t>D</a:t>
            </a:r>
            <a:endParaRPr lang="en-US" sz="15000" dirty="0"/>
          </a:p>
        </p:txBody>
      </p:sp>
      <p:sp>
        <p:nvSpPr>
          <p:cNvPr id="3" name="Text 1"/>
          <p:cNvSpPr txBox="1"/>
          <p:nvPr/>
        </p:nvSpPr>
        <p:spPr>
          <a:xfrm>
            <a:off x="2743200" y="1828800"/>
            <a:ext cx="8686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Evidence</a:t>
            </a:r>
            <a:endParaRPr lang="en-US" sz="3600" dirty="0"/>
          </a:p>
        </p:txBody>
      </p:sp>
      <p:sp>
        <p:nvSpPr>
          <p:cNvPr id="4" name="Text 2"/>
          <p:cNvSpPr txBox="1"/>
          <p:nvPr/>
        </p:nvSpPr>
        <p:spPr>
          <a:xfrm>
            <a:off x="2743200" y="2697480"/>
            <a:ext cx="8503920" cy="1097280"/>
          </a:xfrm>
          <a:prstGeom prst="rect">
            <a:avLst/>
          </a:prstGeom>
          <a:noFill/>
          <a:ln/>
        </p:spPr>
        <p:txBody>
          <a:bodyPr wrap="square" lIns="0" tIns="0" rIns="0" bIns="0" rtlCol="0" anchor="t"/>
          <a:lstStyle/>
          <a:p>
            <a:pPr indent="0" marL="0">
              <a:buNone/>
            </a:pPr>
            <a:r>
              <a:rPr lang="en-US" sz="1800" dirty="0">
                <a:solidFill>
                  <a:srgbClr val="C9D3E3"/>
                </a:solidFill>
                <a:latin typeface="Calibri" pitchFamily="34" charset="0"/>
                <a:ea typeface="Calibri" pitchFamily="34" charset="-122"/>
                <a:cs typeface="Calibri" pitchFamily="34" charset="-120"/>
              </a:rPr>
              <a:t>Measured coverage, test results, defects found and fixed, and the controls we attacked directly</a:t>
            </a:r>
            <a:endParaRPr lang="en-US" sz="1800" dirty="0"/>
          </a:p>
        </p:txBody>
      </p:sp>
      <p:sp>
        <p:nvSpPr>
          <p:cNvPr id="5" name="Text 3"/>
          <p:cNvSpPr txBox="1"/>
          <p:nvPr/>
        </p:nvSpPr>
        <p:spPr>
          <a:xfrm>
            <a:off x="457200"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A  </a:t>
            </a:r>
            <a:pPr indent="0" marL="0">
              <a:buNone/>
            </a:pPr>
            <a:r>
              <a:rPr lang="en-US" sz="1200" dirty="0">
                <a:solidFill>
                  <a:srgbClr val="8391A8"/>
                </a:solidFill>
                <a:latin typeface="Calibri" pitchFamily="34" charset="0"/>
                <a:ea typeface="Calibri" pitchFamily="34" charset="-122"/>
                <a:cs typeface="Calibri" pitchFamily="34" charset="-120"/>
              </a:rPr>
              <a:t>Why this exists</a:t>
            </a:r>
            <a:endParaRPr lang="en-US" sz="1200" dirty="0"/>
          </a:p>
        </p:txBody>
      </p:sp>
      <p:sp>
        <p:nvSpPr>
          <p:cNvPr id="6" name="Shape 4"/>
          <p:cNvSpPr/>
          <p:nvPr/>
        </p:nvSpPr>
        <p:spPr>
          <a:xfrm>
            <a:off x="457200" y="5303520"/>
            <a:ext cx="1742389" cy="36576"/>
          </a:xfrm>
          <a:prstGeom prst="rect">
            <a:avLst/>
          </a:prstGeom>
          <a:solidFill>
            <a:srgbClr val="3A4A6A"/>
          </a:solidFill>
          <a:ln w="12700">
            <a:solidFill>
              <a:srgbClr val="3A4A6A"/>
            </a:solidFill>
            <a:prstDash val="solid"/>
          </a:ln>
        </p:spPr>
      </p:sp>
      <p:sp>
        <p:nvSpPr>
          <p:cNvPr id="7" name="Text 5"/>
          <p:cNvSpPr txBox="1"/>
          <p:nvPr/>
        </p:nvSpPr>
        <p:spPr>
          <a:xfrm>
            <a:off x="2336749"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B  </a:t>
            </a:r>
            <a:pPr indent="0" marL="0">
              <a:buNone/>
            </a:pPr>
            <a:r>
              <a:rPr lang="en-US" sz="1200" dirty="0">
                <a:solidFill>
                  <a:srgbClr val="8391A8"/>
                </a:solidFill>
                <a:latin typeface="Calibri" pitchFamily="34" charset="0"/>
                <a:ea typeface="Calibri" pitchFamily="34" charset="-122"/>
                <a:cs typeface="Calibri" pitchFamily="34" charset="-120"/>
              </a:rPr>
              <a:t>What we built</a:t>
            </a:r>
            <a:endParaRPr lang="en-US" sz="1200" dirty="0"/>
          </a:p>
        </p:txBody>
      </p:sp>
      <p:sp>
        <p:nvSpPr>
          <p:cNvPr id="8" name="Shape 6"/>
          <p:cNvSpPr/>
          <p:nvPr/>
        </p:nvSpPr>
        <p:spPr>
          <a:xfrm>
            <a:off x="2336749" y="5303520"/>
            <a:ext cx="1742389" cy="36576"/>
          </a:xfrm>
          <a:prstGeom prst="rect">
            <a:avLst/>
          </a:prstGeom>
          <a:solidFill>
            <a:srgbClr val="3A4A6A"/>
          </a:solidFill>
          <a:ln w="12700">
            <a:solidFill>
              <a:srgbClr val="3A4A6A"/>
            </a:solidFill>
            <a:prstDash val="solid"/>
          </a:ln>
        </p:spPr>
      </p:sp>
      <p:sp>
        <p:nvSpPr>
          <p:cNvPr id="9" name="Text 7"/>
          <p:cNvSpPr txBox="1"/>
          <p:nvPr/>
        </p:nvSpPr>
        <p:spPr>
          <a:xfrm>
            <a:off x="4216298"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C  </a:t>
            </a:r>
            <a:pPr indent="0" marL="0">
              <a:buNone/>
            </a:pPr>
            <a:r>
              <a:rPr lang="en-US" sz="1200" dirty="0">
                <a:solidFill>
                  <a:srgbClr val="8391A8"/>
                </a:solidFill>
                <a:latin typeface="Calibri" pitchFamily="34" charset="0"/>
                <a:ea typeface="Calibri" pitchFamily="34" charset="-122"/>
                <a:cs typeface="Calibri" pitchFamily="34" charset="-120"/>
              </a:rPr>
              <a:t>How it works</a:t>
            </a:r>
            <a:endParaRPr lang="en-US" sz="1200" dirty="0"/>
          </a:p>
        </p:txBody>
      </p:sp>
      <p:sp>
        <p:nvSpPr>
          <p:cNvPr id="10" name="Shape 8"/>
          <p:cNvSpPr/>
          <p:nvPr/>
        </p:nvSpPr>
        <p:spPr>
          <a:xfrm>
            <a:off x="4216298" y="5303520"/>
            <a:ext cx="1742389" cy="36576"/>
          </a:xfrm>
          <a:prstGeom prst="rect">
            <a:avLst/>
          </a:prstGeom>
          <a:solidFill>
            <a:srgbClr val="3A4A6A"/>
          </a:solidFill>
          <a:ln w="12700">
            <a:solidFill>
              <a:srgbClr val="3A4A6A"/>
            </a:solidFill>
            <a:prstDash val="solid"/>
          </a:ln>
        </p:spPr>
      </p:sp>
      <p:sp>
        <p:nvSpPr>
          <p:cNvPr id="11" name="Text 9"/>
          <p:cNvSpPr txBox="1"/>
          <p:nvPr/>
        </p:nvSpPr>
        <p:spPr>
          <a:xfrm>
            <a:off x="6095848" y="5394960"/>
            <a:ext cx="1788109"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D  </a:t>
            </a:r>
            <a:pP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p>
        </p:txBody>
      </p:sp>
      <p:sp>
        <p:nvSpPr>
          <p:cNvPr id="12" name="Shape 10"/>
          <p:cNvSpPr/>
          <p:nvPr/>
        </p:nvSpPr>
        <p:spPr>
          <a:xfrm>
            <a:off x="6095848" y="5303520"/>
            <a:ext cx="1742389" cy="36576"/>
          </a:xfrm>
          <a:prstGeom prst="rect">
            <a:avLst/>
          </a:prstGeom>
          <a:solidFill>
            <a:srgbClr val="C8553D"/>
          </a:solidFill>
          <a:ln w="12700">
            <a:solidFill>
              <a:srgbClr val="C8553D"/>
            </a:solidFill>
            <a:prstDash val="solid"/>
          </a:ln>
        </p:spPr>
      </p:sp>
      <p:sp>
        <p:nvSpPr>
          <p:cNvPr id="13" name="Text 11"/>
          <p:cNvSpPr txBox="1"/>
          <p:nvPr/>
        </p:nvSpPr>
        <p:spPr>
          <a:xfrm>
            <a:off x="7975397"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E  </a:t>
            </a:r>
            <a:pPr indent="0" marL="0">
              <a:buNone/>
            </a:pPr>
            <a:r>
              <a:rPr lang="en-US" sz="1200" dirty="0">
                <a:solidFill>
                  <a:srgbClr val="8391A8"/>
                </a:solidFill>
                <a:latin typeface="Calibri" pitchFamily="34" charset="0"/>
                <a:ea typeface="Calibri" pitchFamily="34" charset="-122"/>
                <a:cs typeface="Calibri" pitchFamily="34" charset="-120"/>
              </a:rPr>
              <a:t>What is not done</a:t>
            </a:r>
            <a:endParaRPr lang="en-US" sz="1200" dirty="0"/>
          </a:p>
        </p:txBody>
      </p:sp>
      <p:sp>
        <p:nvSpPr>
          <p:cNvPr id="14" name="Shape 12"/>
          <p:cNvSpPr/>
          <p:nvPr/>
        </p:nvSpPr>
        <p:spPr>
          <a:xfrm>
            <a:off x="7975397" y="5303520"/>
            <a:ext cx="1742389" cy="36576"/>
          </a:xfrm>
          <a:prstGeom prst="rect">
            <a:avLst/>
          </a:prstGeom>
          <a:solidFill>
            <a:srgbClr val="3A4A6A"/>
          </a:solidFill>
          <a:ln w="12700">
            <a:solidFill>
              <a:srgbClr val="3A4A6A"/>
            </a:solidFill>
            <a:prstDash val="solid"/>
          </a:ln>
        </p:spPr>
      </p:sp>
      <p:sp>
        <p:nvSpPr>
          <p:cNvPr id="15" name="Text 13"/>
          <p:cNvSpPr txBox="1"/>
          <p:nvPr/>
        </p:nvSpPr>
        <p:spPr>
          <a:xfrm>
            <a:off x="9854946"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F  </a:t>
            </a:r>
            <a:pPr indent="0" marL="0">
              <a:buNone/>
            </a:pPr>
            <a:r>
              <a:rPr lang="en-US" sz="1200" dirty="0">
                <a:solidFill>
                  <a:srgbClr val="8391A8"/>
                </a:solidFill>
                <a:latin typeface="Calibri" pitchFamily="34" charset="0"/>
                <a:ea typeface="Calibri" pitchFamily="34" charset="-122"/>
                <a:cs typeface="Calibri" pitchFamily="34" charset="-120"/>
              </a:rPr>
              <a:t>Road to production</a:t>
            </a:r>
            <a:endParaRPr lang="en-US" sz="1200" dirty="0"/>
          </a:p>
        </p:txBody>
      </p:sp>
      <p:sp>
        <p:nvSpPr>
          <p:cNvPr id="16" name="Shape 14"/>
          <p:cNvSpPr/>
          <p:nvPr/>
        </p:nvSpPr>
        <p:spPr>
          <a:xfrm>
            <a:off x="9854946" y="5303520"/>
            <a:ext cx="1742389" cy="36576"/>
          </a:xfrm>
          <a:prstGeom prst="rect">
            <a:avLst/>
          </a:prstGeom>
          <a:solidFill>
            <a:srgbClr val="3A4A6A"/>
          </a:solidFill>
          <a:ln w="12700">
            <a:solidFill>
              <a:srgbClr val="3A4A6A"/>
            </a:solidFill>
            <a:prstDash val="solid"/>
          </a:ln>
        </p:spPr>
      </p:sp>
      <p:sp>
        <p:nvSpPr>
          <p:cNvPr id="17" name="Text 15"/>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C9D3E3"/>
                </a:solidFill>
                <a:latin typeface="Calibri" pitchFamily="34" charset="0"/>
                <a:ea typeface="Calibri" pitchFamily="34" charset="-122"/>
                <a:cs typeface="Calibri" pitchFamily="34" charset="-120"/>
              </a:rPr>
              <a:t>Consilium  |  </a:t>
            </a:r>
            <a:pPr algn="r" indent="0" marL="0">
              <a:buNone/>
            </a:pPr>
            <a:r>
              <a:rPr lang="en-US" sz="900" b="1" dirty="0">
                <a:solidFill>
                  <a:srgbClr val="FFFFFF"/>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D  ·  EVIDENCE</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All 64 mandatory requirements re-measured on the final build: 49 fully reachable, 9 partly, and 6 missing one mandatory clause</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 docs/delivery/REQUIREMENTS-COVERAGE.md §1.2 (classes), §2 (summary), final measurement 18 Sep 2026 against release 1.0.0 and the rebuilt demo site; the 17 Sep baseline is the same method before the final wave. Classes: a = portal screen; b = workspace, configuration or job by design; c = partly reachable; d = not implemented in whole or in a mandatory clause.</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27</a:t>
            </a:r>
            <a:endParaRPr lang="en-US" sz="900" dirty="0"/>
          </a:p>
        </p:txBody>
      </p:sp>
      <p:graphicFrame>
        <p:nvGraphicFramePr>
          <p:cNvPr id="7" name="Chart 0" descr=""/>
          <p:cNvGraphicFramePr/>
          <p:nvPr/>
        </p:nvGraphicFramePr>
        <p:xfrm>
          <a:off x="457200" y="1600200"/>
          <a:ext cx="7406640" cy="402336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457200" y="5715000"/>
            <a:ext cx="7406640" cy="320040"/>
          </a:xfrm>
          <a:prstGeom prst="rect">
            <a:avLst/>
          </a:prstGeom>
          <a:noFill/>
          <a:ln/>
        </p:spPr>
        <p:txBody>
          <a:bodyPr wrap="square" lIns="0" tIns="0" rIns="0" bIns="0" rtlCol="0" anchor="t"/>
          <a:lstStyle/>
          <a:p>
            <a:pPr algn="ctr" indent="0" marL="0">
              <a:buNone/>
            </a:pPr>
            <a:r>
              <a:rPr lang="en-US" sz="1200" dirty="0">
                <a:solidFill>
                  <a:srgbClr val="14213D"/>
                </a:solidFill>
                <a:latin typeface="Calibri" pitchFamily="34" charset="0"/>
                <a:ea typeface="Calibri" pitchFamily="34" charset="-122"/>
                <a:cs typeface="Calibri" pitchFamily="34" charset="-120"/>
              </a:rPr>
              <a:t>Mandatory total:  </a:t>
            </a:r>
            <a:pPr algn="ctr" indent="0" marL="0">
              <a:buNone/>
            </a:pPr>
            <a:r>
              <a:rPr lang="en-US" sz="1200" b="1" dirty="0">
                <a:solidFill>
                  <a:srgbClr val="14213D"/>
                </a:solidFill>
                <a:latin typeface="Calibri" pitchFamily="34" charset="0"/>
                <a:ea typeface="Calibri" pitchFamily="34" charset="-122"/>
                <a:cs typeface="Calibri" pitchFamily="34" charset="-120"/>
              </a:rPr>
              <a:t>a 43  ·  b 6  ·  c 9  ·  d 6</a:t>
            </a:r>
            <a:pPr algn="ctr" indent="0" marL="0">
              <a:buNone/>
            </a:pPr>
            <a:r>
              <a:rPr lang="en-US" sz="1200" dirty="0">
                <a:solidFill>
                  <a:srgbClr val="14213D"/>
                </a:solidFill>
                <a:latin typeface="Calibri" pitchFamily="34" charset="0"/>
                <a:ea typeface="Calibri" pitchFamily="34" charset="-122"/>
                <a:cs typeface="Calibri" pitchFamily="34" charset="-120"/>
              </a:rPr>
              <a:t>  = 64</a:t>
            </a:r>
            <a:endParaRPr lang="en-US" sz="1200" dirty="0"/>
          </a:p>
        </p:txBody>
      </p:sp>
      <p:sp>
        <p:nvSpPr>
          <p:cNvPr id="9" name="Text 5"/>
          <p:cNvSpPr txBox="1"/>
          <p:nvPr/>
        </p:nvSpPr>
        <p:spPr>
          <a:xfrm>
            <a:off x="8183880" y="1600200"/>
            <a:ext cx="3550615" cy="3108960"/>
          </a:xfrm>
          <a:prstGeom prst="rect">
            <a:avLst/>
          </a:prstGeom>
          <a:noFill/>
          <a:ln/>
        </p:spPr>
        <p:txBody>
          <a:bodyPr wrap="square" lIns="0" tIns="0" rIns="0" bIns="0" rtlCol="0" anchor="t"/>
          <a:lstStyle/>
          <a:p>
            <a:pPr algn="l" indent="0" marL="0">
              <a:spcAft>
                <a:spcPts val="600"/>
              </a:spcAft>
              <a:buNone/>
            </a:pPr>
            <a:r>
              <a:rPr lang="en-US" sz="1400" b="1" dirty="0">
                <a:solidFill>
                  <a:srgbClr val="14213D"/>
                </a:solidFill>
                <a:latin typeface="Calibri" pitchFamily="34" charset="0"/>
                <a:ea typeface="Calibri" pitchFamily="34" charset="-122"/>
                <a:cs typeface="Calibri" pitchFamily="34" charset="-120"/>
              </a:rPr>
              <a:t>What the measurement says</a:t>
            </a:r>
            <a:endParaRPr lang="en-US" sz="1400" dirty="0"/>
          </a:p>
          <a:p>
            <a:pPr algn="l" marL="177800" indent="-177800">
              <a:spcAft>
                <a:spcPts val="600"/>
              </a:spcAft>
              <a:buSzPct val="100000"/>
              <a:buChar char="•"/>
            </a:pPr>
            <a:r>
              <a:rPr lang="en-US" sz="1150" b="1" dirty="0">
                <a:solidFill>
                  <a:srgbClr val="2A2F36"/>
                </a:solidFill>
                <a:latin typeface="Calibri" pitchFamily="34" charset="0"/>
                <a:ea typeface="Calibri" pitchFamily="34" charset="-122"/>
                <a:cs typeface="Calibri" pitchFamily="34" charset="-120"/>
              </a:rPr>
              <a:t>Policy closed its gap:</a:t>
            </a:r>
            <a:pPr algn="l" marL="177800" indent="-177800">
              <a:spcAft>
                <a:spcPts val="600"/>
              </a:spcAft>
              <a:buSzPct val="100000"/>
              <a:buChar char="•"/>
            </a:pPr>
            <a:r>
              <a:rPr lang="en-US" sz="1150" dirty="0">
                <a:solidFill>
                  <a:srgbClr val="2A2F36"/>
                </a:solidFill>
                <a:latin typeface="Calibri" pitchFamily="34" charset="0"/>
                <a:ea typeface="Calibri" pitchFamily="34" charset="-122"/>
                <a:cs typeface="Calibri" pitchFamily="34" charset="-120"/>
              </a:rPr>
              <a:t> 22 of 26 now in class a or b; every policy action is on the portal.</a:t>
            </a:r>
            <a:endParaRPr lang="en-US" sz="1400" dirty="0"/>
          </a:p>
          <a:p>
            <a:pPr algn="l" marL="177800" indent="-177800">
              <a:spcAft>
                <a:spcPts val="600"/>
              </a:spcAft>
              <a:buSzPct val="100000"/>
              <a:buChar char="•"/>
            </a:pPr>
            <a:r>
              <a:rPr lang="en-US" sz="1150" b="1" dirty="0">
                <a:solidFill>
                  <a:srgbClr val="2A2F36"/>
                </a:solidFill>
                <a:latin typeface="Calibri" pitchFamily="34" charset="0"/>
                <a:ea typeface="Calibri" pitchFamily="34" charset="-122"/>
                <a:cs typeface="Calibri" pitchFamily="34" charset="-120"/>
              </a:rPr>
              <a:t>Class c (9):</a:t>
            </a:r>
            <a:pPr algn="l" marL="177800" indent="-177800">
              <a:spcAft>
                <a:spcPts val="600"/>
              </a:spcAft>
              <a:buSzPct val="100000"/>
              <a:buChar char="•"/>
            </a:pPr>
            <a:r>
              <a:rPr lang="en-US" sz="1150" dirty="0">
                <a:solidFill>
                  <a:srgbClr val="2A2F36"/>
                </a:solidFill>
                <a:latin typeface="Calibri" pitchFamily="34" charset="0"/>
                <a:ea typeface="Calibri" pitchFamily="34" charset="-122"/>
                <a:cs typeface="Calibri" pitchFamily="34" charset="-120"/>
              </a:rPr>
              <a:t> mostly two missing screens: carrying out a disposal, and outbound export.</a:t>
            </a:r>
            <a:endParaRPr lang="en-US" sz="1400" dirty="0"/>
          </a:p>
          <a:p>
            <a:pPr algn="l" marL="177800" indent="-177800">
              <a:spcAft>
                <a:spcPts val="600"/>
              </a:spcAft>
              <a:buSzPct val="100000"/>
              <a:buChar char="•"/>
            </a:pPr>
            <a:r>
              <a:rPr lang="en-US" sz="1150" b="1" dirty="0">
                <a:solidFill>
                  <a:srgbClr val="2A2F36"/>
                </a:solidFill>
                <a:latin typeface="Calibri" pitchFamily="34" charset="0"/>
                <a:ea typeface="Calibri" pitchFamily="34" charset="-122"/>
                <a:cs typeface="Calibri" pitchFamily="34" charset="-120"/>
              </a:rPr>
              <a:t>64 of 64</a:t>
            </a:r>
            <a:pPr algn="l" marL="177800" indent="-177800">
              <a:spcAft>
                <a:spcPts val="600"/>
              </a:spcAft>
              <a:buSzPct val="100000"/>
              <a:buChar char="•"/>
            </a:pPr>
            <a:r>
              <a:rPr lang="en-US" sz="1150" dirty="0">
                <a:solidFill>
                  <a:srgbClr val="2A2F36"/>
                </a:solidFill>
                <a:latin typeface="Calibri" pitchFamily="34" charset="0"/>
                <a:ea typeface="Calibri" pitchFamily="34" charset="-122"/>
                <a:cs typeface="Calibri" pitchFamily="34" charset="-120"/>
              </a:rPr>
              <a:t> have a direct, passing test; for 11 the tests cover only part of the requirement.</a:t>
            </a:r>
            <a:endParaRPr lang="en-US" sz="1400" dirty="0"/>
          </a:p>
          <a:p>
            <a:pPr algn="l" marL="177800" indent="-177800">
              <a:spcAft>
                <a:spcPts val="600"/>
              </a:spcAft>
              <a:buSzPct val="100000"/>
              <a:buChar char="•"/>
            </a:pPr>
            <a:r>
              <a:rPr lang="en-US" sz="1150" dirty="0">
                <a:solidFill>
                  <a:srgbClr val="2A2F36"/>
                </a:solidFill>
                <a:latin typeface="Calibri" pitchFamily="34" charset="0"/>
                <a:ea typeface="Calibri" pitchFamily="34" charset="-122"/>
                <a:cs typeface="Calibri" pitchFamily="34" charset="-120"/>
              </a:rPr>
              <a:t>A passing test proves only what it exercises: the missing clauses of class d are untested by definition.</a:t>
            </a:r>
            <a:endParaRPr lang="en-US" sz="1400" dirty="0"/>
          </a:p>
        </p:txBody>
      </p:sp>
      <p:sp>
        <p:nvSpPr>
          <p:cNvPr id="10" name="Shape 6"/>
          <p:cNvSpPr/>
          <p:nvPr/>
        </p:nvSpPr>
        <p:spPr>
          <a:xfrm>
            <a:off x="8183880" y="4754880"/>
            <a:ext cx="3550615" cy="1371600"/>
          </a:xfrm>
          <a:prstGeom prst="rect">
            <a:avLst/>
          </a:prstGeom>
          <a:solidFill>
            <a:srgbClr val="E8EDF5"/>
          </a:solidFill>
          <a:ln w="12700">
            <a:solidFill>
              <a:srgbClr val="E8EDF5"/>
            </a:solidFill>
            <a:prstDash val="solid"/>
          </a:ln>
        </p:spPr>
      </p:sp>
      <p:sp>
        <p:nvSpPr>
          <p:cNvPr id="11" name="Text 7"/>
          <p:cNvSpPr txBox="1"/>
          <p:nvPr/>
        </p:nvSpPr>
        <p:spPr>
          <a:xfrm>
            <a:off x="8321040" y="4828032"/>
            <a:ext cx="3276295" cy="1234440"/>
          </a:xfrm>
          <a:prstGeom prst="rect">
            <a:avLst/>
          </a:prstGeom>
          <a:noFill/>
          <a:ln/>
        </p:spPr>
        <p:txBody>
          <a:bodyPr wrap="square" lIns="0" tIns="0" rIns="0" bIns="0" rtlCol="0" anchor="ctr"/>
          <a:lstStyle/>
          <a:p>
            <a:pPr algn="l" indent="0" marL="0">
              <a:spcAft>
                <a:spcPts val="400"/>
              </a:spcAft>
              <a:buNone/>
            </a:pPr>
            <a:r>
              <a:rPr lang="en-US" sz="950" b="1" dirty="0">
                <a:solidFill>
                  <a:srgbClr val="6B7380"/>
                </a:solidFill>
                <a:latin typeface="Calibri" pitchFamily="34" charset="0"/>
                <a:ea typeface="Calibri" pitchFamily="34" charset="-122"/>
                <a:cs typeface="Calibri" pitchFamily="34" charset="-120"/>
              </a:rPr>
              <a:t>17 SEPTEMBER BASELINE (BEFORE THE FINAL WAVE)</a:t>
            </a:r>
            <a:endParaRPr lang="en-US" sz="950" dirty="0"/>
          </a:p>
          <a:p>
            <a:pPr algn="l" indent="0" marL="0">
              <a:spcAft>
                <a:spcPts val="300"/>
              </a:spcAft>
              <a:buNone/>
            </a:pPr>
            <a:r>
              <a:rPr lang="en-US" sz="1300" b="1" dirty="0">
                <a:solidFill>
                  <a:srgbClr val="14213D"/>
                </a:solidFill>
                <a:latin typeface="Calibri" pitchFamily="34" charset="0"/>
                <a:ea typeface="Calibri" pitchFamily="34" charset="-122"/>
                <a:cs typeface="Calibri" pitchFamily="34" charset="-120"/>
              </a:rPr>
              <a:t>a 19  ·  b 3  ·  c 24  ·  d 18</a:t>
            </a:r>
            <a:endParaRPr lang="en-US" sz="950" dirty="0"/>
          </a:p>
          <a:p>
            <a:pPr algn="l" indent="0" marL="0">
              <a:spcAft>
                <a:spcPts val="400"/>
              </a:spcAft>
              <a:buNone/>
            </a:pPr>
            <a:r>
              <a:rPr lang="en-US" sz="1000" dirty="0">
                <a:solidFill>
                  <a:srgbClr val="6B7380"/>
                </a:solidFill>
                <a:latin typeface="Calibri" pitchFamily="34" charset="0"/>
                <a:ea typeface="Calibri" pitchFamily="34" charset="-122"/>
                <a:cs typeface="Calibri" pitchFamily="34" charset="-120"/>
              </a:rPr>
              <a:t>Same method, same classes: 22 fully reachable then, 49 now</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D  ·  EVIDENCE</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Requirement by requirement, what remains is narrow: routing depth, two missing notices, disposal and outbound export</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 docs/delivery/REQUIREMENTS-COVERAGE.md §3 (per-requirement 'Reachable' column) and §4 (gaps), final measurement 18 Sep 2026.</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28</a:t>
            </a:r>
            <a:endParaRPr lang="en-US" sz="900" dirty="0"/>
          </a:p>
        </p:txBody>
      </p:sp>
      <p:sp>
        <p:nvSpPr>
          <p:cNvPr id="7" name="Text 4"/>
          <p:cNvSpPr txBox="1"/>
          <p:nvPr/>
        </p:nvSpPr>
        <p:spPr>
          <a:xfrm>
            <a:off x="457200" y="1691640"/>
            <a:ext cx="1371600" cy="658368"/>
          </a:xfrm>
          <a:prstGeom prst="rect">
            <a:avLst/>
          </a:prstGeom>
          <a:noFill/>
          <a:ln/>
        </p:spPr>
        <p:txBody>
          <a:bodyPr wrap="square" lIns="0" tIns="0" rIns="0" bIns="0" rtlCol="0" anchor="ctr"/>
          <a:lstStyle/>
          <a:p>
            <a:pPr algn="l" indent="0" marL="0">
              <a:buNone/>
            </a:pPr>
            <a:r>
              <a:rPr lang="en-US" sz="1200" b="1" dirty="0">
                <a:solidFill>
                  <a:srgbClr val="14213D"/>
                </a:solidFill>
                <a:latin typeface="Calibri" pitchFamily="34" charset="0"/>
                <a:ea typeface="Calibri" pitchFamily="34" charset="-122"/>
                <a:cs typeface="Calibri" pitchFamily="34" charset="-120"/>
              </a:rPr>
              <a:t>Governance</a:t>
            </a:r>
            <a:endParaRPr lang="en-US" sz="1200" dirty="0"/>
          </a:p>
          <a:p>
            <a:pPr algn="l" indent="0" marL="0">
              <a:spcAft>
                <a:spcPts val="400"/>
              </a:spcAft>
              <a:buNone/>
            </a:pPr>
            <a:r>
              <a:rPr lang="en-US" sz="950" dirty="0">
                <a:solidFill>
                  <a:srgbClr val="6B7380"/>
                </a:solidFill>
                <a:latin typeface="Calibri" pitchFamily="34" charset="0"/>
                <a:ea typeface="Calibri" pitchFamily="34" charset="-122"/>
                <a:cs typeface="Calibri" pitchFamily="34" charset="-120"/>
              </a:rPr>
              <a:t>19 requirements</a:t>
            </a:r>
            <a:endParaRPr lang="en-US" sz="1200" dirty="0"/>
          </a:p>
        </p:txBody>
      </p:sp>
      <p:sp>
        <p:nvSpPr>
          <p:cNvPr id="8" name="Shape 5"/>
          <p:cNvSpPr/>
          <p:nvPr/>
        </p:nvSpPr>
        <p:spPr>
          <a:xfrm>
            <a:off x="1874520" y="1691640"/>
            <a:ext cx="335268" cy="658368"/>
          </a:xfrm>
          <a:prstGeom prst="rect">
            <a:avLst/>
          </a:prstGeom>
          <a:solidFill>
            <a:srgbClr val="14213D"/>
          </a:solidFill>
          <a:ln w="12700">
            <a:solidFill>
              <a:srgbClr val="14213D"/>
            </a:solidFill>
            <a:prstDash val="solid"/>
          </a:ln>
        </p:spPr>
      </p:sp>
      <p:sp>
        <p:nvSpPr>
          <p:cNvPr id="9" name="Text 6"/>
          <p:cNvSpPr txBox="1"/>
          <p:nvPr/>
        </p:nvSpPr>
        <p:spPr>
          <a:xfrm>
            <a:off x="1874520"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7"/>
          <p:cNvSpPr/>
          <p:nvPr/>
        </p:nvSpPr>
        <p:spPr>
          <a:xfrm>
            <a:off x="2255508" y="1691640"/>
            <a:ext cx="335268" cy="658368"/>
          </a:xfrm>
          <a:prstGeom prst="rect">
            <a:avLst/>
          </a:prstGeom>
          <a:solidFill>
            <a:srgbClr val="14213D"/>
          </a:solidFill>
          <a:ln w="12700">
            <a:solidFill>
              <a:srgbClr val="14213D"/>
            </a:solidFill>
            <a:prstDash val="solid"/>
          </a:ln>
        </p:spPr>
      </p:sp>
      <p:sp>
        <p:nvSpPr>
          <p:cNvPr id="11" name="Text 8"/>
          <p:cNvSpPr txBox="1"/>
          <p:nvPr/>
        </p:nvSpPr>
        <p:spPr>
          <a:xfrm>
            <a:off x="2255508"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800" dirty="0"/>
          </a:p>
        </p:txBody>
      </p:sp>
      <p:sp>
        <p:nvSpPr>
          <p:cNvPr id="12" name="Shape 9"/>
          <p:cNvSpPr/>
          <p:nvPr/>
        </p:nvSpPr>
        <p:spPr>
          <a:xfrm>
            <a:off x="2636497" y="1691640"/>
            <a:ext cx="335268" cy="658368"/>
          </a:xfrm>
          <a:prstGeom prst="rect">
            <a:avLst/>
          </a:prstGeom>
          <a:solidFill>
            <a:srgbClr val="14213D"/>
          </a:solidFill>
          <a:ln w="12700">
            <a:solidFill>
              <a:srgbClr val="14213D"/>
            </a:solidFill>
            <a:prstDash val="solid"/>
          </a:ln>
        </p:spPr>
      </p:sp>
      <p:sp>
        <p:nvSpPr>
          <p:cNvPr id="13" name="Text 10"/>
          <p:cNvSpPr txBox="1"/>
          <p:nvPr/>
        </p:nvSpPr>
        <p:spPr>
          <a:xfrm>
            <a:off x="2636497"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800" dirty="0"/>
          </a:p>
        </p:txBody>
      </p:sp>
      <p:sp>
        <p:nvSpPr>
          <p:cNvPr id="14" name="Shape 11"/>
          <p:cNvSpPr/>
          <p:nvPr/>
        </p:nvSpPr>
        <p:spPr>
          <a:xfrm>
            <a:off x="3017485" y="1691640"/>
            <a:ext cx="335268" cy="658368"/>
          </a:xfrm>
          <a:prstGeom prst="rect">
            <a:avLst/>
          </a:prstGeom>
          <a:solidFill>
            <a:srgbClr val="14213D"/>
          </a:solidFill>
          <a:ln w="12700">
            <a:solidFill>
              <a:srgbClr val="14213D"/>
            </a:solidFill>
            <a:prstDash val="solid"/>
          </a:ln>
        </p:spPr>
      </p:sp>
      <p:sp>
        <p:nvSpPr>
          <p:cNvPr id="15" name="Text 12"/>
          <p:cNvSpPr txBox="1"/>
          <p:nvPr/>
        </p:nvSpPr>
        <p:spPr>
          <a:xfrm>
            <a:off x="3017485"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800" dirty="0"/>
          </a:p>
        </p:txBody>
      </p:sp>
      <p:sp>
        <p:nvSpPr>
          <p:cNvPr id="16" name="Shape 13"/>
          <p:cNvSpPr/>
          <p:nvPr/>
        </p:nvSpPr>
        <p:spPr>
          <a:xfrm>
            <a:off x="3398473" y="1691640"/>
            <a:ext cx="335268" cy="658368"/>
          </a:xfrm>
          <a:prstGeom prst="rect">
            <a:avLst/>
          </a:prstGeom>
          <a:solidFill>
            <a:srgbClr val="14213D"/>
          </a:solidFill>
          <a:ln w="12700">
            <a:solidFill>
              <a:srgbClr val="14213D"/>
            </a:solidFill>
            <a:prstDash val="solid"/>
          </a:ln>
        </p:spPr>
      </p:sp>
      <p:sp>
        <p:nvSpPr>
          <p:cNvPr id="17" name="Text 14"/>
          <p:cNvSpPr txBox="1"/>
          <p:nvPr/>
        </p:nvSpPr>
        <p:spPr>
          <a:xfrm>
            <a:off x="3398473"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800" dirty="0"/>
          </a:p>
        </p:txBody>
      </p:sp>
      <p:sp>
        <p:nvSpPr>
          <p:cNvPr id="18" name="Shape 15"/>
          <p:cNvSpPr/>
          <p:nvPr/>
        </p:nvSpPr>
        <p:spPr>
          <a:xfrm>
            <a:off x="3779461" y="1691640"/>
            <a:ext cx="335268" cy="658368"/>
          </a:xfrm>
          <a:prstGeom prst="rect">
            <a:avLst/>
          </a:prstGeom>
          <a:solidFill>
            <a:srgbClr val="3D6A9E"/>
          </a:solidFill>
          <a:ln w="12700">
            <a:solidFill>
              <a:srgbClr val="3D6A9E"/>
            </a:solidFill>
            <a:prstDash val="solid"/>
          </a:ln>
        </p:spPr>
      </p:sp>
      <p:sp>
        <p:nvSpPr>
          <p:cNvPr id="19" name="Text 16"/>
          <p:cNvSpPr txBox="1"/>
          <p:nvPr/>
        </p:nvSpPr>
        <p:spPr>
          <a:xfrm>
            <a:off x="3779461"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800" dirty="0"/>
          </a:p>
        </p:txBody>
      </p:sp>
      <p:sp>
        <p:nvSpPr>
          <p:cNvPr id="20" name="Shape 17"/>
          <p:cNvSpPr/>
          <p:nvPr/>
        </p:nvSpPr>
        <p:spPr>
          <a:xfrm>
            <a:off x="4160450" y="1691640"/>
            <a:ext cx="335268" cy="658368"/>
          </a:xfrm>
          <a:prstGeom prst="rect">
            <a:avLst/>
          </a:prstGeom>
          <a:solidFill>
            <a:srgbClr val="14213D"/>
          </a:solidFill>
          <a:ln w="12700">
            <a:solidFill>
              <a:srgbClr val="14213D"/>
            </a:solidFill>
            <a:prstDash val="solid"/>
          </a:ln>
        </p:spPr>
      </p:sp>
      <p:sp>
        <p:nvSpPr>
          <p:cNvPr id="21" name="Text 18"/>
          <p:cNvSpPr txBox="1"/>
          <p:nvPr/>
        </p:nvSpPr>
        <p:spPr>
          <a:xfrm>
            <a:off x="4160450"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800" dirty="0"/>
          </a:p>
        </p:txBody>
      </p:sp>
      <p:sp>
        <p:nvSpPr>
          <p:cNvPr id="22" name="Shape 19"/>
          <p:cNvSpPr/>
          <p:nvPr/>
        </p:nvSpPr>
        <p:spPr>
          <a:xfrm>
            <a:off x="4541438" y="1691640"/>
            <a:ext cx="335268" cy="658368"/>
          </a:xfrm>
          <a:prstGeom prst="rect">
            <a:avLst/>
          </a:prstGeom>
          <a:solidFill>
            <a:srgbClr val="C8553D"/>
          </a:solidFill>
          <a:ln w="12700">
            <a:solidFill>
              <a:srgbClr val="C8553D"/>
            </a:solidFill>
            <a:prstDash val="solid"/>
          </a:ln>
        </p:spPr>
      </p:sp>
      <p:sp>
        <p:nvSpPr>
          <p:cNvPr id="23" name="Text 20"/>
          <p:cNvSpPr txBox="1"/>
          <p:nvPr/>
        </p:nvSpPr>
        <p:spPr>
          <a:xfrm>
            <a:off x="4541438"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800" dirty="0"/>
          </a:p>
        </p:txBody>
      </p:sp>
      <p:sp>
        <p:nvSpPr>
          <p:cNvPr id="24" name="Shape 21"/>
          <p:cNvSpPr/>
          <p:nvPr/>
        </p:nvSpPr>
        <p:spPr>
          <a:xfrm>
            <a:off x="4922426" y="1691640"/>
            <a:ext cx="335268" cy="658368"/>
          </a:xfrm>
          <a:prstGeom prst="rect">
            <a:avLst/>
          </a:prstGeom>
          <a:solidFill>
            <a:srgbClr val="14213D"/>
          </a:solidFill>
          <a:ln w="12700">
            <a:solidFill>
              <a:srgbClr val="14213D"/>
            </a:solidFill>
            <a:prstDash val="solid"/>
          </a:ln>
        </p:spPr>
      </p:sp>
      <p:sp>
        <p:nvSpPr>
          <p:cNvPr id="25" name="Text 22"/>
          <p:cNvSpPr txBox="1"/>
          <p:nvPr/>
        </p:nvSpPr>
        <p:spPr>
          <a:xfrm>
            <a:off x="4922426"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800" dirty="0"/>
          </a:p>
        </p:txBody>
      </p:sp>
      <p:sp>
        <p:nvSpPr>
          <p:cNvPr id="26" name="Shape 23"/>
          <p:cNvSpPr/>
          <p:nvPr/>
        </p:nvSpPr>
        <p:spPr>
          <a:xfrm>
            <a:off x="5303414" y="1691640"/>
            <a:ext cx="335268" cy="658368"/>
          </a:xfrm>
          <a:prstGeom prst="rect">
            <a:avLst/>
          </a:prstGeom>
          <a:solidFill>
            <a:srgbClr val="C8553D"/>
          </a:solidFill>
          <a:ln w="12700">
            <a:solidFill>
              <a:srgbClr val="C8553D"/>
            </a:solidFill>
            <a:prstDash val="solid"/>
          </a:ln>
        </p:spPr>
      </p:sp>
      <p:sp>
        <p:nvSpPr>
          <p:cNvPr id="27" name="Text 24"/>
          <p:cNvSpPr txBox="1"/>
          <p:nvPr/>
        </p:nvSpPr>
        <p:spPr>
          <a:xfrm>
            <a:off x="5303414"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800" dirty="0"/>
          </a:p>
        </p:txBody>
      </p:sp>
      <p:sp>
        <p:nvSpPr>
          <p:cNvPr id="28" name="Shape 25"/>
          <p:cNvSpPr/>
          <p:nvPr/>
        </p:nvSpPr>
        <p:spPr>
          <a:xfrm>
            <a:off x="5684403" y="1691640"/>
            <a:ext cx="335268" cy="658368"/>
          </a:xfrm>
          <a:prstGeom prst="rect">
            <a:avLst/>
          </a:prstGeom>
          <a:solidFill>
            <a:srgbClr val="14213D"/>
          </a:solidFill>
          <a:ln w="12700">
            <a:solidFill>
              <a:srgbClr val="14213D"/>
            </a:solidFill>
            <a:prstDash val="solid"/>
          </a:ln>
        </p:spPr>
      </p:sp>
      <p:sp>
        <p:nvSpPr>
          <p:cNvPr id="29" name="Text 26"/>
          <p:cNvSpPr txBox="1"/>
          <p:nvPr/>
        </p:nvSpPr>
        <p:spPr>
          <a:xfrm>
            <a:off x="5684403"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800" dirty="0"/>
          </a:p>
        </p:txBody>
      </p:sp>
      <p:sp>
        <p:nvSpPr>
          <p:cNvPr id="30" name="Shape 27"/>
          <p:cNvSpPr/>
          <p:nvPr/>
        </p:nvSpPr>
        <p:spPr>
          <a:xfrm>
            <a:off x="6065391" y="1691640"/>
            <a:ext cx="335268" cy="658368"/>
          </a:xfrm>
          <a:prstGeom prst="rect">
            <a:avLst/>
          </a:prstGeom>
          <a:solidFill>
            <a:srgbClr val="8D99AE"/>
          </a:solidFill>
          <a:ln w="12700">
            <a:solidFill>
              <a:srgbClr val="8D99AE"/>
            </a:solidFill>
            <a:prstDash val="solid"/>
          </a:ln>
        </p:spPr>
      </p:sp>
      <p:sp>
        <p:nvSpPr>
          <p:cNvPr id="31" name="Text 28"/>
          <p:cNvSpPr txBox="1"/>
          <p:nvPr/>
        </p:nvSpPr>
        <p:spPr>
          <a:xfrm>
            <a:off x="6065391"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800" dirty="0"/>
          </a:p>
        </p:txBody>
      </p:sp>
      <p:sp>
        <p:nvSpPr>
          <p:cNvPr id="32" name="Shape 29"/>
          <p:cNvSpPr/>
          <p:nvPr/>
        </p:nvSpPr>
        <p:spPr>
          <a:xfrm>
            <a:off x="6446379" y="1691640"/>
            <a:ext cx="335268" cy="658368"/>
          </a:xfrm>
          <a:prstGeom prst="rect">
            <a:avLst/>
          </a:prstGeom>
          <a:solidFill>
            <a:srgbClr val="8D99AE"/>
          </a:solidFill>
          <a:ln w="12700">
            <a:solidFill>
              <a:srgbClr val="8D99AE"/>
            </a:solidFill>
            <a:prstDash val="solid"/>
          </a:ln>
        </p:spPr>
      </p:sp>
      <p:sp>
        <p:nvSpPr>
          <p:cNvPr id="33" name="Text 30"/>
          <p:cNvSpPr txBox="1"/>
          <p:nvPr/>
        </p:nvSpPr>
        <p:spPr>
          <a:xfrm>
            <a:off x="6446379"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800" dirty="0"/>
          </a:p>
        </p:txBody>
      </p:sp>
      <p:sp>
        <p:nvSpPr>
          <p:cNvPr id="34" name="Shape 31"/>
          <p:cNvSpPr/>
          <p:nvPr/>
        </p:nvSpPr>
        <p:spPr>
          <a:xfrm>
            <a:off x="6827368" y="1691640"/>
            <a:ext cx="335268" cy="658368"/>
          </a:xfrm>
          <a:prstGeom prst="rect">
            <a:avLst/>
          </a:prstGeom>
          <a:solidFill>
            <a:srgbClr val="C8553D"/>
          </a:solidFill>
          <a:ln w="12700">
            <a:solidFill>
              <a:srgbClr val="C8553D"/>
            </a:solidFill>
            <a:prstDash val="solid"/>
          </a:ln>
        </p:spPr>
      </p:sp>
      <p:sp>
        <p:nvSpPr>
          <p:cNvPr id="35" name="Text 32"/>
          <p:cNvSpPr txBox="1"/>
          <p:nvPr/>
        </p:nvSpPr>
        <p:spPr>
          <a:xfrm>
            <a:off x="6827368"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800" dirty="0"/>
          </a:p>
        </p:txBody>
      </p:sp>
      <p:sp>
        <p:nvSpPr>
          <p:cNvPr id="36" name="Shape 33"/>
          <p:cNvSpPr/>
          <p:nvPr/>
        </p:nvSpPr>
        <p:spPr>
          <a:xfrm>
            <a:off x="7208356" y="1691640"/>
            <a:ext cx="335268" cy="658368"/>
          </a:xfrm>
          <a:prstGeom prst="rect">
            <a:avLst/>
          </a:prstGeom>
          <a:solidFill>
            <a:srgbClr val="14213D"/>
          </a:solidFill>
          <a:ln w="12700">
            <a:solidFill>
              <a:srgbClr val="14213D"/>
            </a:solidFill>
            <a:prstDash val="solid"/>
          </a:ln>
        </p:spPr>
      </p:sp>
      <p:sp>
        <p:nvSpPr>
          <p:cNvPr id="37" name="Text 34"/>
          <p:cNvSpPr txBox="1"/>
          <p:nvPr/>
        </p:nvSpPr>
        <p:spPr>
          <a:xfrm>
            <a:off x="7208356"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800" dirty="0"/>
          </a:p>
        </p:txBody>
      </p:sp>
      <p:sp>
        <p:nvSpPr>
          <p:cNvPr id="38" name="Shape 35"/>
          <p:cNvSpPr/>
          <p:nvPr/>
        </p:nvSpPr>
        <p:spPr>
          <a:xfrm>
            <a:off x="7589344" y="1691640"/>
            <a:ext cx="335268" cy="658368"/>
          </a:xfrm>
          <a:prstGeom prst="rect">
            <a:avLst/>
          </a:prstGeom>
          <a:solidFill>
            <a:srgbClr val="8D99AE"/>
          </a:solidFill>
          <a:ln w="12700">
            <a:solidFill>
              <a:srgbClr val="8D99AE"/>
            </a:solidFill>
            <a:prstDash val="solid"/>
          </a:ln>
        </p:spPr>
      </p:sp>
      <p:sp>
        <p:nvSpPr>
          <p:cNvPr id="39" name="Text 36"/>
          <p:cNvSpPr txBox="1"/>
          <p:nvPr/>
        </p:nvSpPr>
        <p:spPr>
          <a:xfrm>
            <a:off x="7589344"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16</a:t>
            </a:r>
            <a:endParaRPr lang="en-US" sz="800" dirty="0"/>
          </a:p>
        </p:txBody>
      </p:sp>
      <p:sp>
        <p:nvSpPr>
          <p:cNvPr id="40" name="Shape 37"/>
          <p:cNvSpPr/>
          <p:nvPr/>
        </p:nvSpPr>
        <p:spPr>
          <a:xfrm>
            <a:off x="7970332" y="1691640"/>
            <a:ext cx="335268" cy="658368"/>
          </a:xfrm>
          <a:prstGeom prst="rect">
            <a:avLst/>
          </a:prstGeom>
          <a:solidFill>
            <a:srgbClr val="14213D"/>
          </a:solidFill>
          <a:ln w="12700">
            <a:solidFill>
              <a:srgbClr val="14213D"/>
            </a:solidFill>
            <a:prstDash val="solid"/>
          </a:ln>
        </p:spPr>
      </p:sp>
      <p:sp>
        <p:nvSpPr>
          <p:cNvPr id="41" name="Text 38"/>
          <p:cNvSpPr txBox="1"/>
          <p:nvPr/>
        </p:nvSpPr>
        <p:spPr>
          <a:xfrm>
            <a:off x="7970332"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17</a:t>
            </a:r>
            <a:endParaRPr lang="en-US" sz="800" dirty="0"/>
          </a:p>
        </p:txBody>
      </p:sp>
      <p:sp>
        <p:nvSpPr>
          <p:cNvPr id="42" name="Shape 39"/>
          <p:cNvSpPr/>
          <p:nvPr/>
        </p:nvSpPr>
        <p:spPr>
          <a:xfrm>
            <a:off x="8351321" y="1691640"/>
            <a:ext cx="335268" cy="658368"/>
          </a:xfrm>
          <a:prstGeom prst="rect">
            <a:avLst/>
          </a:prstGeom>
          <a:solidFill>
            <a:srgbClr val="14213D"/>
          </a:solidFill>
          <a:ln w="12700">
            <a:solidFill>
              <a:srgbClr val="14213D"/>
            </a:solidFill>
            <a:prstDash val="solid"/>
          </a:ln>
        </p:spPr>
      </p:sp>
      <p:sp>
        <p:nvSpPr>
          <p:cNvPr id="43" name="Text 40"/>
          <p:cNvSpPr txBox="1"/>
          <p:nvPr/>
        </p:nvSpPr>
        <p:spPr>
          <a:xfrm>
            <a:off x="8351321"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18</a:t>
            </a:r>
            <a:endParaRPr lang="en-US" sz="800" dirty="0"/>
          </a:p>
        </p:txBody>
      </p:sp>
      <p:sp>
        <p:nvSpPr>
          <p:cNvPr id="44" name="Shape 41"/>
          <p:cNvSpPr/>
          <p:nvPr/>
        </p:nvSpPr>
        <p:spPr>
          <a:xfrm>
            <a:off x="8732309" y="1691640"/>
            <a:ext cx="335268" cy="658368"/>
          </a:xfrm>
          <a:prstGeom prst="rect">
            <a:avLst/>
          </a:prstGeom>
          <a:solidFill>
            <a:srgbClr val="8D99AE"/>
          </a:solidFill>
          <a:ln w="12700">
            <a:solidFill>
              <a:srgbClr val="8D99AE"/>
            </a:solidFill>
            <a:prstDash val="solid"/>
          </a:ln>
        </p:spPr>
      </p:sp>
      <p:sp>
        <p:nvSpPr>
          <p:cNvPr id="45" name="Text 42"/>
          <p:cNvSpPr txBox="1"/>
          <p:nvPr/>
        </p:nvSpPr>
        <p:spPr>
          <a:xfrm>
            <a:off x="8732309" y="1691640"/>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19</a:t>
            </a:r>
            <a:endParaRPr lang="en-US" sz="800" dirty="0"/>
          </a:p>
        </p:txBody>
      </p:sp>
      <p:sp>
        <p:nvSpPr>
          <p:cNvPr id="46" name="Text 43"/>
          <p:cNvSpPr txBox="1"/>
          <p:nvPr/>
        </p:nvSpPr>
        <p:spPr>
          <a:xfrm>
            <a:off x="457200" y="2551176"/>
            <a:ext cx="1371600" cy="658368"/>
          </a:xfrm>
          <a:prstGeom prst="rect">
            <a:avLst/>
          </a:prstGeom>
          <a:noFill/>
          <a:ln/>
        </p:spPr>
        <p:txBody>
          <a:bodyPr wrap="square" lIns="0" tIns="0" rIns="0" bIns="0" rtlCol="0" anchor="ctr"/>
          <a:lstStyle/>
          <a:p>
            <a:pPr algn="l" indent="0" marL="0">
              <a:buNone/>
            </a:pPr>
            <a:r>
              <a:rPr lang="en-US" sz="1200" b="1" dirty="0">
                <a:solidFill>
                  <a:srgbClr val="14213D"/>
                </a:solidFill>
                <a:latin typeface="Calibri" pitchFamily="34" charset="0"/>
                <a:ea typeface="Calibri" pitchFamily="34" charset="-122"/>
                <a:cs typeface="Calibri" pitchFamily="34" charset="-120"/>
              </a:rPr>
              <a:t>Policy</a:t>
            </a:r>
            <a:endParaRPr lang="en-US" sz="1200" dirty="0"/>
          </a:p>
          <a:p>
            <a:pPr algn="l" indent="0" marL="0">
              <a:spcAft>
                <a:spcPts val="400"/>
              </a:spcAft>
              <a:buNone/>
            </a:pPr>
            <a:r>
              <a:rPr lang="en-US" sz="950" dirty="0">
                <a:solidFill>
                  <a:srgbClr val="6B7380"/>
                </a:solidFill>
                <a:latin typeface="Calibri" pitchFamily="34" charset="0"/>
                <a:ea typeface="Calibri" pitchFamily="34" charset="-122"/>
                <a:cs typeface="Calibri" pitchFamily="34" charset="-120"/>
              </a:rPr>
              <a:t>26 requirements</a:t>
            </a:r>
            <a:endParaRPr lang="en-US" sz="1200" dirty="0"/>
          </a:p>
        </p:txBody>
      </p:sp>
      <p:sp>
        <p:nvSpPr>
          <p:cNvPr id="47" name="Shape 44"/>
          <p:cNvSpPr/>
          <p:nvPr/>
        </p:nvSpPr>
        <p:spPr>
          <a:xfrm>
            <a:off x="1874520" y="2551176"/>
            <a:ext cx="335268" cy="658368"/>
          </a:xfrm>
          <a:prstGeom prst="rect">
            <a:avLst/>
          </a:prstGeom>
          <a:solidFill>
            <a:srgbClr val="14213D"/>
          </a:solidFill>
          <a:ln w="12700">
            <a:solidFill>
              <a:srgbClr val="14213D"/>
            </a:solidFill>
            <a:prstDash val="solid"/>
          </a:ln>
        </p:spPr>
      </p:sp>
      <p:sp>
        <p:nvSpPr>
          <p:cNvPr id="48" name="Text 45"/>
          <p:cNvSpPr txBox="1"/>
          <p:nvPr/>
        </p:nvSpPr>
        <p:spPr>
          <a:xfrm>
            <a:off x="1874520"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800" dirty="0"/>
          </a:p>
        </p:txBody>
      </p:sp>
      <p:sp>
        <p:nvSpPr>
          <p:cNvPr id="49" name="Shape 46"/>
          <p:cNvSpPr/>
          <p:nvPr/>
        </p:nvSpPr>
        <p:spPr>
          <a:xfrm>
            <a:off x="2255508" y="2551176"/>
            <a:ext cx="335268" cy="658368"/>
          </a:xfrm>
          <a:prstGeom prst="rect">
            <a:avLst/>
          </a:prstGeom>
          <a:solidFill>
            <a:srgbClr val="14213D"/>
          </a:solidFill>
          <a:ln w="12700">
            <a:solidFill>
              <a:srgbClr val="14213D"/>
            </a:solidFill>
            <a:prstDash val="solid"/>
          </a:ln>
        </p:spPr>
      </p:sp>
      <p:sp>
        <p:nvSpPr>
          <p:cNvPr id="50" name="Text 47"/>
          <p:cNvSpPr txBox="1"/>
          <p:nvPr/>
        </p:nvSpPr>
        <p:spPr>
          <a:xfrm>
            <a:off x="2255508"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800" dirty="0"/>
          </a:p>
        </p:txBody>
      </p:sp>
      <p:sp>
        <p:nvSpPr>
          <p:cNvPr id="51" name="Shape 48"/>
          <p:cNvSpPr/>
          <p:nvPr/>
        </p:nvSpPr>
        <p:spPr>
          <a:xfrm>
            <a:off x="2636497" y="2551176"/>
            <a:ext cx="335268" cy="658368"/>
          </a:xfrm>
          <a:prstGeom prst="rect">
            <a:avLst/>
          </a:prstGeom>
          <a:solidFill>
            <a:srgbClr val="14213D"/>
          </a:solidFill>
          <a:ln w="12700">
            <a:solidFill>
              <a:srgbClr val="14213D"/>
            </a:solidFill>
            <a:prstDash val="solid"/>
          </a:ln>
        </p:spPr>
      </p:sp>
      <p:sp>
        <p:nvSpPr>
          <p:cNvPr id="52" name="Text 49"/>
          <p:cNvSpPr txBox="1"/>
          <p:nvPr/>
        </p:nvSpPr>
        <p:spPr>
          <a:xfrm>
            <a:off x="2636497"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800" dirty="0"/>
          </a:p>
        </p:txBody>
      </p:sp>
      <p:sp>
        <p:nvSpPr>
          <p:cNvPr id="53" name="Shape 50"/>
          <p:cNvSpPr/>
          <p:nvPr/>
        </p:nvSpPr>
        <p:spPr>
          <a:xfrm>
            <a:off x="3017485" y="2551176"/>
            <a:ext cx="335268" cy="658368"/>
          </a:xfrm>
          <a:prstGeom prst="rect">
            <a:avLst/>
          </a:prstGeom>
          <a:solidFill>
            <a:srgbClr val="14213D"/>
          </a:solidFill>
          <a:ln w="12700">
            <a:solidFill>
              <a:srgbClr val="14213D"/>
            </a:solidFill>
            <a:prstDash val="solid"/>
          </a:ln>
        </p:spPr>
      </p:sp>
      <p:sp>
        <p:nvSpPr>
          <p:cNvPr id="54" name="Text 51"/>
          <p:cNvSpPr txBox="1"/>
          <p:nvPr/>
        </p:nvSpPr>
        <p:spPr>
          <a:xfrm>
            <a:off x="3017485"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800" dirty="0"/>
          </a:p>
        </p:txBody>
      </p:sp>
      <p:sp>
        <p:nvSpPr>
          <p:cNvPr id="55" name="Shape 52"/>
          <p:cNvSpPr/>
          <p:nvPr/>
        </p:nvSpPr>
        <p:spPr>
          <a:xfrm>
            <a:off x="3398473" y="2551176"/>
            <a:ext cx="335268" cy="658368"/>
          </a:xfrm>
          <a:prstGeom prst="rect">
            <a:avLst/>
          </a:prstGeom>
          <a:solidFill>
            <a:srgbClr val="8D99AE"/>
          </a:solidFill>
          <a:ln w="12700">
            <a:solidFill>
              <a:srgbClr val="8D99AE"/>
            </a:solidFill>
            <a:prstDash val="solid"/>
          </a:ln>
        </p:spPr>
      </p:sp>
      <p:sp>
        <p:nvSpPr>
          <p:cNvPr id="56" name="Text 53"/>
          <p:cNvSpPr txBox="1"/>
          <p:nvPr/>
        </p:nvSpPr>
        <p:spPr>
          <a:xfrm>
            <a:off x="3398473"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800" dirty="0"/>
          </a:p>
        </p:txBody>
      </p:sp>
      <p:sp>
        <p:nvSpPr>
          <p:cNvPr id="57" name="Shape 54"/>
          <p:cNvSpPr/>
          <p:nvPr/>
        </p:nvSpPr>
        <p:spPr>
          <a:xfrm>
            <a:off x="3779461" y="2551176"/>
            <a:ext cx="335268" cy="658368"/>
          </a:xfrm>
          <a:prstGeom prst="rect">
            <a:avLst/>
          </a:prstGeom>
          <a:solidFill>
            <a:srgbClr val="14213D"/>
          </a:solidFill>
          <a:ln w="12700">
            <a:solidFill>
              <a:srgbClr val="14213D"/>
            </a:solidFill>
            <a:prstDash val="solid"/>
          </a:ln>
        </p:spPr>
      </p:sp>
      <p:sp>
        <p:nvSpPr>
          <p:cNvPr id="58" name="Text 55"/>
          <p:cNvSpPr txBox="1"/>
          <p:nvPr/>
        </p:nvSpPr>
        <p:spPr>
          <a:xfrm>
            <a:off x="3779461"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800" dirty="0"/>
          </a:p>
        </p:txBody>
      </p:sp>
      <p:sp>
        <p:nvSpPr>
          <p:cNvPr id="59" name="Shape 56"/>
          <p:cNvSpPr/>
          <p:nvPr/>
        </p:nvSpPr>
        <p:spPr>
          <a:xfrm>
            <a:off x="4160450" y="2551176"/>
            <a:ext cx="335268" cy="658368"/>
          </a:xfrm>
          <a:prstGeom prst="rect">
            <a:avLst/>
          </a:prstGeom>
          <a:solidFill>
            <a:srgbClr val="14213D"/>
          </a:solidFill>
          <a:ln w="12700">
            <a:solidFill>
              <a:srgbClr val="14213D"/>
            </a:solidFill>
            <a:prstDash val="solid"/>
          </a:ln>
        </p:spPr>
      </p:sp>
      <p:sp>
        <p:nvSpPr>
          <p:cNvPr id="60" name="Text 57"/>
          <p:cNvSpPr txBox="1"/>
          <p:nvPr/>
        </p:nvSpPr>
        <p:spPr>
          <a:xfrm>
            <a:off x="4160450"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800" dirty="0"/>
          </a:p>
        </p:txBody>
      </p:sp>
      <p:sp>
        <p:nvSpPr>
          <p:cNvPr id="61" name="Shape 58"/>
          <p:cNvSpPr/>
          <p:nvPr/>
        </p:nvSpPr>
        <p:spPr>
          <a:xfrm>
            <a:off x="4541438" y="2551176"/>
            <a:ext cx="335268" cy="658368"/>
          </a:xfrm>
          <a:prstGeom prst="rect">
            <a:avLst/>
          </a:prstGeom>
          <a:solidFill>
            <a:srgbClr val="C8553D"/>
          </a:solidFill>
          <a:ln w="12700">
            <a:solidFill>
              <a:srgbClr val="C8553D"/>
            </a:solidFill>
            <a:prstDash val="solid"/>
          </a:ln>
        </p:spPr>
      </p:sp>
      <p:sp>
        <p:nvSpPr>
          <p:cNvPr id="62" name="Text 59"/>
          <p:cNvSpPr txBox="1"/>
          <p:nvPr/>
        </p:nvSpPr>
        <p:spPr>
          <a:xfrm>
            <a:off x="4541438"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800" dirty="0"/>
          </a:p>
        </p:txBody>
      </p:sp>
      <p:sp>
        <p:nvSpPr>
          <p:cNvPr id="63" name="Shape 60"/>
          <p:cNvSpPr/>
          <p:nvPr/>
        </p:nvSpPr>
        <p:spPr>
          <a:xfrm>
            <a:off x="4922426" y="2551176"/>
            <a:ext cx="335268" cy="658368"/>
          </a:xfrm>
          <a:prstGeom prst="rect">
            <a:avLst/>
          </a:prstGeom>
          <a:solidFill>
            <a:srgbClr val="14213D"/>
          </a:solidFill>
          <a:ln w="12700">
            <a:solidFill>
              <a:srgbClr val="14213D"/>
            </a:solidFill>
            <a:prstDash val="solid"/>
          </a:ln>
        </p:spPr>
      </p:sp>
      <p:sp>
        <p:nvSpPr>
          <p:cNvPr id="64" name="Text 61"/>
          <p:cNvSpPr txBox="1"/>
          <p:nvPr/>
        </p:nvSpPr>
        <p:spPr>
          <a:xfrm>
            <a:off x="4922426"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800" dirty="0"/>
          </a:p>
        </p:txBody>
      </p:sp>
      <p:sp>
        <p:nvSpPr>
          <p:cNvPr id="65" name="Shape 62"/>
          <p:cNvSpPr/>
          <p:nvPr/>
        </p:nvSpPr>
        <p:spPr>
          <a:xfrm>
            <a:off x="5303414" y="2551176"/>
            <a:ext cx="335268" cy="658368"/>
          </a:xfrm>
          <a:prstGeom prst="rect">
            <a:avLst/>
          </a:prstGeom>
          <a:solidFill>
            <a:srgbClr val="14213D"/>
          </a:solidFill>
          <a:ln w="12700">
            <a:solidFill>
              <a:srgbClr val="14213D"/>
            </a:solidFill>
            <a:prstDash val="solid"/>
          </a:ln>
        </p:spPr>
      </p:sp>
      <p:sp>
        <p:nvSpPr>
          <p:cNvPr id="66" name="Text 63"/>
          <p:cNvSpPr txBox="1"/>
          <p:nvPr/>
        </p:nvSpPr>
        <p:spPr>
          <a:xfrm>
            <a:off x="5303414"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800" dirty="0"/>
          </a:p>
        </p:txBody>
      </p:sp>
      <p:sp>
        <p:nvSpPr>
          <p:cNvPr id="67" name="Shape 64"/>
          <p:cNvSpPr/>
          <p:nvPr/>
        </p:nvSpPr>
        <p:spPr>
          <a:xfrm>
            <a:off x="5684403" y="2551176"/>
            <a:ext cx="335268" cy="658368"/>
          </a:xfrm>
          <a:prstGeom prst="rect">
            <a:avLst/>
          </a:prstGeom>
          <a:solidFill>
            <a:srgbClr val="14213D"/>
          </a:solidFill>
          <a:ln w="12700">
            <a:solidFill>
              <a:srgbClr val="14213D"/>
            </a:solidFill>
            <a:prstDash val="solid"/>
          </a:ln>
        </p:spPr>
      </p:sp>
      <p:sp>
        <p:nvSpPr>
          <p:cNvPr id="68" name="Text 65"/>
          <p:cNvSpPr txBox="1"/>
          <p:nvPr/>
        </p:nvSpPr>
        <p:spPr>
          <a:xfrm>
            <a:off x="5684403"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800" dirty="0"/>
          </a:p>
        </p:txBody>
      </p:sp>
      <p:sp>
        <p:nvSpPr>
          <p:cNvPr id="69" name="Shape 66"/>
          <p:cNvSpPr/>
          <p:nvPr/>
        </p:nvSpPr>
        <p:spPr>
          <a:xfrm>
            <a:off x="6065391" y="2551176"/>
            <a:ext cx="335268" cy="658368"/>
          </a:xfrm>
          <a:prstGeom prst="rect">
            <a:avLst/>
          </a:prstGeom>
          <a:solidFill>
            <a:srgbClr val="14213D"/>
          </a:solidFill>
          <a:ln w="12700">
            <a:solidFill>
              <a:srgbClr val="14213D"/>
            </a:solidFill>
            <a:prstDash val="solid"/>
          </a:ln>
        </p:spPr>
      </p:sp>
      <p:sp>
        <p:nvSpPr>
          <p:cNvPr id="70" name="Text 67"/>
          <p:cNvSpPr txBox="1"/>
          <p:nvPr/>
        </p:nvSpPr>
        <p:spPr>
          <a:xfrm>
            <a:off x="6065391"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800" dirty="0"/>
          </a:p>
        </p:txBody>
      </p:sp>
      <p:sp>
        <p:nvSpPr>
          <p:cNvPr id="71" name="Shape 68"/>
          <p:cNvSpPr/>
          <p:nvPr/>
        </p:nvSpPr>
        <p:spPr>
          <a:xfrm>
            <a:off x="6446379" y="2551176"/>
            <a:ext cx="335268" cy="658368"/>
          </a:xfrm>
          <a:prstGeom prst="rect">
            <a:avLst/>
          </a:prstGeom>
          <a:solidFill>
            <a:srgbClr val="14213D"/>
          </a:solidFill>
          <a:ln w="12700">
            <a:solidFill>
              <a:srgbClr val="14213D"/>
            </a:solidFill>
            <a:prstDash val="solid"/>
          </a:ln>
        </p:spPr>
      </p:sp>
      <p:sp>
        <p:nvSpPr>
          <p:cNvPr id="72" name="Text 69"/>
          <p:cNvSpPr txBox="1"/>
          <p:nvPr/>
        </p:nvSpPr>
        <p:spPr>
          <a:xfrm>
            <a:off x="6446379"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800" dirty="0"/>
          </a:p>
        </p:txBody>
      </p:sp>
      <p:sp>
        <p:nvSpPr>
          <p:cNvPr id="73" name="Shape 70"/>
          <p:cNvSpPr/>
          <p:nvPr/>
        </p:nvSpPr>
        <p:spPr>
          <a:xfrm>
            <a:off x="6827368" y="2551176"/>
            <a:ext cx="335268" cy="658368"/>
          </a:xfrm>
          <a:prstGeom prst="rect">
            <a:avLst/>
          </a:prstGeom>
          <a:solidFill>
            <a:srgbClr val="3D6A9E"/>
          </a:solidFill>
          <a:ln w="12700">
            <a:solidFill>
              <a:srgbClr val="3D6A9E"/>
            </a:solidFill>
            <a:prstDash val="solid"/>
          </a:ln>
        </p:spPr>
      </p:sp>
      <p:sp>
        <p:nvSpPr>
          <p:cNvPr id="74" name="Text 71"/>
          <p:cNvSpPr txBox="1"/>
          <p:nvPr/>
        </p:nvSpPr>
        <p:spPr>
          <a:xfrm>
            <a:off x="6827368"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800" dirty="0"/>
          </a:p>
        </p:txBody>
      </p:sp>
      <p:sp>
        <p:nvSpPr>
          <p:cNvPr id="75" name="Shape 72"/>
          <p:cNvSpPr/>
          <p:nvPr/>
        </p:nvSpPr>
        <p:spPr>
          <a:xfrm>
            <a:off x="7208356" y="2551176"/>
            <a:ext cx="335268" cy="658368"/>
          </a:xfrm>
          <a:prstGeom prst="rect">
            <a:avLst/>
          </a:prstGeom>
          <a:solidFill>
            <a:srgbClr val="3D6A9E"/>
          </a:solidFill>
          <a:ln w="12700">
            <a:solidFill>
              <a:srgbClr val="3D6A9E"/>
            </a:solidFill>
            <a:prstDash val="solid"/>
          </a:ln>
        </p:spPr>
      </p:sp>
      <p:sp>
        <p:nvSpPr>
          <p:cNvPr id="76" name="Text 73"/>
          <p:cNvSpPr txBox="1"/>
          <p:nvPr/>
        </p:nvSpPr>
        <p:spPr>
          <a:xfrm>
            <a:off x="7208356"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800" dirty="0"/>
          </a:p>
        </p:txBody>
      </p:sp>
      <p:sp>
        <p:nvSpPr>
          <p:cNvPr id="77" name="Shape 74"/>
          <p:cNvSpPr/>
          <p:nvPr/>
        </p:nvSpPr>
        <p:spPr>
          <a:xfrm>
            <a:off x="7589344" y="2551176"/>
            <a:ext cx="335268" cy="658368"/>
          </a:xfrm>
          <a:prstGeom prst="rect">
            <a:avLst/>
          </a:prstGeom>
          <a:solidFill>
            <a:srgbClr val="14213D"/>
          </a:solidFill>
          <a:ln w="12700">
            <a:solidFill>
              <a:srgbClr val="14213D"/>
            </a:solidFill>
            <a:prstDash val="solid"/>
          </a:ln>
        </p:spPr>
      </p:sp>
      <p:sp>
        <p:nvSpPr>
          <p:cNvPr id="78" name="Text 75"/>
          <p:cNvSpPr txBox="1"/>
          <p:nvPr/>
        </p:nvSpPr>
        <p:spPr>
          <a:xfrm>
            <a:off x="7589344"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16</a:t>
            </a:r>
            <a:endParaRPr lang="en-US" sz="800" dirty="0"/>
          </a:p>
        </p:txBody>
      </p:sp>
      <p:sp>
        <p:nvSpPr>
          <p:cNvPr id="79" name="Shape 76"/>
          <p:cNvSpPr/>
          <p:nvPr/>
        </p:nvSpPr>
        <p:spPr>
          <a:xfrm>
            <a:off x="7970332" y="2551176"/>
            <a:ext cx="335268" cy="658368"/>
          </a:xfrm>
          <a:prstGeom prst="rect">
            <a:avLst/>
          </a:prstGeom>
          <a:solidFill>
            <a:srgbClr val="3D6A9E"/>
          </a:solidFill>
          <a:ln w="12700">
            <a:solidFill>
              <a:srgbClr val="3D6A9E"/>
            </a:solidFill>
            <a:prstDash val="solid"/>
          </a:ln>
        </p:spPr>
      </p:sp>
      <p:sp>
        <p:nvSpPr>
          <p:cNvPr id="80" name="Text 77"/>
          <p:cNvSpPr txBox="1"/>
          <p:nvPr/>
        </p:nvSpPr>
        <p:spPr>
          <a:xfrm>
            <a:off x="7970332"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17</a:t>
            </a:r>
            <a:endParaRPr lang="en-US" sz="800" dirty="0"/>
          </a:p>
        </p:txBody>
      </p:sp>
      <p:sp>
        <p:nvSpPr>
          <p:cNvPr id="81" name="Shape 78"/>
          <p:cNvSpPr/>
          <p:nvPr/>
        </p:nvSpPr>
        <p:spPr>
          <a:xfrm>
            <a:off x="8351321" y="2551176"/>
            <a:ext cx="335268" cy="658368"/>
          </a:xfrm>
          <a:prstGeom prst="rect">
            <a:avLst/>
          </a:prstGeom>
          <a:solidFill>
            <a:srgbClr val="8D99AE"/>
          </a:solidFill>
          <a:ln w="12700">
            <a:solidFill>
              <a:srgbClr val="8D99AE"/>
            </a:solidFill>
            <a:prstDash val="solid"/>
          </a:ln>
        </p:spPr>
      </p:sp>
      <p:sp>
        <p:nvSpPr>
          <p:cNvPr id="82" name="Text 79"/>
          <p:cNvSpPr txBox="1"/>
          <p:nvPr/>
        </p:nvSpPr>
        <p:spPr>
          <a:xfrm>
            <a:off x="8351321"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18</a:t>
            </a:r>
            <a:endParaRPr lang="en-US" sz="800" dirty="0"/>
          </a:p>
        </p:txBody>
      </p:sp>
      <p:sp>
        <p:nvSpPr>
          <p:cNvPr id="83" name="Shape 80"/>
          <p:cNvSpPr/>
          <p:nvPr/>
        </p:nvSpPr>
        <p:spPr>
          <a:xfrm>
            <a:off x="8732309" y="2551176"/>
            <a:ext cx="335268" cy="658368"/>
          </a:xfrm>
          <a:prstGeom prst="rect">
            <a:avLst/>
          </a:prstGeom>
          <a:solidFill>
            <a:srgbClr val="14213D"/>
          </a:solidFill>
          <a:ln w="12700">
            <a:solidFill>
              <a:srgbClr val="14213D"/>
            </a:solidFill>
            <a:prstDash val="solid"/>
          </a:ln>
        </p:spPr>
      </p:sp>
      <p:sp>
        <p:nvSpPr>
          <p:cNvPr id="84" name="Text 81"/>
          <p:cNvSpPr txBox="1"/>
          <p:nvPr/>
        </p:nvSpPr>
        <p:spPr>
          <a:xfrm>
            <a:off x="8732309"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19</a:t>
            </a:r>
            <a:endParaRPr lang="en-US" sz="800" dirty="0"/>
          </a:p>
        </p:txBody>
      </p:sp>
      <p:sp>
        <p:nvSpPr>
          <p:cNvPr id="85" name="Shape 82"/>
          <p:cNvSpPr/>
          <p:nvPr/>
        </p:nvSpPr>
        <p:spPr>
          <a:xfrm>
            <a:off x="9113297" y="2551176"/>
            <a:ext cx="335268" cy="658368"/>
          </a:xfrm>
          <a:prstGeom prst="rect">
            <a:avLst/>
          </a:prstGeom>
          <a:solidFill>
            <a:srgbClr val="8D99AE"/>
          </a:solidFill>
          <a:ln w="12700">
            <a:solidFill>
              <a:srgbClr val="8D99AE"/>
            </a:solidFill>
            <a:prstDash val="solid"/>
          </a:ln>
        </p:spPr>
      </p:sp>
      <p:sp>
        <p:nvSpPr>
          <p:cNvPr id="86" name="Text 83"/>
          <p:cNvSpPr txBox="1"/>
          <p:nvPr/>
        </p:nvSpPr>
        <p:spPr>
          <a:xfrm>
            <a:off x="9113297"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20</a:t>
            </a:r>
            <a:endParaRPr lang="en-US" sz="800" dirty="0"/>
          </a:p>
        </p:txBody>
      </p:sp>
      <p:sp>
        <p:nvSpPr>
          <p:cNvPr id="87" name="Shape 84"/>
          <p:cNvSpPr/>
          <p:nvPr/>
        </p:nvSpPr>
        <p:spPr>
          <a:xfrm>
            <a:off x="9494286" y="2551176"/>
            <a:ext cx="335268" cy="658368"/>
          </a:xfrm>
          <a:prstGeom prst="rect">
            <a:avLst/>
          </a:prstGeom>
          <a:solidFill>
            <a:srgbClr val="14213D"/>
          </a:solidFill>
          <a:ln w="12700">
            <a:solidFill>
              <a:srgbClr val="14213D"/>
            </a:solidFill>
            <a:prstDash val="solid"/>
          </a:ln>
        </p:spPr>
      </p:sp>
      <p:sp>
        <p:nvSpPr>
          <p:cNvPr id="88" name="Text 85"/>
          <p:cNvSpPr txBox="1"/>
          <p:nvPr/>
        </p:nvSpPr>
        <p:spPr>
          <a:xfrm>
            <a:off x="9494286"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21</a:t>
            </a:r>
            <a:endParaRPr lang="en-US" sz="800" dirty="0"/>
          </a:p>
        </p:txBody>
      </p:sp>
      <p:sp>
        <p:nvSpPr>
          <p:cNvPr id="89" name="Shape 86"/>
          <p:cNvSpPr/>
          <p:nvPr/>
        </p:nvSpPr>
        <p:spPr>
          <a:xfrm>
            <a:off x="9875274" y="2551176"/>
            <a:ext cx="335268" cy="658368"/>
          </a:xfrm>
          <a:prstGeom prst="rect">
            <a:avLst/>
          </a:prstGeom>
          <a:solidFill>
            <a:srgbClr val="14213D"/>
          </a:solidFill>
          <a:ln w="12700">
            <a:solidFill>
              <a:srgbClr val="14213D"/>
            </a:solidFill>
            <a:prstDash val="solid"/>
          </a:ln>
        </p:spPr>
      </p:sp>
      <p:sp>
        <p:nvSpPr>
          <p:cNvPr id="90" name="Text 87"/>
          <p:cNvSpPr txBox="1"/>
          <p:nvPr/>
        </p:nvSpPr>
        <p:spPr>
          <a:xfrm>
            <a:off x="9875274"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22</a:t>
            </a:r>
            <a:endParaRPr lang="en-US" sz="800" dirty="0"/>
          </a:p>
        </p:txBody>
      </p:sp>
      <p:sp>
        <p:nvSpPr>
          <p:cNvPr id="91" name="Shape 88"/>
          <p:cNvSpPr/>
          <p:nvPr/>
        </p:nvSpPr>
        <p:spPr>
          <a:xfrm>
            <a:off x="10256262" y="2551176"/>
            <a:ext cx="335268" cy="658368"/>
          </a:xfrm>
          <a:prstGeom prst="rect">
            <a:avLst/>
          </a:prstGeom>
          <a:solidFill>
            <a:srgbClr val="14213D"/>
          </a:solidFill>
          <a:ln w="12700">
            <a:solidFill>
              <a:srgbClr val="14213D"/>
            </a:solidFill>
            <a:prstDash val="solid"/>
          </a:ln>
        </p:spPr>
      </p:sp>
      <p:sp>
        <p:nvSpPr>
          <p:cNvPr id="92" name="Text 89"/>
          <p:cNvSpPr txBox="1"/>
          <p:nvPr/>
        </p:nvSpPr>
        <p:spPr>
          <a:xfrm>
            <a:off x="10256262"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23</a:t>
            </a:r>
            <a:endParaRPr lang="en-US" sz="800" dirty="0"/>
          </a:p>
        </p:txBody>
      </p:sp>
      <p:sp>
        <p:nvSpPr>
          <p:cNvPr id="93" name="Shape 90"/>
          <p:cNvSpPr/>
          <p:nvPr/>
        </p:nvSpPr>
        <p:spPr>
          <a:xfrm>
            <a:off x="10637250" y="2551176"/>
            <a:ext cx="335268" cy="658368"/>
          </a:xfrm>
          <a:prstGeom prst="rect">
            <a:avLst/>
          </a:prstGeom>
          <a:solidFill>
            <a:srgbClr val="14213D"/>
          </a:solidFill>
          <a:ln w="12700">
            <a:solidFill>
              <a:srgbClr val="14213D"/>
            </a:solidFill>
            <a:prstDash val="solid"/>
          </a:ln>
        </p:spPr>
      </p:sp>
      <p:sp>
        <p:nvSpPr>
          <p:cNvPr id="94" name="Text 91"/>
          <p:cNvSpPr txBox="1"/>
          <p:nvPr/>
        </p:nvSpPr>
        <p:spPr>
          <a:xfrm>
            <a:off x="10637250"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24</a:t>
            </a:r>
            <a:endParaRPr lang="en-US" sz="800" dirty="0"/>
          </a:p>
        </p:txBody>
      </p:sp>
      <p:sp>
        <p:nvSpPr>
          <p:cNvPr id="95" name="Shape 92"/>
          <p:cNvSpPr/>
          <p:nvPr/>
        </p:nvSpPr>
        <p:spPr>
          <a:xfrm>
            <a:off x="11018239" y="2551176"/>
            <a:ext cx="335268" cy="658368"/>
          </a:xfrm>
          <a:prstGeom prst="rect">
            <a:avLst/>
          </a:prstGeom>
          <a:solidFill>
            <a:srgbClr val="14213D"/>
          </a:solidFill>
          <a:ln w="12700">
            <a:solidFill>
              <a:srgbClr val="14213D"/>
            </a:solidFill>
            <a:prstDash val="solid"/>
          </a:ln>
        </p:spPr>
      </p:sp>
      <p:sp>
        <p:nvSpPr>
          <p:cNvPr id="96" name="Text 93"/>
          <p:cNvSpPr txBox="1"/>
          <p:nvPr/>
        </p:nvSpPr>
        <p:spPr>
          <a:xfrm>
            <a:off x="11018239"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25</a:t>
            </a:r>
            <a:endParaRPr lang="en-US" sz="800" dirty="0"/>
          </a:p>
        </p:txBody>
      </p:sp>
      <p:sp>
        <p:nvSpPr>
          <p:cNvPr id="97" name="Shape 94"/>
          <p:cNvSpPr/>
          <p:nvPr/>
        </p:nvSpPr>
        <p:spPr>
          <a:xfrm>
            <a:off x="11399227" y="2551176"/>
            <a:ext cx="335268" cy="658368"/>
          </a:xfrm>
          <a:prstGeom prst="rect">
            <a:avLst/>
          </a:prstGeom>
          <a:solidFill>
            <a:srgbClr val="14213D"/>
          </a:solidFill>
          <a:ln w="12700">
            <a:solidFill>
              <a:srgbClr val="14213D"/>
            </a:solidFill>
            <a:prstDash val="solid"/>
          </a:ln>
        </p:spPr>
      </p:sp>
      <p:sp>
        <p:nvSpPr>
          <p:cNvPr id="98" name="Text 95"/>
          <p:cNvSpPr txBox="1"/>
          <p:nvPr/>
        </p:nvSpPr>
        <p:spPr>
          <a:xfrm>
            <a:off x="11399227" y="2551176"/>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26</a:t>
            </a:r>
            <a:endParaRPr lang="en-US" sz="800" dirty="0"/>
          </a:p>
        </p:txBody>
      </p:sp>
      <p:sp>
        <p:nvSpPr>
          <p:cNvPr id="99" name="Text 96"/>
          <p:cNvSpPr txBox="1"/>
          <p:nvPr/>
        </p:nvSpPr>
        <p:spPr>
          <a:xfrm>
            <a:off x="457200" y="3410712"/>
            <a:ext cx="1371600" cy="658368"/>
          </a:xfrm>
          <a:prstGeom prst="rect">
            <a:avLst/>
          </a:prstGeom>
          <a:noFill/>
          <a:ln/>
        </p:spPr>
        <p:txBody>
          <a:bodyPr wrap="square" lIns="0" tIns="0" rIns="0" bIns="0" rtlCol="0" anchor="ctr"/>
          <a:lstStyle/>
          <a:p>
            <a:pPr algn="l" indent="0" marL="0">
              <a:buNone/>
            </a:pPr>
            <a:r>
              <a:rPr lang="en-US" sz="1200" b="1" dirty="0">
                <a:solidFill>
                  <a:srgbClr val="14213D"/>
                </a:solidFill>
                <a:latin typeface="Calibri" pitchFamily="34" charset="0"/>
                <a:ea typeface="Calibri" pitchFamily="34" charset="-122"/>
                <a:cs typeface="Calibri" pitchFamily="34" charset="-120"/>
              </a:rPr>
              <a:t>Escalation</a:t>
            </a:r>
            <a:endParaRPr lang="en-US" sz="1200" dirty="0"/>
          </a:p>
          <a:p>
            <a:pPr algn="l" indent="0" marL="0">
              <a:spcAft>
                <a:spcPts val="400"/>
              </a:spcAft>
              <a:buNone/>
            </a:pPr>
            <a:r>
              <a:rPr lang="en-US" sz="950" dirty="0">
                <a:solidFill>
                  <a:srgbClr val="6B7380"/>
                </a:solidFill>
                <a:latin typeface="Calibri" pitchFamily="34" charset="0"/>
                <a:ea typeface="Calibri" pitchFamily="34" charset="-122"/>
                <a:cs typeface="Calibri" pitchFamily="34" charset="-120"/>
              </a:rPr>
              <a:t>19 requirements</a:t>
            </a:r>
            <a:endParaRPr lang="en-US" sz="1200" dirty="0"/>
          </a:p>
        </p:txBody>
      </p:sp>
      <p:sp>
        <p:nvSpPr>
          <p:cNvPr id="100" name="Shape 97"/>
          <p:cNvSpPr/>
          <p:nvPr/>
        </p:nvSpPr>
        <p:spPr>
          <a:xfrm>
            <a:off x="1874520" y="3410712"/>
            <a:ext cx="335268" cy="658368"/>
          </a:xfrm>
          <a:prstGeom prst="rect">
            <a:avLst/>
          </a:prstGeom>
          <a:solidFill>
            <a:srgbClr val="14213D"/>
          </a:solidFill>
          <a:ln w="12700">
            <a:solidFill>
              <a:srgbClr val="14213D"/>
            </a:solidFill>
            <a:prstDash val="solid"/>
          </a:ln>
        </p:spPr>
      </p:sp>
      <p:sp>
        <p:nvSpPr>
          <p:cNvPr id="101" name="Text 98"/>
          <p:cNvSpPr txBox="1"/>
          <p:nvPr/>
        </p:nvSpPr>
        <p:spPr>
          <a:xfrm>
            <a:off x="1874520"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800" dirty="0"/>
          </a:p>
        </p:txBody>
      </p:sp>
      <p:sp>
        <p:nvSpPr>
          <p:cNvPr id="102" name="Shape 99"/>
          <p:cNvSpPr/>
          <p:nvPr/>
        </p:nvSpPr>
        <p:spPr>
          <a:xfrm>
            <a:off x="2255508" y="3410712"/>
            <a:ext cx="335268" cy="658368"/>
          </a:xfrm>
          <a:prstGeom prst="rect">
            <a:avLst/>
          </a:prstGeom>
          <a:solidFill>
            <a:srgbClr val="14213D"/>
          </a:solidFill>
          <a:ln w="12700">
            <a:solidFill>
              <a:srgbClr val="14213D"/>
            </a:solidFill>
            <a:prstDash val="solid"/>
          </a:ln>
        </p:spPr>
      </p:sp>
      <p:sp>
        <p:nvSpPr>
          <p:cNvPr id="103" name="Text 100"/>
          <p:cNvSpPr txBox="1"/>
          <p:nvPr/>
        </p:nvSpPr>
        <p:spPr>
          <a:xfrm>
            <a:off x="2255508"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800" dirty="0"/>
          </a:p>
        </p:txBody>
      </p:sp>
      <p:sp>
        <p:nvSpPr>
          <p:cNvPr id="104" name="Shape 101"/>
          <p:cNvSpPr/>
          <p:nvPr/>
        </p:nvSpPr>
        <p:spPr>
          <a:xfrm>
            <a:off x="2636497" y="3410712"/>
            <a:ext cx="335268" cy="658368"/>
          </a:xfrm>
          <a:prstGeom prst="rect">
            <a:avLst/>
          </a:prstGeom>
          <a:solidFill>
            <a:srgbClr val="14213D"/>
          </a:solidFill>
          <a:ln w="12700">
            <a:solidFill>
              <a:srgbClr val="14213D"/>
            </a:solidFill>
            <a:prstDash val="solid"/>
          </a:ln>
        </p:spPr>
      </p:sp>
      <p:sp>
        <p:nvSpPr>
          <p:cNvPr id="105" name="Text 102"/>
          <p:cNvSpPr txBox="1"/>
          <p:nvPr/>
        </p:nvSpPr>
        <p:spPr>
          <a:xfrm>
            <a:off x="2636497"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800" dirty="0"/>
          </a:p>
        </p:txBody>
      </p:sp>
      <p:sp>
        <p:nvSpPr>
          <p:cNvPr id="106" name="Shape 103"/>
          <p:cNvSpPr/>
          <p:nvPr/>
        </p:nvSpPr>
        <p:spPr>
          <a:xfrm>
            <a:off x="3017485" y="3410712"/>
            <a:ext cx="335268" cy="658368"/>
          </a:xfrm>
          <a:prstGeom prst="rect">
            <a:avLst/>
          </a:prstGeom>
          <a:solidFill>
            <a:srgbClr val="14213D"/>
          </a:solidFill>
          <a:ln w="12700">
            <a:solidFill>
              <a:srgbClr val="14213D"/>
            </a:solidFill>
            <a:prstDash val="solid"/>
          </a:ln>
        </p:spPr>
      </p:sp>
      <p:sp>
        <p:nvSpPr>
          <p:cNvPr id="107" name="Text 104"/>
          <p:cNvSpPr txBox="1"/>
          <p:nvPr/>
        </p:nvSpPr>
        <p:spPr>
          <a:xfrm>
            <a:off x="3017485"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800" dirty="0"/>
          </a:p>
        </p:txBody>
      </p:sp>
      <p:sp>
        <p:nvSpPr>
          <p:cNvPr id="108" name="Shape 105"/>
          <p:cNvSpPr/>
          <p:nvPr/>
        </p:nvSpPr>
        <p:spPr>
          <a:xfrm>
            <a:off x="3398473" y="3410712"/>
            <a:ext cx="335268" cy="658368"/>
          </a:xfrm>
          <a:prstGeom prst="rect">
            <a:avLst/>
          </a:prstGeom>
          <a:solidFill>
            <a:srgbClr val="14213D"/>
          </a:solidFill>
          <a:ln w="12700">
            <a:solidFill>
              <a:srgbClr val="14213D"/>
            </a:solidFill>
            <a:prstDash val="solid"/>
          </a:ln>
        </p:spPr>
      </p:sp>
      <p:sp>
        <p:nvSpPr>
          <p:cNvPr id="109" name="Text 106"/>
          <p:cNvSpPr txBox="1"/>
          <p:nvPr/>
        </p:nvSpPr>
        <p:spPr>
          <a:xfrm>
            <a:off x="3398473"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800" dirty="0"/>
          </a:p>
        </p:txBody>
      </p:sp>
      <p:sp>
        <p:nvSpPr>
          <p:cNvPr id="110" name="Shape 107"/>
          <p:cNvSpPr/>
          <p:nvPr/>
        </p:nvSpPr>
        <p:spPr>
          <a:xfrm>
            <a:off x="3779461" y="3410712"/>
            <a:ext cx="335268" cy="658368"/>
          </a:xfrm>
          <a:prstGeom prst="rect">
            <a:avLst/>
          </a:prstGeom>
          <a:solidFill>
            <a:srgbClr val="14213D"/>
          </a:solidFill>
          <a:ln w="12700">
            <a:solidFill>
              <a:srgbClr val="14213D"/>
            </a:solidFill>
            <a:prstDash val="solid"/>
          </a:ln>
        </p:spPr>
      </p:sp>
      <p:sp>
        <p:nvSpPr>
          <p:cNvPr id="111" name="Text 108"/>
          <p:cNvSpPr txBox="1"/>
          <p:nvPr/>
        </p:nvSpPr>
        <p:spPr>
          <a:xfrm>
            <a:off x="3779461"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800" dirty="0"/>
          </a:p>
        </p:txBody>
      </p:sp>
      <p:sp>
        <p:nvSpPr>
          <p:cNvPr id="112" name="Shape 109"/>
          <p:cNvSpPr/>
          <p:nvPr/>
        </p:nvSpPr>
        <p:spPr>
          <a:xfrm>
            <a:off x="4160450" y="3410712"/>
            <a:ext cx="335268" cy="658368"/>
          </a:xfrm>
          <a:prstGeom prst="rect">
            <a:avLst/>
          </a:prstGeom>
          <a:solidFill>
            <a:srgbClr val="14213D"/>
          </a:solidFill>
          <a:ln w="12700">
            <a:solidFill>
              <a:srgbClr val="14213D"/>
            </a:solidFill>
            <a:prstDash val="solid"/>
          </a:ln>
        </p:spPr>
      </p:sp>
      <p:sp>
        <p:nvSpPr>
          <p:cNvPr id="113" name="Text 110"/>
          <p:cNvSpPr txBox="1"/>
          <p:nvPr/>
        </p:nvSpPr>
        <p:spPr>
          <a:xfrm>
            <a:off x="4160450"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800" dirty="0"/>
          </a:p>
        </p:txBody>
      </p:sp>
      <p:sp>
        <p:nvSpPr>
          <p:cNvPr id="114" name="Shape 111"/>
          <p:cNvSpPr/>
          <p:nvPr/>
        </p:nvSpPr>
        <p:spPr>
          <a:xfrm>
            <a:off x="4541438" y="3410712"/>
            <a:ext cx="335268" cy="658368"/>
          </a:xfrm>
          <a:prstGeom prst="rect">
            <a:avLst/>
          </a:prstGeom>
          <a:solidFill>
            <a:srgbClr val="C8553D"/>
          </a:solidFill>
          <a:ln w="12700">
            <a:solidFill>
              <a:srgbClr val="C8553D"/>
            </a:solidFill>
            <a:prstDash val="solid"/>
          </a:ln>
        </p:spPr>
      </p:sp>
      <p:sp>
        <p:nvSpPr>
          <p:cNvPr id="115" name="Text 112"/>
          <p:cNvSpPr txBox="1"/>
          <p:nvPr/>
        </p:nvSpPr>
        <p:spPr>
          <a:xfrm>
            <a:off x="4541438"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800" dirty="0"/>
          </a:p>
        </p:txBody>
      </p:sp>
      <p:sp>
        <p:nvSpPr>
          <p:cNvPr id="116" name="Shape 113"/>
          <p:cNvSpPr/>
          <p:nvPr/>
        </p:nvSpPr>
        <p:spPr>
          <a:xfrm>
            <a:off x="4922426" y="3410712"/>
            <a:ext cx="335268" cy="658368"/>
          </a:xfrm>
          <a:prstGeom prst="rect">
            <a:avLst/>
          </a:prstGeom>
          <a:solidFill>
            <a:srgbClr val="C8553D"/>
          </a:solidFill>
          <a:ln w="12700">
            <a:solidFill>
              <a:srgbClr val="C8553D"/>
            </a:solidFill>
            <a:prstDash val="solid"/>
          </a:ln>
        </p:spPr>
      </p:sp>
      <p:sp>
        <p:nvSpPr>
          <p:cNvPr id="117" name="Text 114"/>
          <p:cNvSpPr txBox="1"/>
          <p:nvPr/>
        </p:nvSpPr>
        <p:spPr>
          <a:xfrm>
            <a:off x="4922426"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800" dirty="0"/>
          </a:p>
        </p:txBody>
      </p:sp>
      <p:sp>
        <p:nvSpPr>
          <p:cNvPr id="118" name="Shape 115"/>
          <p:cNvSpPr/>
          <p:nvPr/>
        </p:nvSpPr>
        <p:spPr>
          <a:xfrm>
            <a:off x="5303414" y="3410712"/>
            <a:ext cx="335268" cy="658368"/>
          </a:xfrm>
          <a:prstGeom prst="rect">
            <a:avLst/>
          </a:prstGeom>
          <a:solidFill>
            <a:srgbClr val="14213D"/>
          </a:solidFill>
          <a:ln w="12700">
            <a:solidFill>
              <a:srgbClr val="14213D"/>
            </a:solidFill>
            <a:prstDash val="solid"/>
          </a:ln>
        </p:spPr>
      </p:sp>
      <p:sp>
        <p:nvSpPr>
          <p:cNvPr id="119" name="Text 116"/>
          <p:cNvSpPr txBox="1"/>
          <p:nvPr/>
        </p:nvSpPr>
        <p:spPr>
          <a:xfrm>
            <a:off x="5303414"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800" dirty="0"/>
          </a:p>
        </p:txBody>
      </p:sp>
      <p:sp>
        <p:nvSpPr>
          <p:cNvPr id="120" name="Shape 117"/>
          <p:cNvSpPr/>
          <p:nvPr/>
        </p:nvSpPr>
        <p:spPr>
          <a:xfrm>
            <a:off x="5684403" y="3410712"/>
            <a:ext cx="335268" cy="658368"/>
          </a:xfrm>
          <a:prstGeom prst="rect">
            <a:avLst/>
          </a:prstGeom>
          <a:solidFill>
            <a:srgbClr val="3D6A9E"/>
          </a:solidFill>
          <a:ln w="12700">
            <a:solidFill>
              <a:srgbClr val="3D6A9E"/>
            </a:solidFill>
            <a:prstDash val="solid"/>
          </a:ln>
        </p:spPr>
      </p:sp>
      <p:sp>
        <p:nvSpPr>
          <p:cNvPr id="121" name="Text 118"/>
          <p:cNvSpPr txBox="1"/>
          <p:nvPr/>
        </p:nvSpPr>
        <p:spPr>
          <a:xfrm>
            <a:off x="5684403"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800" dirty="0"/>
          </a:p>
        </p:txBody>
      </p:sp>
      <p:sp>
        <p:nvSpPr>
          <p:cNvPr id="122" name="Shape 119"/>
          <p:cNvSpPr/>
          <p:nvPr/>
        </p:nvSpPr>
        <p:spPr>
          <a:xfrm>
            <a:off x="6065391" y="3410712"/>
            <a:ext cx="335268" cy="658368"/>
          </a:xfrm>
          <a:prstGeom prst="rect">
            <a:avLst/>
          </a:prstGeom>
          <a:solidFill>
            <a:srgbClr val="14213D"/>
          </a:solidFill>
          <a:ln w="12700">
            <a:solidFill>
              <a:srgbClr val="14213D"/>
            </a:solidFill>
            <a:prstDash val="solid"/>
          </a:ln>
        </p:spPr>
      </p:sp>
      <p:sp>
        <p:nvSpPr>
          <p:cNvPr id="123" name="Text 120"/>
          <p:cNvSpPr txBox="1"/>
          <p:nvPr/>
        </p:nvSpPr>
        <p:spPr>
          <a:xfrm>
            <a:off x="6065391"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800" dirty="0"/>
          </a:p>
        </p:txBody>
      </p:sp>
      <p:sp>
        <p:nvSpPr>
          <p:cNvPr id="124" name="Shape 121"/>
          <p:cNvSpPr/>
          <p:nvPr/>
        </p:nvSpPr>
        <p:spPr>
          <a:xfrm>
            <a:off x="6446379" y="3410712"/>
            <a:ext cx="335268" cy="658368"/>
          </a:xfrm>
          <a:prstGeom prst="rect">
            <a:avLst/>
          </a:prstGeom>
          <a:solidFill>
            <a:srgbClr val="14213D"/>
          </a:solidFill>
          <a:ln w="12700">
            <a:solidFill>
              <a:srgbClr val="14213D"/>
            </a:solidFill>
            <a:prstDash val="solid"/>
          </a:ln>
        </p:spPr>
      </p:sp>
      <p:sp>
        <p:nvSpPr>
          <p:cNvPr id="125" name="Text 122"/>
          <p:cNvSpPr txBox="1"/>
          <p:nvPr/>
        </p:nvSpPr>
        <p:spPr>
          <a:xfrm>
            <a:off x="6446379"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800" dirty="0"/>
          </a:p>
        </p:txBody>
      </p:sp>
      <p:sp>
        <p:nvSpPr>
          <p:cNvPr id="126" name="Shape 123"/>
          <p:cNvSpPr/>
          <p:nvPr/>
        </p:nvSpPr>
        <p:spPr>
          <a:xfrm>
            <a:off x="6827368" y="3410712"/>
            <a:ext cx="335268" cy="658368"/>
          </a:xfrm>
          <a:prstGeom prst="rect">
            <a:avLst/>
          </a:prstGeom>
          <a:solidFill>
            <a:srgbClr val="14213D"/>
          </a:solidFill>
          <a:ln w="12700">
            <a:solidFill>
              <a:srgbClr val="14213D"/>
            </a:solidFill>
            <a:prstDash val="solid"/>
          </a:ln>
        </p:spPr>
      </p:sp>
      <p:sp>
        <p:nvSpPr>
          <p:cNvPr id="127" name="Text 124"/>
          <p:cNvSpPr txBox="1"/>
          <p:nvPr/>
        </p:nvSpPr>
        <p:spPr>
          <a:xfrm>
            <a:off x="6827368"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800" dirty="0"/>
          </a:p>
        </p:txBody>
      </p:sp>
      <p:sp>
        <p:nvSpPr>
          <p:cNvPr id="128" name="Shape 125"/>
          <p:cNvSpPr/>
          <p:nvPr/>
        </p:nvSpPr>
        <p:spPr>
          <a:xfrm>
            <a:off x="7208356" y="3410712"/>
            <a:ext cx="335268" cy="658368"/>
          </a:xfrm>
          <a:prstGeom prst="rect">
            <a:avLst/>
          </a:prstGeom>
          <a:solidFill>
            <a:srgbClr val="14213D"/>
          </a:solidFill>
          <a:ln w="12700">
            <a:solidFill>
              <a:srgbClr val="14213D"/>
            </a:solidFill>
            <a:prstDash val="solid"/>
          </a:ln>
        </p:spPr>
      </p:sp>
      <p:sp>
        <p:nvSpPr>
          <p:cNvPr id="129" name="Text 126"/>
          <p:cNvSpPr txBox="1"/>
          <p:nvPr/>
        </p:nvSpPr>
        <p:spPr>
          <a:xfrm>
            <a:off x="7208356"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800" dirty="0"/>
          </a:p>
        </p:txBody>
      </p:sp>
      <p:sp>
        <p:nvSpPr>
          <p:cNvPr id="130" name="Shape 127"/>
          <p:cNvSpPr/>
          <p:nvPr/>
        </p:nvSpPr>
        <p:spPr>
          <a:xfrm>
            <a:off x="7589344" y="3410712"/>
            <a:ext cx="335268" cy="658368"/>
          </a:xfrm>
          <a:prstGeom prst="rect">
            <a:avLst/>
          </a:prstGeom>
          <a:solidFill>
            <a:srgbClr val="14213D"/>
          </a:solidFill>
          <a:ln w="12700">
            <a:solidFill>
              <a:srgbClr val="14213D"/>
            </a:solidFill>
            <a:prstDash val="solid"/>
          </a:ln>
        </p:spPr>
      </p:sp>
      <p:sp>
        <p:nvSpPr>
          <p:cNvPr id="131" name="Text 128"/>
          <p:cNvSpPr txBox="1"/>
          <p:nvPr/>
        </p:nvSpPr>
        <p:spPr>
          <a:xfrm>
            <a:off x="7589344"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16</a:t>
            </a:r>
            <a:endParaRPr lang="en-US" sz="800" dirty="0"/>
          </a:p>
        </p:txBody>
      </p:sp>
      <p:sp>
        <p:nvSpPr>
          <p:cNvPr id="132" name="Shape 129"/>
          <p:cNvSpPr/>
          <p:nvPr/>
        </p:nvSpPr>
        <p:spPr>
          <a:xfrm>
            <a:off x="7970332" y="3410712"/>
            <a:ext cx="335268" cy="658368"/>
          </a:xfrm>
          <a:prstGeom prst="rect">
            <a:avLst/>
          </a:prstGeom>
          <a:solidFill>
            <a:srgbClr val="3D6A9E"/>
          </a:solidFill>
          <a:ln w="12700">
            <a:solidFill>
              <a:srgbClr val="3D6A9E"/>
            </a:solidFill>
            <a:prstDash val="solid"/>
          </a:ln>
        </p:spPr>
      </p:sp>
      <p:sp>
        <p:nvSpPr>
          <p:cNvPr id="133" name="Text 130"/>
          <p:cNvSpPr txBox="1"/>
          <p:nvPr/>
        </p:nvSpPr>
        <p:spPr>
          <a:xfrm>
            <a:off x="7970332"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17</a:t>
            </a:r>
            <a:endParaRPr lang="en-US" sz="800" dirty="0"/>
          </a:p>
        </p:txBody>
      </p:sp>
      <p:sp>
        <p:nvSpPr>
          <p:cNvPr id="134" name="Shape 131"/>
          <p:cNvSpPr/>
          <p:nvPr/>
        </p:nvSpPr>
        <p:spPr>
          <a:xfrm>
            <a:off x="8351321" y="3410712"/>
            <a:ext cx="335268" cy="658368"/>
          </a:xfrm>
          <a:prstGeom prst="rect">
            <a:avLst/>
          </a:prstGeom>
          <a:solidFill>
            <a:srgbClr val="8D99AE"/>
          </a:solidFill>
          <a:ln w="12700">
            <a:solidFill>
              <a:srgbClr val="8D99AE"/>
            </a:solidFill>
            <a:prstDash val="solid"/>
          </a:ln>
        </p:spPr>
      </p:sp>
      <p:sp>
        <p:nvSpPr>
          <p:cNvPr id="135" name="Text 132"/>
          <p:cNvSpPr txBox="1"/>
          <p:nvPr/>
        </p:nvSpPr>
        <p:spPr>
          <a:xfrm>
            <a:off x="8351321"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18</a:t>
            </a:r>
            <a:endParaRPr lang="en-US" sz="800" dirty="0"/>
          </a:p>
        </p:txBody>
      </p:sp>
      <p:sp>
        <p:nvSpPr>
          <p:cNvPr id="136" name="Shape 133"/>
          <p:cNvSpPr/>
          <p:nvPr/>
        </p:nvSpPr>
        <p:spPr>
          <a:xfrm>
            <a:off x="8732309" y="3410712"/>
            <a:ext cx="335268" cy="658368"/>
          </a:xfrm>
          <a:prstGeom prst="rect">
            <a:avLst/>
          </a:prstGeom>
          <a:solidFill>
            <a:srgbClr val="8D99AE"/>
          </a:solidFill>
          <a:ln w="12700">
            <a:solidFill>
              <a:srgbClr val="8D99AE"/>
            </a:solidFill>
            <a:prstDash val="solid"/>
          </a:ln>
        </p:spPr>
      </p:sp>
      <p:sp>
        <p:nvSpPr>
          <p:cNvPr id="137" name="Text 134"/>
          <p:cNvSpPr txBox="1"/>
          <p:nvPr/>
        </p:nvSpPr>
        <p:spPr>
          <a:xfrm>
            <a:off x="8732309" y="3410712"/>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19</a:t>
            </a:r>
            <a:endParaRPr lang="en-US" sz="800" dirty="0"/>
          </a:p>
        </p:txBody>
      </p:sp>
      <p:sp>
        <p:nvSpPr>
          <p:cNvPr id="138" name="Text 135"/>
          <p:cNvSpPr txBox="1"/>
          <p:nvPr/>
        </p:nvSpPr>
        <p:spPr>
          <a:xfrm>
            <a:off x="457200" y="4270248"/>
            <a:ext cx="1371600" cy="658368"/>
          </a:xfrm>
          <a:prstGeom prst="rect">
            <a:avLst/>
          </a:prstGeom>
          <a:noFill/>
          <a:ln/>
        </p:spPr>
        <p:txBody>
          <a:bodyPr wrap="square" lIns="0" tIns="0" rIns="0" bIns="0" rtlCol="0" anchor="ctr"/>
          <a:lstStyle/>
          <a:p>
            <a:pPr algn="l" indent="0" marL="0">
              <a:buNone/>
            </a:pPr>
            <a:r>
              <a:rPr lang="en-US" sz="1200" b="1" dirty="0">
                <a:solidFill>
                  <a:srgbClr val="14213D"/>
                </a:solidFill>
                <a:latin typeface="Calibri" pitchFamily="34" charset="0"/>
                <a:ea typeface="Calibri" pitchFamily="34" charset="-122"/>
                <a:cs typeface="Calibri" pitchFamily="34" charset="-120"/>
              </a:rPr>
              <a:t>Supplementary</a:t>
            </a:r>
            <a:endParaRPr lang="en-US" sz="1200" dirty="0"/>
          </a:p>
          <a:p>
            <a:pPr algn="l" indent="0" marL="0">
              <a:spcAft>
                <a:spcPts val="400"/>
              </a:spcAft>
              <a:buNone/>
            </a:pPr>
            <a:r>
              <a:rPr lang="en-US" sz="950" dirty="0">
                <a:solidFill>
                  <a:srgbClr val="6B7380"/>
                </a:solidFill>
                <a:latin typeface="Calibri" pitchFamily="34" charset="0"/>
                <a:ea typeface="Calibri" pitchFamily="34" charset="-122"/>
                <a:cs typeface="Calibri" pitchFamily="34" charset="-120"/>
              </a:rPr>
              <a:t>7 requirements</a:t>
            </a:r>
            <a:endParaRPr lang="en-US" sz="1200" dirty="0"/>
          </a:p>
        </p:txBody>
      </p:sp>
      <p:sp>
        <p:nvSpPr>
          <p:cNvPr id="139" name="Shape 136"/>
          <p:cNvSpPr/>
          <p:nvPr/>
        </p:nvSpPr>
        <p:spPr>
          <a:xfrm>
            <a:off x="1874520" y="4270248"/>
            <a:ext cx="335268" cy="658368"/>
          </a:xfrm>
          <a:prstGeom prst="rect">
            <a:avLst/>
          </a:prstGeom>
          <a:solidFill>
            <a:srgbClr val="14213D"/>
          </a:solidFill>
          <a:ln w="12700">
            <a:solidFill>
              <a:srgbClr val="14213D"/>
            </a:solidFill>
            <a:prstDash val="solid"/>
          </a:ln>
        </p:spPr>
      </p:sp>
      <p:sp>
        <p:nvSpPr>
          <p:cNvPr id="140" name="Text 137"/>
          <p:cNvSpPr txBox="1"/>
          <p:nvPr/>
        </p:nvSpPr>
        <p:spPr>
          <a:xfrm>
            <a:off x="1874520" y="4270248"/>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O-</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800" dirty="0"/>
          </a:p>
        </p:txBody>
      </p:sp>
      <p:sp>
        <p:nvSpPr>
          <p:cNvPr id="141" name="Shape 138"/>
          <p:cNvSpPr/>
          <p:nvPr/>
        </p:nvSpPr>
        <p:spPr>
          <a:xfrm>
            <a:off x="2255508" y="4270248"/>
            <a:ext cx="335268" cy="658368"/>
          </a:xfrm>
          <a:prstGeom prst="rect">
            <a:avLst/>
          </a:prstGeom>
          <a:solidFill>
            <a:srgbClr val="14213D"/>
          </a:solidFill>
          <a:ln w="12700">
            <a:solidFill>
              <a:srgbClr val="14213D"/>
            </a:solidFill>
            <a:prstDash val="solid"/>
          </a:ln>
        </p:spPr>
      </p:sp>
      <p:sp>
        <p:nvSpPr>
          <p:cNvPr id="142" name="Text 139"/>
          <p:cNvSpPr txBox="1"/>
          <p:nvPr/>
        </p:nvSpPr>
        <p:spPr>
          <a:xfrm>
            <a:off x="2255508" y="4270248"/>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O-</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800" dirty="0"/>
          </a:p>
        </p:txBody>
      </p:sp>
      <p:sp>
        <p:nvSpPr>
          <p:cNvPr id="143" name="Shape 140"/>
          <p:cNvSpPr/>
          <p:nvPr/>
        </p:nvSpPr>
        <p:spPr>
          <a:xfrm>
            <a:off x="2636497" y="4270248"/>
            <a:ext cx="335268" cy="658368"/>
          </a:xfrm>
          <a:prstGeom prst="rect">
            <a:avLst/>
          </a:prstGeom>
          <a:solidFill>
            <a:srgbClr val="C8553D"/>
          </a:solidFill>
          <a:ln w="12700">
            <a:solidFill>
              <a:srgbClr val="C8553D"/>
            </a:solidFill>
            <a:prstDash val="solid"/>
          </a:ln>
        </p:spPr>
      </p:sp>
      <p:sp>
        <p:nvSpPr>
          <p:cNvPr id="144" name="Text 141"/>
          <p:cNvSpPr txBox="1"/>
          <p:nvPr/>
        </p:nvSpPr>
        <p:spPr>
          <a:xfrm>
            <a:off x="2636497" y="4270248"/>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O-</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800" dirty="0"/>
          </a:p>
        </p:txBody>
      </p:sp>
      <p:sp>
        <p:nvSpPr>
          <p:cNvPr id="145" name="Shape 142"/>
          <p:cNvSpPr/>
          <p:nvPr/>
        </p:nvSpPr>
        <p:spPr>
          <a:xfrm>
            <a:off x="3017485" y="4270248"/>
            <a:ext cx="335268" cy="658368"/>
          </a:xfrm>
          <a:prstGeom prst="rect">
            <a:avLst/>
          </a:prstGeom>
          <a:solidFill>
            <a:srgbClr val="C8553D"/>
          </a:solidFill>
          <a:ln w="12700">
            <a:solidFill>
              <a:srgbClr val="C8553D"/>
            </a:solidFill>
            <a:prstDash val="solid"/>
          </a:ln>
        </p:spPr>
      </p:sp>
      <p:sp>
        <p:nvSpPr>
          <p:cNvPr id="146" name="Text 143"/>
          <p:cNvSpPr txBox="1"/>
          <p:nvPr/>
        </p:nvSpPr>
        <p:spPr>
          <a:xfrm>
            <a:off x="3017485" y="4270248"/>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O-</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800" dirty="0"/>
          </a:p>
        </p:txBody>
      </p:sp>
      <p:sp>
        <p:nvSpPr>
          <p:cNvPr id="147" name="Shape 144"/>
          <p:cNvSpPr/>
          <p:nvPr/>
        </p:nvSpPr>
        <p:spPr>
          <a:xfrm>
            <a:off x="3398473" y="4270248"/>
            <a:ext cx="335268" cy="658368"/>
          </a:xfrm>
          <a:prstGeom prst="rect">
            <a:avLst/>
          </a:prstGeom>
          <a:solidFill>
            <a:srgbClr val="14213D"/>
          </a:solidFill>
          <a:ln w="12700">
            <a:solidFill>
              <a:srgbClr val="14213D"/>
            </a:solidFill>
            <a:prstDash val="solid"/>
          </a:ln>
        </p:spPr>
      </p:sp>
      <p:sp>
        <p:nvSpPr>
          <p:cNvPr id="148" name="Text 145"/>
          <p:cNvSpPr txBox="1"/>
          <p:nvPr/>
        </p:nvSpPr>
        <p:spPr>
          <a:xfrm>
            <a:off x="3398473" y="4270248"/>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O-</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800" dirty="0"/>
          </a:p>
        </p:txBody>
      </p:sp>
      <p:sp>
        <p:nvSpPr>
          <p:cNvPr id="149" name="Shape 146"/>
          <p:cNvSpPr/>
          <p:nvPr/>
        </p:nvSpPr>
        <p:spPr>
          <a:xfrm>
            <a:off x="3779461" y="4270248"/>
            <a:ext cx="335268" cy="658368"/>
          </a:xfrm>
          <a:prstGeom prst="rect">
            <a:avLst/>
          </a:prstGeom>
          <a:solidFill>
            <a:srgbClr val="14213D"/>
          </a:solidFill>
          <a:ln w="12700">
            <a:solidFill>
              <a:srgbClr val="14213D"/>
            </a:solidFill>
            <a:prstDash val="solid"/>
          </a:ln>
        </p:spPr>
      </p:sp>
      <p:sp>
        <p:nvSpPr>
          <p:cNvPr id="150" name="Text 147"/>
          <p:cNvSpPr txBox="1"/>
          <p:nvPr/>
        </p:nvSpPr>
        <p:spPr>
          <a:xfrm>
            <a:off x="3779461" y="4270248"/>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O-</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800" dirty="0"/>
          </a:p>
        </p:txBody>
      </p:sp>
      <p:sp>
        <p:nvSpPr>
          <p:cNvPr id="151" name="Shape 148"/>
          <p:cNvSpPr/>
          <p:nvPr/>
        </p:nvSpPr>
        <p:spPr>
          <a:xfrm>
            <a:off x="4160450" y="4270248"/>
            <a:ext cx="335268" cy="658368"/>
          </a:xfrm>
          <a:prstGeom prst="rect">
            <a:avLst/>
          </a:prstGeom>
          <a:solidFill>
            <a:srgbClr val="14213D"/>
          </a:solidFill>
          <a:ln w="12700">
            <a:solidFill>
              <a:srgbClr val="14213D"/>
            </a:solidFill>
            <a:prstDash val="solid"/>
          </a:ln>
        </p:spPr>
      </p:sp>
      <p:sp>
        <p:nvSpPr>
          <p:cNvPr id="152" name="Text 149"/>
          <p:cNvSpPr txBox="1"/>
          <p:nvPr/>
        </p:nvSpPr>
        <p:spPr>
          <a:xfrm>
            <a:off x="4160450" y="4270248"/>
            <a:ext cx="335268" cy="6583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O-</a:t>
            </a:r>
            <a:endParaRPr lang="en-US" sz="800" dirty="0"/>
          </a:p>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800" dirty="0"/>
          </a:p>
        </p:txBody>
      </p:sp>
      <p:sp>
        <p:nvSpPr>
          <p:cNvPr id="153" name="Shape 150"/>
          <p:cNvSpPr/>
          <p:nvPr/>
        </p:nvSpPr>
        <p:spPr>
          <a:xfrm>
            <a:off x="457200" y="5193792"/>
            <a:ext cx="237744" cy="237744"/>
          </a:xfrm>
          <a:prstGeom prst="rect">
            <a:avLst/>
          </a:prstGeom>
          <a:solidFill>
            <a:srgbClr val="14213D"/>
          </a:solidFill>
          <a:ln w="12700">
            <a:solidFill>
              <a:srgbClr val="14213D"/>
            </a:solidFill>
            <a:prstDash val="solid"/>
          </a:ln>
        </p:spPr>
      </p:sp>
      <p:sp>
        <p:nvSpPr>
          <p:cNvPr id="154" name="Text 151"/>
          <p:cNvSpPr txBox="1"/>
          <p:nvPr/>
        </p:nvSpPr>
        <p:spPr>
          <a:xfrm>
            <a:off x="768096" y="5175504"/>
            <a:ext cx="1645920" cy="274320"/>
          </a:xfrm>
          <a:prstGeom prst="rect">
            <a:avLst/>
          </a:prstGeom>
          <a:noFill/>
          <a:ln/>
        </p:spPr>
        <p:txBody>
          <a:bodyPr wrap="square" lIns="0" tIns="0" rIns="0" bIns="0" rtlCol="0" anchor="ctr"/>
          <a:lstStyle/>
          <a:p>
            <a:pPr algn="l" indent="0" marL="0">
              <a:buNone/>
            </a:pPr>
            <a:r>
              <a:rPr lang="en-US" sz="1100" b="1" dirty="0">
                <a:solidFill>
                  <a:srgbClr val="2A2F36"/>
                </a:solidFill>
                <a:latin typeface="Calibri" pitchFamily="34" charset="0"/>
                <a:ea typeface="Calibri" pitchFamily="34" charset="-122"/>
                <a:cs typeface="Calibri" pitchFamily="34" charset="-120"/>
              </a:rPr>
              <a:t>a</a:t>
            </a:r>
            <a:pPr algn="l" indent="0" marL="0">
              <a:buNone/>
            </a:pPr>
            <a:r>
              <a:rPr lang="en-US" sz="1100" dirty="0">
                <a:solidFill>
                  <a:srgbClr val="2A2F36"/>
                </a:solidFill>
                <a:latin typeface="Calibri" pitchFamily="34" charset="0"/>
                <a:ea typeface="Calibri" pitchFamily="34" charset="-122"/>
                <a:cs typeface="Calibri" pitchFamily="34" charset="-120"/>
              </a:rPr>
              <a:t>  Portal screen</a:t>
            </a:r>
            <a:endParaRPr lang="en-US" sz="1100" dirty="0"/>
          </a:p>
        </p:txBody>
      </p:sp>
      <p:sp>
        <p:nvSpPr>
          <p:cNvPr id="155" name="Shape 152"/>
          <p:cNvSpPr/>
          <p:nvPr/>
        </p:nvSpPr>
        <p:spPr>
          <a:xfrm>
            <a:off x="2468880" y="5193792"/>
            <a:ext cx="237744" cy="237744"/>
          </a:xfrm>
          <a:prstGeom prst="rect">
            <a:avLst/>
          </a:prstGeom>
          <a:solidFill>
            <a:srgbClr val="3D6A9E"/>
          </a:solidFill>
          <a:ln w="12700">
            <a:solidFill>
              <a:srgbClr val="3D6A9E"/>
            </a:solidFill>
            <a:prstDash val="solid"/>
          </a:ln>
        </p:spPr>
      </p:sp>
      <p:sp>
        <p:nvSpPr>
          <p:cNvPr id="156" name="Text 153"/>
          <p:cNvSpPr txBox="1"/>
          <p:nvPr/>
        </p:nvSpPr>
        <p:spPr>
          <a:xfrm>
            <a:off x="2779776" y="5175504"/>
            <a:ext cx="2468880" cy="274320"/>
          </a:xfrm>
          <a:prstGeom prst="rect">
            <a:avLst/>
          </a:prstGeom>
          <a:noFill/>
          <a:ln/>
        </p:spPr>
        <p:txBody>
          <a:bodyPr wrap="square" lIns="0" tIns="0" rIns="0" bIns="0" rtlCol="0" anchor="ctr"/>
          <a:lstStyle/>
          <a:p>
            <a:pPr algn="l" indent="0" marL="0">
              <a:buNone/>
            </a:pPr>
            <a:r>
              <a:rPr lang="en-US" sz="1100" b="1" dirty="0">
                <a:solidFill>
                  <a:srgbClr val="2A2F36"/>
                </a:solidFill>
                <a:latin typeface="Calibri" pitchFamily="34" charset="0"/>
                <a:ea typeface="Calibri" pitchFamily="34" charset="-122"/>
                <a:cs typeface="Calibri" pitchFamily="34" charset="-120"/>
              </a:rPr>
              <a:t>b</a:t>
            </a:r>
            <a:pPr algn="l" indent="0" marL="0">
              <a:buNone/>
            </a:pPr>
            <a:r>
              <a:rPr lang="en-US" sz="1100" dirty="0">
                <a:solidFill>
                  <a:srgbClr val="2A2F36"/>
                </a:solidFill>
                <a:latin typeface="Calibri" pitchFamily="34" charset="0"/>
                <a:ea typeface="Calibri" pitchFamily="34" charset="-122"/>
                <a:cs typeface="Calibri" pitchFamily="34" charset="-120"/>
              </a:rPr>
              <a:t>  Workspace / config by design</a:t>
            </a:r>
            <a:endParaRPr lang="en-US" sz="1100" dirty="0"/>
          </a:p>
        </p:txBody>
      </p:sp>
      <p:sp>
        <p:nvSpPr>
          <p:cNvPr id="157" name="Shape 154"/>
          <p:cNvSpPr/>
          <p:nvPr/>
        </p:nvSpPr>
        <p:spPr>
          <a:xfrm>
            <a:off x="5303520" y="5193792"/>
            <a:ext cx="237744" cy="237744"/>
          </a:xfrm>
          <a:prstGeom prst="rect">
            <a:avLst/>
          </a:prstGeom>
          <a:solidFill>
            <a:srgbClr val="8D99AE"/>
          </a:solidFill>
          <a:ln w="12700">
            <a:solidFill>
              <a:srgbClr val="8D99AE"/>
            </a:solidFill>
            <a:prstDash val="solid"/>
          </a:ln>
        </p:spPr>
      </p:sp>
      <p:sp>
        <p:nvSpPr>
          <p:cNvPr id="158" name="Text 155"/>
          <p:cNvSpPr txBox="1"/>
          <p:nvPr/>
        </p:nvSpPr>
        <p:spPr>
          <a:xfrm>
            <a:off x="5614416" y="5175504"/>
            <a:ext cx="2880360" cy="274320"/>
          </a:xfrm>
          <a:prstGeom prst="rect">
            <a:avLst/>
          </a:prstGeom>
          <a:noFill/>
          <a:ln/>
        </p:spPr>
        <p:txBody>
          <a:bodyPr wrap="square" lIns="0" tIns="0" rIns="0" bIns="0" rtlCol="0" anchor="ctr"/>
          <a:lstStyle/>
          <a:p>
            <a:pPr algn="l" indent="0" marL="0">
              <a:buNone/>
            </a:pPr>
            <a:r>
              <a:rPr lang="en-US" sz="1100" b="1" dirty="0">
                <a:solidFill>
                  <a:srgbClr val="2A2F36"/>
                </a:solidFill>
                <a:latin typeface="Calibri" pitchFamily="34" charset="0"/>
                <a:ea typeface="Calibri" pitchFamily="34" charset="-122"/>
                <a:cs typeface="Calibri" pitchFamily="34" charset="-120"/>
              </a:rPr>
              <a:t>c</a:t>
            </a:r>
            <a:pPr algn="l" indent="0" marL="0">
              <a:buNone/>
            </a:pPr>
            <a:r>
              <a:rPr lang="en-US" sz="1100" dirty="0">
                <a:solidFill>
                  <a:srgbClr val="2A2F36"/>
                </a:solidFill>
                <a:latin typeface="Calibri" pitchFamily="34" charset="0"/>
                <a:ea typeface="Calibri" pitchFamily="34" charset="-122"/>
                <a:cs typeface="Calibri" pitchFamily="34" charset="-120"/>
              </a:rPr>
              <a:t>  Partly reachable: a step has no screen</a:t>
            </a:r>
            <a:endParaRPr lang="en-US" sz="1100" dirty="0"/>
          </a:p>
        </p:txBody>
      </p:sp>
      <p:sp>
        <p:nvSpPr>
          <p:cNvPr id="159" name="Shape 156"/>
          <p:cNvSpPr/>
          <p:nvPr/>
        </p:nvSpPr>
        <p:spPr>
          <a:xfrm>
            <a:off x="8549640" y="5193792"/>
            <a:ext cx="237744" cy="237744"/>
          </a:xfrm>
          <a:prstGeom prst="rect">
            <a:avLst/>
          </a:prstGeom>
          <a:solidFill>
            <a:srgbClr val="C8553D"/>
          </a:solidFill>
          <a:ln w="12700">
            <a:solidFill>
              <a:srgbClr val="C8553D"/>
            </a:solidFill>
            <a:prstDash val="solid"/>
          </a:ln>
        </p:spPr>
      </p:sp>
      <p:sp>
        <p:nvSpPr>
          <p:cNvPr id="160" name="Text 157"/>
          <p:cNvSpPr txBox="1"/>
          <p:nvPr/>
        </p:nvSpPr>
        <p:spPr>
          <a:xfrm>
            <a:off x="8860536" y="5175504"/>
            <a:ext cx="2788920" cy="274320"/>
          </a:xfrm>
          <a:prstGeom prst="rect">
            <a:avLst/>
          </a:prstGeom>
          <a:noFill/>
          <a:ln/>
        </p:spPr>
        <p:txBody>
          <a:bodyPr wrap="square" lIns="0" tIns="0" rIns="0" bIns="0" rtlCol="0" anchor="ctr"/>
          <a:lstStyle/>
          <a:p>
            <a:pPr algn="l" indent="0" marL="0">
              <a:buNone/>
            </a:pPr>
            <a:r>
              <a:rPr lang="en-US" sz="1100" b="1" dirty="0">
                <a:solidFill>
                  <a:srgbClr val="2A2F36"/>
                </a:solidFill>
                <a:latin typeface="Calibri" pitchFamily="34" charset="0"/>
                <a:ea typeface="Calibri" pitchFamily="34" charset="-122"/>
                <a:cs typeface="Calibri" pitchFamily="34" charset="-120"/>
              </a:rPr>
              <a:t>d</a:t>
            </a:r>
            <a:pPr algn="l" indent="0" marL="0">
              <a:buNone/>
            </a:pPr>
            <a:r>
              <a:rPr lang="en-US" sz="1100" dirty="0">
                <a:solidFill>
                  <a:srgbClr val="2A2F36"/>
                </a:solidFill>
                <a:latin typeface="Calibri" pitchFamily="34" charset="0"/>
                <a:ea typeface="Calibri" pitchFamily="34" charset="-122"/>
                <a:cs typeface="Calibri" pitchFamily="34" charset="-120"/>
              </a:rPr>
              <a:t>  Not implemented in whole or a mandatory clause</a:t>
            </a:r>
            <a:endParaRPr lang="en-US" sz="1100" dirty="0"/>
          </a:p>
        </p:txBody>
      </p:sp>
      <p:sp>
        <p:nvSpPr>
          <p:cNvPr id="161" name="Text 158"/>
          <p:cNvSpPr txBox="1"/>
          <p:nvPr/>
        </p:nvSpPr>
        <p:spPr>
          <a:xfrm>
            <a:off x="457200" y="5577840"/>
            <a:ext cx="11277295" cy="603504"/>
          </a:xfrm>
          <a:prstGeom prst="rect">
            <a:avLst/>
          </a:prstGeom>
          <a:noFill/>
          <a:ln/>
        </p:spPr>
        <p:txBody>
          <a:bodyPr wrap="square" lIns="0" tIns="0" rIns="0" bIns="0" rtlCol="0" anchor="t"/>
          <a:lstStyle/>
          <a:p>
            <a:pPr algn="l" indent="0" marL="0">
              <a:buNone/>
            </a:pPr>
            <a:r>
              <a:rPr lang="en-US" sz="1050" b="1" dirty="0">
                <a:solidFill>
                  <a:srgbClr val="5B6B82"/>
                </a:solidFill>
                <a:latin typeface="Calibri" pitchFamily="34" charset="0"/>
                <a:ea typeface="Calibri" pitchFamily="34" charset="-122"/>
                <a:cs typeface="Calibri" pitchFamily="34" charset="-120"/>
              </a:rPr>
              <a:t>Reading the tiles:</a:t>
            </a:r>
            <a:pPr algn="l" indent="0" marL="0">
              <a:buNone/>
            </a:pPr>
            <a:r>
              <a:rPr lang="en-US" sz="1050" dirty="0">
                <a:solidFill>
                  <a:srgbClr val="5B6B82"/>
                </a:solidFill>
                <a:latin typeface="Calibri" pitchFamily="34" charset="0"/>
                <a:ea typeface="Calibri" pitchFamily="34" charset="-122"/>
                <a:cs typeface="Calibri" pitchFamily="34" charset="-120"/>
              </a:rPr>
              <a:t> d = one missing clause each: formation path by forum type (G-8), Q1 attestation rule (G-10), meeting and charter notices (G-14, O-4), approval reminders and group routing (P-8), transitions by type and severity (E-8), risk-acceptance approval chain (E-9), dashboard customisation (O-3). c = disposal execution (G-16, P-18, E-18), outbound export (G-19, P-20, E-19), forum SLA view (G-12), delegate nomination (G-13), external links on a document (P-5).</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D  ·  EVIDENCE</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Quality evidence is layered, and every figure comes from a run, not an assertion</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docs/delivery/REQUIREMENTS-COVERAGE.md §1 (final run: 1453 tests, OK, 1433 s on a clean site; 1372 before the last round; 780 on 17 Sep); docs/delivery/DEPLOYMENT-READINESS.md (722; verify.sh 14/14); docs/delivery/SESSION-SUMMARY.md; README.md (293, Core only).</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29</a:t>
            </a:r>
            <a:endParaRPr lang="en-US" sz="900" dirty="0"/>
          </a:p>
        </p:txBody>
      </p:sp>
      <p:sp>
        <p:nvSpPr>
          <p:cNvPr id="7" name="Shape 4"/>
          <p:cNvSpPr/>
          <p:nvPr/>
        </p:nvSpPr>
        <p:spPr>
          <a:xfrm>
            <a:off x="457200" y="1600200"/>
            <a:ext cx="2682164" cy="1737360"/>
          </a:xfrm>
          <a:prstGeom prst="rect">
            <a:avLst/>
          </a:prstGeom>
          <a:solidFill>
            <a:srgbClr val="F2F4F7"/>
          </a:solidFill>
          <a:ln w="12700">
            <a:solidFill>
              <a:srgbClr val="F2F4F7"/>
            </a:solidFill>
            <a:prstDash val="solid"/>
          </a:ln>
        </p:spPr>
      </p:sp>
      <p:sp>
        <p:nvSpPr>
          <p:cNvPr id="8" name="Text 5"/>
          <p:cNvSpPr txBox="1"/>
          <p:nvPr/>
        </p:nvSpPr>
        <p:spPr>
          <a:xfrm>
            <a:off x="640080" y="1645920"/>
            <a:ext cx="2316404" cy="640080"/>
          </a:xfrm>
          <a:prstGeom prst="rect">
            <a:avLst/>
          </a:prstGeom>
          <a:noFill/>
          <a:ln/>
        </p:spPr>
        <p:txBody>
          <a:bodyPr wrap="square" lIns="0" tIns="0" rIns="0" bIns="0" rtlCol="0" anchor="b"/>
          <a:lstStyle/>
          <a:p>
            <a:pPr indent="0" marL="0">
              <a:buNone/>
            </a:pPr>
            <a:r>
              <a:rPr lang="en-US" sz="3000" b="1" dirty="0">
                <a:solidFill>
                  <a:srgbClr val="14213D"/>
                </a:solidFill>
                <a:latin typeface="Calibri" pitchFamily="34" charset="0"/>
                <a:ea typeface="Calibri" pitchFamily="34" charset="-122"/>
                <a:cs typeface="Calibri" pitchFamily="34" charset="-120"/>
              </a:rPr>
              <a:t>1453 / 1453</a:t>
            </a:r>
            <a:endParaRPr lang="en-US" sz="3000" dirty="0"/>
          </a:p>
        </p:txBody>
      </p:sp>
      <p:sp>
        <p:nvSpPr>
          <p:cNvPr id="9" name="Text 6"/>
          <p:cNvSpPr txBox="1"/>
          <p:nvPr/>
        </p:nvSpPr>
        <p:spPr>
          <a:xfrm>
            <a:off x="640080" y="2322576"/>
            <a:ext cx="2316404" cy="91440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application tests pass on PostgreSQL, on a clean site: 0 failures, 0 errors</a:t>
            </a:r>
            <a:endParaRPr lang="en-US" sz="1100" dirty="0"/>
          </a:p>
        </p:txBody>
      </p:sp>
      <p:sp>
        <p:nvSpPr>
          <p:cNvPr id="10" name="Shape 7"/>
          <p:cNvSpPr/>
          <p:nvPr/>
        </p:nvSpPr>
        <p:spPr>
          <a:xfrm>
            <a:off x="3322244" y="1600200"/>
            <a:ext cx="2682164" cy="1737360"/>
          </a:xfrm>
          <a:prstGeom prst="rect">
            <a:avLst/>
          </a:prstGeom>
          <a:solidFill>
            <a:srgbClr val="F2F4F7"/>
          </a:solidFill>
          <a:ln w="12700">
            <a:solidFill>
              <a:srgbClr val="F2F4F7"/>
            </a:solidFill>
            <a:prstDash val="solid"/>
          </a:ln>
        </p:spPr>
      </p:sp>
      <p:sp>
        <p:nvSpPr>
          <p:cNvPr id="11" name="Text 8"/>
          <p:cNvSpPr txBox="1"/>
          <p:nvPr/>
        </p:nvSpPr>
        <p:spPr>
          <a:xfrm>
            <a:off x="3505124" y="1645920"/>
            <a:ext cx="2316404" cy="640080"/>
          </a:xfrm>
          <a:prstGeom prst="rect">
            <a:avLst/>
          </a:prstGeom>
          <a:noFill/>
          <a:ln/>
        </p:spPr>
        <p:txBody>
          <a:bodyPr wrap="square" lIns="0" tIns="0" rIns="0" bIns="0" rtlCol="0" anchor="b"/>
          <a:lstStyle/>
          <a:p>
            <a:pPr indent="0" marL="0">
              <a:buNone/>
            </a:pPr>
            <a:r>
              <a:rPr lang="en-US" sz="3000" b="1" dirty="0">
                <a:solidFill>
                  <a:srgbClr val="14213D"/>
                </a:solidFill>
                <a:latin typeface="Calibri" pitchFamily="34" charset="0"/>
                <a:ea typeface="Calibri" pitchFamily="34" charset="-122"/>
                <a:cs typeface="Calibri" pitchFamily="34" charset="-120"/>
              </a:rPr>
              <a:t>302 / 302</a:t>
            </a:r>
            <a:endParaRPr lang="en-US" sz="3000" dirty="0"/>
          </a:p>
        </p:txBody>
      </p:sp>
      <p:sp>
        <p:nvSpPr>
          <p:cNvPr id="12" name="Text 9"/>
          <p:cNvSpPr txBox="1"/>
          <p:nvPr/>
        </p:nvSpPr>
        <p:spPr>
          <a:xfrm>
            <a:off x="3505124" y="2322576"/>
            <a:ext cx="2316404" cy="91440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interface regression checks: every portal page, signed in and out, with no dead links or missing assets</a:t>
            </a:r>
            <a:endParaRPr lang="en-US" sz="1100" dirty="0"/>
          </a:p>
        </p:txBody>
      </p:sp>
      <p:sp>
        <p:nvSpPr>
          <p:cNvPr id="13" name="Shape 10"/>
          <p:cNvSpPr/>
          <p:nvPr/>
        </p:nvSpPr>
        <p:spPr>
          <a:xfrm>
            <a:off x="6187288" y="1600200"/>
            <a:ext cx="2682164" cy="1737360"/>
          </a:xfrm>
          <a:prstGeom prst="rect">
            <a:avLst/>
          </a:prstGeom>
          <a:solidFill>
            <a:srgbClr val="F2F4F7"/>
          </a:solidFill>
          <a:ln w="12700">
            <a:solidFill>
              <a:srgbClr val="F2F4F7"/>
            </a:solidFill>
            <a:prstDash val="solid"/>
          </a:ln>
        </p:spPr>
      </p:sp>
      <p:sp>
        <p:nvSpPr>
          <p:cNvPr id="14" name="Text 11"/>
          <p:cNvSpPr txBox="1"/>
          <p:nvPr/>
        </p:nvSpPr>
        <p:spPr>
          <a:xfrm>
            <a:off x="6370168" y="1645920"/>
            <a:ext cx="2316404" cy="640080"/>
          </a:xfrm>
          <a:prstGeom prst="rect">
            <a:avLst/>
          </a:prstGeom>
          <a:noFill/>
          <a:ln/>
        </p:spPr>
        <p:txBody>
          <a:bodyPr wrap="square" lIns="0" tIns="0" rIns="0" bIns="0" rtlCol="0" anchor="b"/>
          <a:lstStyle/>
          <a:p>
            <a:pPr indent="0" marL="0">
              <a:buNone/>
            </a:pPr>
            <a:r>
              <a:rPr lang="en-US" sz="3000" b="1" dirty="0">
                <a:solidFill>
                  <a:srgbClr val="14213D"/>
                </a:solidFill>
                <a:latin typeface="Calibri" pitchFamily="34" charset="0"/>
                <a:ea typeface="Calibri" pitchFamily="34" charset="-122"/>
                <a:cs typeface="Calibri" pitchFamily="34" charset="-120"/>
              </a:rPr>
              <a:t>11 / 11</a:t>
            </a:r>
            <a:endParaRPr lang="en-US" sz="3000" dirty="0"/>
          </a:p>
        </p:txBody>
      </p:sp>
      <p:sp>
        <p:nvSpPr>
          <p:cNvPr id="15" name="Text 12"/>
          <p:cNvSpPr txBox="1"/>
          <p:nvPr/>
        </p:nvSpPr>
        <p:spPr>
          <a:xfrm>
            <a:off x="6370168" y="2322576"/>
            <a:ext cx="2316404" cy="91440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browser journeys, incl. menus by keyboard, search and the phone layout</a:t>
            </a:r>
            <a:endParaRPr lang="en-US" sz="1100" dirty="0"/>
          </a:p>
        </p:txBody>
      </p:sp>
      <p:sp>
        <p:nvSpPr>
          <p:cNvPr id="16" name="Shape 13"/>
          <p:cNvSpPr/>
          <p:nvPr/>
        </p:nvSpPr>
        <p:spPr>
          <a:xfrm>
            <a:off x="9052331" y="1600200"/>
            <a:ext cx="2682164" cy="1737360"/>
          </a:xfrm>
          <a:prstGeom prst="rect">
            <a:avLst/>
          </a:prstGeom>
          <a:solidFill>
            <a:srgbClr val="F2F4F7"/>
          </a:solidFill>
          <a:ln w="12700">
            <a:solidFill>
              <a:srgbClr val="F2F4F7"/>
            </a:solidFill>
            <a:prstDash val="solid"/>
          </a:ln>
        </p:spPr>
      </p:sp>
      <p:sp>
        <p:nvSpPr>
          <p:cNvPr id="17" name="Text 14"/>
          <p:cNvSpPr txBox="1"/>
          <p:nvPr/>
        </p:nvSpPr>
        <p:spPr>
          <a:xfrm>
            <a:off x="9235211" y="1645920"/>
            <a:ext cx="2316404" cy="640080"/>
          </a:xfrm>
          <a:prstGeom prst="rect">
            <a:avLst/>
          </a:prstGeom>
          <a:noFill/>
          <a:ln/>
        </p:spPr>
        <p:txBody>
          <a:bodyPr wrap="square" lIns="0" tIns="0" rIns="0" bIns="0" rtlCol="0" anchor="b"/>
          <a:lstStyle/>
          <a:p>
            <a:pPr indent="0" marL="0">
              <a:buNone/>
            </a:pPr>
            <a:r>
              <a:rPr lang="en-US" sz="3000" b="1" dirty="0">
                <a:solidFill>
                  <a:srgbClr val="14213D"/>
                </a:solidFill>
                <a:latin typeface="Calibri" pitchFamily="34" charset="0"/>
                <a:ea typeface="Calibri" pitchFamily="34" charset="-122"/>
                <a:cs typeface="Calibri" pitchFamily="34" charset="-120"/>
              </a:rPr>
              <a:t>57 / 57</a:t>
            </a:r>
            <a:endParaRPr lang="en-US" sz="3000" dirty="0"/>
          </a:p>
        </p:txBody>
      </p:sp>
      <p:sp>
        <p:nvSpPr>
          <p:cNvPr id="18" name="Text 15"/>
          <p:cNvSpPr txBox="1"/>
          <p:nvPr/>
        </p:nvSpPr>
        <p:spPr>
          <a:xfrm>
            <a:off x="9235211" y="2322576"/>
            <a:ext cx="2316404" cy="91440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toolchain tests, 22 of them simulating Windows, plus the deployment kit</a:t>
            </a:r>
            <a:endParaRPr lang="en-US" sz="1100" dirty="0"/>
          </a:p>
        </p:txBody>
      </p:sp>
      <p:sp>
        <p:nvSpPr>
          <p:cNvPr id="19" name="Text 16"/>
          <p:cNvSpPr txBox="1"/>
          <p:nvPr/>
        </p:nvSpPr>
        <p:spPr>
          <a:xfrm>
            <a:off x="457200" y="3566160"/>
            <a:ext cx="6583680" cy="320040"/>
          </a:xfrm>
          <a:prstGeom prst="rect">
            <a:avLst/>
          </a:prstGeom>
          <a:noFill/>
          <a:ln/>
        </p:spPr>
        <p:txBody>
          <a:bodyPr wrap="square" lIns="0" tIns="0" rIns="0" bIns="0" rtlCol="0" anchor="t"/>
          <a:lstStyle/>
          <a:p>
            <a:pPr algn="l" indent="0" marL="0">
              <a:buNone/>
            </a:pPr>
            <a:r>
              <a:rPr lang="en-US" sz="1200" b="1" dirty="0">
                <a:solidFill>
                  <a:srgbClr val="14213D"/>
                </a:solidFill>
                <a:latin typeface="Calibri" pitchFamily="34" charset="0"/>
                <a:ea typeface="Calibri" pitchFamily="34" charset="-122"/>
                <a:cs typeface="Calibri" pitchFamily="34" charset="-120"/>
              </a:rPr>
              <a:t>Application test suite at each recorded measurement</a:t>
            </a:r>
            <a:endParaRPr lang="en-US" sz="1200" dirty="0"/>
          </a:p>
        </p:txBody>
      </p:sp>
      <p:graphicFrame>
        <p:nvGraphicFramePr>
          <p:cNvPr id="20" name="Chart 0" descr=""/>
          <p:cNvGraphicFramePr/>
          <p:nvPr/>
        </p:nvGraphicFramePr>
        <p:xfrm>
          <a:off x="457200" y="3840480"/>
          <a:ext cx="6675120" cy="2331720"/>
        </p:xfrm>
        <a:graphic xmlns:a="http://schemas.openxmlformats.org/drawingml/2006/main">
          <a:graphicData uri="http://schemas.openxmlformats.org/drawingml/2006/chart">
            <c:chart xmlns:c="http://schemas.openxmlformats.org/drawingml/2006/chart" r:id="rId1"/>
          </a:graphicData>
        </a:graphic>
      </p:graphicFrame>
      <p:sp>
        <p:nvSpPr>
          <p:cNvPr id="21" name="Text 17"/>
          <p:cNvSpPr txBox="1"/>
          <p:nvPr/>
        </p:nvSpPr>
        <p:spPr>
          <a:xfrm>
            <a:off x="7498080" y="3566160"/>
            <a:ext cx="4236415" cy="2606040"/>
          </a:xfrm>
          <a:prstGeom prst="rect">
            <a:avLst/>
          </a:prstGeom>
          <a:noFill/>
          <a:ln/>
        </p:spPr>
        <p:txBody>
          <a:bodyPr wrap="square" lIns="0" tIns="0" rIns="0" bIns="0" rtlCol="0" anchor="t"/>
          <a:lstStyle/>
          <a:p>
            <a:pPr algn="l" indent="0" marL="0">
              <a:spcAft>
                <a:spcPts val="400"/>
              </a:spcAft>
              <a:buNone/>
            </a:pPr>
            <a:r>
              <a:rPr lang="en-US" sz="1300" b="1" dirty="0">
                <a:solidFill>
                  <a:srgbClr val="14213D"/>
                </a:solidFill>
                <a:latin typeface="Calibri" pitchFamily="34" charset="0"/>
                <a:ea typeface="Calibri" pitchFamily="34" charset="-122"/>
                <a:cs typeface="Calibri" pitchFamily="34" charset="-120"/>
              </a:rPr>
              <a:t>Checks that fail the build</a:t>
            </a:r>
            <a:endParaRPr lang="en-US" sz="1300" dirty="0"/>
          </a:p>
          <a:p>
            <a:pPr algn="l" marL="177800" indent="-177800">
              <a:spcAft>
                <a:spcPts val="200"/>
              </a:spcAft>
              <a:buSzPct val="100000"/>
              <a:buChar char="•"/>
            </a:pPr>
            <a:r>
              <a:rPr lang="en-US" sz="1100" dirty="0">
                <a:solidFill>
                  <a:srgbClr val="2A2F36"/>
                </a:solidFill>
                <a:latin typeface="Calibri" pitchFamily="34" charset="0"/>
                <a:ea typeface="Calibri" pitchFamily="34" charset="-122"/>
                <a:cs typeface="Calibri" pitchFamily="34" charset="-120"/>
              </a:rPr>
              <a:t>Any CDN reference; any package-manager step</a:t>
            </a:r>
            <a:endParaRPr lang="en-US" sz="1300" dirty="0"/>
          </a:p>
          <a:p>
            <a:pPr algn="l" marL="177800" indent="-177800">
              <a:spcAft>
                <a:spcPts val="200"/>
              </a:spcAft>
              <a:buSzPct val="100000"/>
              <a:buChar char="•"/>
            </a:pPr>
            <a:r>
              <a:rPr lang="en-US" sz="1100" dirty="0">
                <a:solidFill>
                  <a:srgbClr val="2A2F36"/>
                </a:solidFill>
                <a:latin typeface="Calibri" pitchFamily="34" charset="0"/>
                <a:ea typeface="Calibri" pitchFamily="34" charset="-122"/>
                <a:cs typeface="Calibri" pitchFamily="34" charset="-120"/>
              </a:rPr>
              <a:t>Vendored files that do not match their checksums</a:t>
            </a:r>
            <a:endParaRPr lang="en-US" sz="1300" dirty="0"/>
          </a:p>
          <a:p>
            <a:pPr algn="l" marL="177800" indent="-177800">
              <a:spcAft>
                <a:spcPts val="200"/>
              </a:spcAft>
              <a:buSzPct val="100000"/>
              <a:buChar char="•"/>
            </a:pPr>
            <a:r>
              <a:rPr lang="en-US" sz="1100" dirty="0">
                <a:solidFill>
                  <a:srgbClr val="2A2F36"/>
                </a:solidFill>
                <a:latin typeface="Calibri" pitchFamily="34" charset="0"/>
                <a:ea typeface="Calibri" pitchFamily="34" charset="-122"/>
                <a:cs typeface="Calibri" pitchFamily="34" charset="-120"/>
              </a:rPr>
              <a:t>Any client-identifying content</a:t>
            </a:r>
            <a:endParaRPr lang="en-US" sz="1300" dirty="0"/>
          </a:p>
          <a:p>
            <a:pPr algn="l" marL="177800" indent="-177800">
              <a:spcAft>
                <a:spcPts val="800"/>
              </a:spcAft>
              <a:buSzPct val="100000"/>
              <a:buChar char="•"/>
            </a:pPr>
            <a:r>
              <a:rPr lang="en-US" sz="1100" dirty="0">
                <a:solidFill>
                  <a:srgbClr val="2A2F36"/>
                </a:solidFill>
                <a:latin typeface="Calibri" pitchFamily="34" charset="0"/>
                <a:ea typeface="Calibri" pitchFamily="34" charset="-122"/>
                <a:cs typeface="Calibri" pitchFamily="34" charset="-120"/>
              </a:rPr>
              <a:t>Any logic branching on a workflow state name</a:t>
            </a:r>
            <a:endParaRPr lang="en-US" sz="1300" dirty="0"/>
          </a:p>
          <a:p>
            <a:pPr algn="l" indent="0" marL="0">
              <a:spcAft>
                <a:spcPts val="400"/>
              </a:spcAft>
              <a:buNone/>
            </a:pPr>
            <a:r>
              <a:rPr lang="en-US" sz="1300" b="1" dirty="0">
                <a:solidFill>
                  <a:srgbClr val="14213D"/>
                </a:solidFill>
                <a:latin typeface="Calibri" pitchFamily="34" charset="0"/>
                <a:ea typeface="Calibri" pitchFamily="34" charset="-122"/>
                <a:cs typeface="Calibri" pitchFamily="34" charset="-120"/>
              </a:rPr>
              <a:t>What changed in the final wave</a:t>
            </a:r>
            <a:endParaRPr lang="en-US" sz="1300" dirty="0"/>
          </a:p>
          <a:p>
            <a:pPr algn="l" marL="177800" indent="-177800">
              <a:spcAft>
                <a:spcPts val="200"/>
              </a:spcAft>
              <a:buSzPct val="100000"/>
              <a:buChar char="•"/>
            </a:pPr>
            <a:r>
              <a:rPr lang="en-US" sz="1100" dirty="0">
                <a:solidFill>
                  <a:srgbClr val="2A2F36"/>
                </a:solidFill>
                <a:latin typeface="Calibri" pitchFamily="34" charset="0"/>
                <a:ea typeface="Calibri" pitchFamily="34" charset="-122"/>
                <a:cs typeface="Calibri" pitchFamily="34" charset="-120"/>
              </a:rPr>
              <a:t>Every portal page has a page-context test, including refusal of a reader without access</a:t>
            </a:r>
            <a:endParaRPr lang="en-US" sz="1300" dirty="0"/>
          </a:p>
          <a:p>
            <a:pPr algn="l" marL="177800" indent="-177800">
              <a:spcAft>
                <a:spcPts val="200"/>
              </a:spcAft>
              <a:buSzPct val="100000"/>
              <a:buChar char="•"/>
            </a:pPr>
            <a:r>
              <a:rPr lang="en-US" sz="1100" dirty="0">
                <a:solidFill>
                  <a:srgbClr val="2A2F36"/>
                </a:solidFill>
                <a:latin typeface="Calibri" pitchFamily="34" charset="0"/>
                <a:ea typeface="Calibri" pitchFamily="34" charset="-122"/>
                <a:cs typeface="Calibri" pitchFamily="34" charset="-120"/>
              </a:rPr>
              <a:t>Tests run on a separate clean site; the demo site holds no test rows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D  ·  EVIDENCE</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Loading a realistic organisation exposed nine defects that the passing test suite had missed. All are fixed and guarded by regression tests</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regression-test docstrings in apps/consilium/consilium/{governance,policy,escalation}/tests/test_regressions.py; docs/delivery/REQUIREMENTS-COVERAGE.md §1, P-25; delivery-team summary 18 Sep 2026 (9 defects, 21 regression tests). Selection shown; descriptions paraphrased.</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30</a:t>
            </a:r>
            <a:endParaRPr lang="en-US" sz="900" dirty="0"/>
          </a:p>
        </p:txBody>
      </p:sp>
      <p:sp>
        <p:nvSpPr>
          <p:cNvPr id="7" name="Shape 4"/>
          <p:cNvSpPr/>
          <p:nvPr/>
        </p:nvSpPr>
        <p:spPr>
          <a:xfrm>
            <a:off x="457200" y="1600200"/>
            <a:ext cx="2377440" cy="868680"/>
          </a:xfrm>
          <a:prstGeom prst="rect">
            <a:avLst/>
          </a:prstGeom>
          <a:solidFill>
            <a:srgbClr val="F2F4F7"/>
          </a:solidFill>
          <a:ln w="12700">
            <a:solidFill>
              <a:srgbClr val="F2F4F7"/>
            </a:solidFill>
            <a:prstDash val="solid"/>
          </a:ln>
        </p:spPr>
      </p:sp>
      <p:sp>
        <p:nvSpPr>
          <p:cNvPr id="8" name="Text 5"/>
          <p:cNvSpPr txBox="1"/>
          <p:nvPr/>
        </p:nvSpPr>
        <p:spPr>
          <a:xfrm>
            <a:off x="594360" y="1600200"/>
            <a:ext cx="822960" cy="868680"/>
          </a:xfrm>
          <a:prstGeom prst="rect">
            <a:avLst/>
          </a:prstGeom>
          <a:noFill/>
          <a:ln/>
        </p:spPr>
        <p:txBody>
          <a:bodyPr wrap="square" lIns="0" tIns="0" rIns="0" bIns="0" rtlCol="0" anchor="ctr"/>
          <a:lstStyle/>
          <a:p>
            <a:pPr algn="l" indent="0" marL="0">
              <a:buNone/>
            </a:pPr>
            <a:r>
              <a:rPr lang="en-US" sz="2800" b="1" dirty="0">
                <a:solidFill>
                  <a:srgbClr val="14213D"/>
                </a:solidFill>
                <a:latin typeface="Calibri" pitchFamily="34" charset="0"/>
                <a:ea typeface="Calibri" pitchFamily="34" charset="-122"/>
                <a:cs typeface="Calibri" pitchFamily="34" charset="-120"/>
              </a:rPr>
              <a:t>23</a:t>
            </a:r>
            <a:endParaRPr lang="en-US" sz="2800" dirty="0"/>
          </a:p>
        </p:txBody>
      </p:sp>
      <p:sp>
        <p:nvSpPr>
          <p:cNvPr id="9" name="Text 6"/>
          <p:cNvSpPr txBox="1"/>
          <p:nvPr/>
        </p:nvSpPr>
        <p:spPr>
          <a:xfrm>
            <a:off x="1417320" y="1600200"/>
            <a:ext cx="1325880" cy="868680"/>
          </a:xfrm>
          <a:prstGeom prst="rect">
            <a:avLst/>
          </a:prstGeom>
          <a:noFill/>
          <a:ln/>
        </p:spPr>
        <p:txBody>
          <a:bodyPr wrap="square" lIns="0" tIns="0" rIns="0" bIns="0" rtlCol="0" anchor="ctr"/>
          <a:lstStyle/>
          <a:p>
            <a:pPr algn="l" indent="0" marL="0">
              <a:buNone/>
            </a:pPr>
            <a:r>
              <a:rPr lang="en-US" sz="1100" dirty="0">
                <a:solidFill>
                  <a:srgbClr val="5B6B82"/>
                </a:solidFill>
                <a:latin typeface="Calibri" pitchFamily="34" charset="0"/>
                <a:ea typeface="Calibri" pitchFamily="34" charset="-122"/>
                <a:cs typeface="Calibri" pitchFamily="34" charset="-120"/>
              </a:rPr>
              <a:t>role-based personas</a:t>
            </a:r>
            <a:endParaRPr lang="en-US" sz="1100" dirty="0"/>
          </a:p>
        </p:txBody>
      </p:sp>
      <p:sp>
        <p:nvSpPr>
          <p:cNvPr id="10" name="Shape 7"/>
          <p:cNvSpPr/>
          <p:nvPr/>
        </p:nvSpPr>
        <p:spPr>
          <a:xfrm>
            <a:off x="457200" y="2560320"/>
            <a:ext cx="2377440" cy="868680"/>
          </a:xfrm>
          <a:prstGeom prst="rect">
            <a:avLst/>
          </a:prstGeom>
          <a:solidFill>
            <a:srgbClr val="F2F4F7"/>
          </a:solidFill>
          <a:ln w="12700">
            <a:solidFill>
              <a:srgbClr val="F2F4F7"/>
            </a:solidFill>
            <a:prstDash val="solid"/>
          </a:ln>
        </p:spPr>
      </p:sp>
      <p:sp>
        <p:nvSpPr>
          <p:cNvPr id="11" name="Text 8"/>
          <p:cNvSpPr txBox="1"/>
          <p:nvPr/>
        </p:nvSpPr>
        <p:spPr>
          <a:xfrm>
            <a:off x="594360" y="2560320"/>
            <a:ext cx="822960" cy="868680"/>
          </a:xfrm>
          <a:prstGeom prst="rect">
            <a:avLst/>
          </a:prstGeom>
          <a:noFill/>
          <a:ln/>
        </p:spPr>
        <p:txBody>
          <a:bodyPr wrap="square" lIns="0" tIns="0" rIns="0" bIns="0" rtlCol="0" anchor="ctr"/>
          <a:lstStyle/>
          <a:p>
            <a:pPr algn="l" indent="0" marL="0">
              <a:buNone/>
            </a:pPr>
            <a:r>
              <a:rPr lang="en-US" sz="2800" b="1" dirty="0">
                <a:solidFill>
                  <a:srgbClr val="14213D"/>
                </a:solidFill>
                <a:latin typeface="Calibri" pitchFamily="34" charset="0"/>
                <a:ea typeface="Calibri" pitchFamily="34" charset="-122"/>
                <a:cs typeface="Calibri" pitchFamily="34" charset="-120"/>
              </a:rPr>
              <a:t>14</a:t>
            </a:r>
            <a:endParaRPr lang="en-US" sz="2800" dirty="0"/>
          </a:p>
        </p:txBody>
      </p:sp>
      <p:sp>
        <p:nvSpPr>
          <p:cNvPr id="12" name="Text 9"/>
          <p:cNvSpPr txBox="1"/>
          <p:nvPr/>
        </p:nvSpPr>
        <p:spPr>
          <a:xfrm>
            <a:off x="1417320" y="2560320"/>
            <a:ext cx="1325880" cy="868680"/>
          </a:xfrm>
          <a:prstGeom prst="rect">
            <a:avLst/>
          </a:prstGeom>
          <a:noFill/>
          <a:ln/>
        </p:spPr>
        <p:txBody>
          <a:bodyPr wrap="square" lIns="0" tIns="0" rIns="0" bIns="0" rtlCol="0" anchor="ctr"/>
          <a:lstStyle/>
          <a:p>
            <a:pPr algn="l" indent="0" marL="0">
              <a:buNone/>
            </a:pPr>
            <a:r>
              <a:rPr lang="en-US" sz="1100" dirty="0">
                <a:solidFill>
                  <a:srgbClr val="5B6B82"/>
                </a:solidFill>
                <a:latin typeface="Calibri" pitchFamily="34" charset="0"/>
                <a:ea typeface="Calibri" pitchFamily="34" charset="-122"/>
                <a:cs typeface="Calibri" pitchFamily="34" charset="-120"/>
              </a:rPr>
              <a:t>forums, board to working group</a:t>
            </a:r>
            <a:endParaRPr lang="en-US" sz="1100" dirty="0"/>
          </a:p>
        </p:txBody>
      </p:sp>
      <p:sp>
        <p:nvSpPr>
          <p:cNvPr id="13" name="Shape 10"/>
          <p:cNvSpPr/>
          <p:nvPr/>
        </p:nvSpPr>
        <p:spPr>
          <a:xfrm>
            <a:off x="457200" y="3520440"/>
            <a:ext cx="2377440" cy="868680"/>
          </a:xfrm>
          <a:prstGeom prst="rect">
            <a:avLst/>
          </a:prstGeom>
          <a:solidFill>
            <a:srgbClr val="F2F4F7"/>
          </a:solidFill>
          <a:ln w="12700">
            <a:solidFill>
              <a:srgbClr val="F2F4F7"/>
            </a:solidFill>
            <a:prstDash val="solid"/>
          </a:ln>
        </p:spPr>
      </p:sp>
      <p:sp>
        <p:nvSpPr>
          <p:cNvPr id="14" name="Text 11"/>
          <p:cNvSpPr txBox="1"/>
          <p:nvPr/>
        </p:nvSpPr>
        <p:spPr>
          <a:xfrm>
            <a:off x="594360" y="3520440"/>
            <a:ext cx="822960" cy="868680"/>
          </a:xfrm>
          <a:prstGeom prst="rect">
            <a:avLst/>
          </a:prstGeom>
          <a:noFill/>
          <a:ln/>
        </p:spPr>
        <p:txBody>
          <a:bodyPr wrap="square" lIns="0" tIns="0" rIns="0" bIns="0" rtlCol="0" anchor="ctr"/>
          <a:lstStyle/>
          <a:p>
            <a:pPr algn="l" indent="0" marL="0">
              <a:buNone/>
            </a:pPr>
            <a:r>
              <a:rPr lang="en-US" sz="2800" b="1" dirty="0">
                <a:solidFill>
                  <a:srgbClr val="14213D"/>
                </a:solidFill>
                <a:latin typeface="Calibri" pitchFamily="34" charset="0"/>
                <a:ea typeface="Calibri" pitchFamily="34" charset="-122"/>
                <a:cs typeface="Calibri" pitchFamily="34" charset="-120"/>
              </a:rPr>
              <a:t>15</a:t>
            </a:r>
            <a:endParaRPr lang="en-US" sz="2800" dirty="0"/>
          </a:p>
        </p:txBody>
      </p:sp>
      <p:sp>
        <p:nvSpPr>
          <p:cNvPr id="15" name="Text 12"/>
          <p:cNvSpPr txBox="1"/>
          <p:nvPr/>
        </p:nvSpPr>
        <p:spPr>
          <a:xfrm>
            <a:off x="1417320" y="3520440"/>
            <a:ext cx="1325880" cy="868680"/>
          </a:xfrm>
          <a:prstGeom prst="rect">
            <a:avLst/>
          </a:prstGeom>
          <a:noFill/>
          <a:ln/>
        </p:spPr>
        <p:txBody>
          <a:bodyPr wrap="square" lIns="0" tIns="0" rIns="0" bIns="0" rtlCol="0" anchor="ctr"/>
          <a:lstStyle/>
          <a:p>
            <a:pPr algn="l" indent="0" marL="0">
              <a:buNone/>
            </a:pPr>
            <a:r>
              <a:rPr lang="en-US" sz="1100" dirty="0">
                <a:solidFill>
                  <a:srgbClr val="5B6B82"/>
                </a:solidFill>
                <a:latin typeface="Calibri" pitchFamily="34" charset="0"/>
                <a:ea typeface="Calibri" pitchFamily="34" charset="-122"/>
                <a:cs typeface="Calibri" pitchFamily="34" charset="-120"/>
              </a:rPr>
              <a:t>policies in every lifecycle phase</a:t>
            </a:r>
            <a:endParaRPr lang="en-US" sz="1100" dirty="0"/>
          </a:p>
        </p:txBody>
      </p:sp>
      <p:sp>
        <p:nvSpPr>
          <p:cNvPr id="16" name="Shape 13"/>
          <p:cNvSpPr/>
          <p:nvPr/>
        </p:nvSpPr>
        <p:spPr>
          <a:xfrm>
            <a:off x="457200" y="4480560"/>
            <a:ext cx="2377440" cy="868680"/>
          </a:xfrm>
          <a:prstGeom prst="rect">
            <a:avLst/>
          </a:prstGeom>
          <a:solidFill>
            <a:srgbClr val="F2F4F7"/>
          </a:solidFill>
          <a:ln w="12700">
            <a:solidFill>
              <a:srgbClr val="F2F4F7"/>
            </a:solidFill>
            <a:prstDash val="solid"/>
          </a:ln>
        </p:spPr>
      </p:sp>
      <p:sp>
        <p:nvSpPr>
          <p:cNvPr id="17" name="Text 14"/>
          <p:cNvSpPr txBox="1"/>
          <p:nvPr/>
        </p:nvSpPr>
        <p:spPr>
          <a:xfrm>
            <a:off x="594360" y="4480560"/>
            <a:ext cx="822960" cy="868680"/>
          </a:xfrm>
          <a:prstGeom prst="rect">
            <a:avLst/>
          </a:prstGeom>
          <a:noFill/>
          <a:ln/>
        </p:spPr>
        <p:txBody>
          <a:bodyPr wrap="square" lIns="0" tIns="0" rIns="0" bIns="0" rtlCol="0" anchor="ctr"/>
          <a:lstStyle/>
          <a:p>
            <a:pPr algn="l" indent="0" marL="0">
              <a:buNone/>
            </a:pPr>
            <a:r>
              <a:rPr lang="en-US" sz="2800" b="1" dirty="0">
                <a:solidFill>
                  <a:srgbClr val="14213D"/>
                </a:solidFill>
                <a:latin typeface="Calibri" pitchFamily="34" charset="0"/>
                <a:ea typeface="Calibri" pitchFamily="34" charset="-122"/>
                <a:cs typeface="Calibri" pitchFamily="34" charset="-120"/>
              </a:rPr>
              <a:t>15</a:t>
            </a:r>
            <a:endParaRPr lang="en-US" sz="2800" dirty="0"/>
          </a:p>
        </p:txBody>
      </p:sp>
      <p:sp>
        <p:nvSpPr>
          <p:cNvPr id="18" name="Text 15"/>
          <p:cNvSpPr txBox="1"/>
          <p:nvPr/>
        </p:nvSpPr>
        <p:spPr>
          <a:xfrm>
            <a:off x="1417320" y="4480560"/>
            <a:ext cx="1325880" cy="868680"/>
          </a:xfrm>
          <a:prstGeom prst="rect">
            <a:avLst/>
          </a:prstGeom>
          <a:noFill/>
          <a:ln/>
        </p:spPr>
        <p:txBody>
          <a:bodyPr wrap="square" lIns="0" tIns="0" rIns="0" bIns="0" rtlCol="0" anchor="ctr"/>
          <a:lstStyle/>
          <a:p>
            <a:pPr algn="l" indent="0" marL="0">
              <a:buNone/>
            </a:pPr>
            <a:r>
              <a:rPr lang="en-US" sz="1100" dirty="0">
                <a:solidFill>
                  <a:srgbClr val="5B6B82"/>
                </a:solidFill>
                <a:latin typeface="Calibri" pitchFamily="34" charset="0"/>
                <a:ea typeface="Calibri" pitchFamily="34" charset="-122"/>
                <a:cs typeface="Calibri" pitchFamily="34" charset="-120"/>
              </a:rPr>
              <a:t>escalations in every state</a:t>
            </a:r>
            <a:endParaRPr lang="en-US" sz="1100" dirty="0"/>
          </a:p>
        </p:txBody>
      </p:sp>
      <p:sp>
        <p:nvSpPr>
          <p:cNvPr id="19" name="Text 16"/>
          <p:cNvSpPr txBox="1"/>
          <p:nvPr/>
        </p:nvSpPr>
        <p:spPr>
          <a:xfrm>
            <a:off x="457200" y="5486400"/>
            <a:ext cx="2377440" cy="548640"/>
          </a:xfrm>
          <a:prstGeom prst="rect">
            <a:avLst/>
          </a:prstGeom>
          <a:noFill/>
          <a:ln/>
        </p:spPr>
        <p:txBody>
          <a:bodyPr wrap="square" lIns="0" tIns="0" rIns="0" bIns="0" rtlCol="0" anchor="t"/>
          <a:lstStyle/>
          <a:p>
            <a:pPr algn="l" indent="0" marL="0">
              <a:buNone/>
            </a:pPr>
            <a:r>
              <a:rPr lang="en-US" sz="1050" i="1" dirty="0">
                <a:solidFill>
                  <a:srgbClr val="6B7380"/>
                </a:solidFill>
                <a:latin typeface="Calibri" pitchFamily="34" charset="0"/>
                <a:ea typeface="Calibri" pitchFamily="34" charset="-122"/>
                <a:cs typeface="Calibri" pitchFamily="34" charset="-120"/>
              </a:rPr>
              <a:t>plus attestation campaigns, meetings, motions and votes</a:t>
            </a:r>
            <a:endParaRPr lang="en-US" sz="10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063240" y="1600200"/>
          <a:ext cx="8671255" cy="914400"/>
        </p:xfrm>
        <a:graphic>
          <a:graphicData uri="http://schemas.openxmlformats.org/drawingml/2006/table">
            <a:tbl>
              <a:tblPr/>
              <a:tblGrid>
                <a:gridCol w="3291840"/>
                <a:gridCol w="3429000"/>
                <a:gridCol w="1947672"/>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Defect found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What could have happened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45720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Workspace workflow menu and direct writes skipped publication gates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A policy published with no approval chain</a:t>
                      </a:r>
                      <a:pPr algn="l" indent="0" marL="0">
                        <a:buNone/>
                      </a:pPr>
                      <a:r>
                        <a:rPr lang="en-US" sz="1100" dirty="0">
                          <a:solidFill>
                            <a:srgbClr val="2A2F36"/>
                          </a:solidFill>
                          <a:latin typeface="Calibri" pitchFamily="34" charset="0"/>
                          <a:ea typeface="Calibri" pitchFamily="34" charset="-122"/>
                          <a:cs typeface="Calibri" pitchFamily="34" charset="-120"/>
                        </a:rPr>
                        <a:t> (P-25)</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8553D"/>
                          </a:solidFill>
                          <a:latin typeface="Calibri" pitchFamily="34" charset="0"/>
                          <a:ea typeface="Calibri" pitchFamily="34" charset="-122"/>
                          <a:cs typeface="Calibri" pitchFamily="34" charset="-120"/>
                        </a:rPr>
                        <a:t>Control</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Approvals matched to steps by name only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A reopened policy republished on </a:t>
                      </a:r>
                      <a:pPr algn="l" indent="0" marL="0">
                        <a:buNone/>
                      </a:pPr>
                      <a:r>
                        <a:rPr lang="en-US" sz="1100" b="1" dirty="0">
                          <a:solidFill>
                            <a:srgbClr val="2A2F36"/>
                          </a:solidFill>
                          <a:latin typeface="Calibri" pitchFamily="34" charset="0"/>
                          <a:ea typeface="Calibri" pitchFamily="34" charset="-122"/>
                          <a:cs typeface="Calibri" pitchFamily="34" charset="-120"/>
                        </a:rPr>
                        <a:t>last cycle's approvals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8553D"/>
                          </a:solidFill>
                          <a:latin typeface="Calibri" pitchFamily="34" charset="0"/>
                          <a:ea typeface="Calibri" pitchFamily="34" charset="-122"/>
                          <a:cs typeface="Calibri" pitchFamily="34" charset="-120"/>
                        </a:rPr>
                        <a:t>Control</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Role-based step took the first database row</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Approval assigned to a </a:t>
                      </a:r>
                      <a:pPr algn="l" indent="0" marL="0">
                        <a:buNone/>
                      </a:pPr>
                      <a:r>
                        <a:rPr lang="en-US" sz="1100" b="1" dirty="0">
                          <a:solidFill>
                            <a:srgbClr val="2A2F36"/>
                          </a:solidFill>
                          <a:latin typeface="Calibri" pitchFamily="34" charset="0"/>
                          <a:ea typeface="Calibri" pitchFamily="34" charset="-122"/>
                          <a:cs typeface="Calibri" pitchFamily="34" charset="-120"/>
                        </a:rPr>
                        <a:t>disabled account or the built-in administrator</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8553D"/>
                          </a:solidFill>
                          <a:latin typeface="Calibri" pitchFamily="34" charset="0"/>
                          <a:ea typeface="Calibri" pitchFamily="34" charset="-122"/>
                          <a:cs typeface="Calibri" pitchFamily="34" charset="-120"/>
                        </a:rPr>
                        <a:t>Control</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Publication gate used a query PostgreSQL refuses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No document could be marked implemented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Database divergence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Breached matter restarted its clock on save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The same matter </a:t>
                      </a:r>
                      <a:pPr algn="l" indent="0" marL="0">
                        <a:buNone/>
                      </a:pPr>
                      <a:r>
                        <a:rPr lang="en-US" sz="1100" b="1" dirty="0">
                          <a:solidFill>
                            <a:srgbClr val="2A2F36"/>
                          </a:solidFill>
                          <a:latin typeface="Calibri" pitchFamily="34" charset="0"/>
                          <a:ea typeface="Calibri" pitchFamily="34" charset="-122"/>
                          <a:cs typeface="Calibri" pitchFamily="34" charset="-120"/>
                        </a:rPr>
                        <a:t>breached again every day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Reliability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An unticked box read as 'not given'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A seat could not be made non-voting; </a:t>
                      </a:r>
                      <a:pPr algn="l" indent="0" marL="0">
                        <a:buNone/>
                      </a:pPr>
                      <a:r>
                        <a:rPr lang="en-US" sz="1100" b="1" dirty="0">
                          <a:solidFill>
                            <a:srgbClr val="2A2F36"/>
                          </a:solidFill>
                          <a:latin typeface="Calibri" pitchFamily="34" charset="0"/>
                          <a:ea typeface="Calibri" pitchFamily="34" charset="-122"/>
                          <a:cs typeface="Calibri" pitchFamily="34" charset="-120"/>
                        </a:rPr>
                        <a:t>vote entitlement wrong</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Data integrity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Nothing wrote the meeting's minutes link</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Minutes could not be kept</a:t>
                      </a:r>
                      <a:pPr algn="l" indent="0" marL="0">
                        <a:buNone/>
                      </a:pPr>
                      <a:r>
                        <a:rPr lang="en-US" sz="1100" dirty="0">
                          <a:solidFill>
                            <a:srgbClr val="2A2F36"/>
                          </a:solidFill>
                          <a:latin typeface="Calibri" pitchFamily="34" charset="0"/>
                          <a:ea typeface="Calibri" pitchFamily="34" charset="-122"/>
                          <a:cs typeface="Calibri" pitchFamily="34" charset="-120"/>
                        </a:rPr>
                        <a:t> against a meeting</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Data integrity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'Opened on' took the browser's clock</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Dates </a:t>
                      </a:r>
                      <a:pPr algn="l" indent="0" marL="0">
                        <a:buNone/>
                      </a:pPr>
                      <a:r>
                        <a:rPr lang="en-US" sz="1100" b="1" dirty="0">
                          <a:solidFill>
                            <a:srgbClr val="2A2F36"/>
                          </a:solidFill>
                          <a:latin typeface="Calibri" pitchFamily="34" charset="0"/>
                          <a:ea typeface="Calibri" pitchFamily="34" charset="-122"/>
                          <a:cs typeface="Calibri" pitchFamily="34" charset="-120"/>
                        </a:rPr>
                        <a:t>hours out</a:t>
                      </a:r>
                      <a:pPr algn="l" indent="0" marL="0">
                        <a:buNone/>
                      </a:pPr>
                      <a:r>
                        <a:rPr lang="en-US" sz="1100" dirty="0">
                          <a:solidFill>
                            <a:srgbClr val="2A2F36"/>
                          </a:solidFill>
                          <a:latin typeface="Calibri" pitchFamily="34" charset="0"/>
                          <a:ea typeface="Calibri" pitchFamily="34" charset="-122"/>
                          <a:cs typeface="Calibri" pitchFamily="34" charset="-120"/>
                        </a:rPr>
                        <a:t> for users in other time zones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Data integrity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21" name="Shape 17"/>
          <p:cNvSpPr/>
          <p:nvPr/>
        </p:nvSpPr>
        <p:spPr>
          <a:xfrm>
            <a:off x="3063240" y="5715000"/>
            <a:ext cx="8671255" cy="457200"/>
          </a:xfrm>
          <a:prstGeom prst="rect">
            <a:avLst/>
          </a:prstGeom>
          <a:solidFill>
            <a:srgbClr val="F7E3DE"/>
          </a:solidFill>
          <a:ln w="12700">
            <a:solidFill>
              <a:srgbClr val="F7E3DE"/>
            </a:solidFill>
            <a:prstDash val="solid"/>
          </a:ln>
        </p:spPr>
      </p:sp>
      <p:sp>
        <p:nvSpPr>
          <p:cNvPr id="22" name="Text 18"/>
          <p:cNvSpPr txBox="1"/>
          <p:nvPr/>
        </p:nvSpPr>
        <p:spPr>
          <a:xfrm>
            <a:off x="3200400" y="5715000"/>
            <a:ext cx="8396935" cy="457200"/>
          </a:xfrm>
          <a:prstGeom prst="rect">
            <a:avLst/>
          </a:prstGeom>
          <a:noFill/>
          <a:ln/>
        </p:spPr>
        <p:txBody>
          <a:bodyPr wrap="square" lIns="0" tIns="0" rIns="0" bIns="0" rtlCol="0" anchor="ctr"/>
          <a:lstStyle/>
          <a:p>
            <a:pPr algn="l" indent="0" marL="0">
              <a:buNone/>
            </a:pPr>
            <a:r>
              <a:rPr lang="en-US" sz="1150" b="1" dirty="0">
                <a:solidFill>
                  <a:srgbClr val="2A2F36"/>
                </a:solidFill>
                <a:latin typeface="Calibri" pitchFamily="34" charset="0"/>
                <a:ea typeface="Calibri" pitchFamily="34" charset="-122"/>
                <a:cs typeface="Calibri" pitchFamily="34" charset="-120"/>
              </a:rPr>
              <a:t>So what:</a:t>
            </a:r>
            <a:pPr algn="l" indent="0" marL="0">
              <a:buNone/>
            </a:pPr>
            <a:r>
              <a:rPr lang="en-US" sz="1150" dirty="0">
                <a:solidFill>
                  <a:srgbClr val="2A2F36"/>
                </a:solidFill>
                <a:latin typeface="Calibri" pitchFamily="34" charset="0"/>
                <a:ea typeface="Calibri" pitchFamily="34" charset="-122"/>
                <a:cs typeface="Calibri" pitchFamily="34" charset="-120"/>
              </a:rPr>
              <a:t> 'the tests pass' was true and not enough. Runs with realistic data are now part of how we verify.</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D  ·  EVIDENCE</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We tried to break the three controls leadership cares most about. All three now hold on every route</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docs/delivery/REQUIREMENTS-COVERAGE.md P-1, P-13, P-19, P-25, E-16; policy/tests/test_regressions.py (TestGatesOnEveryRoute); policy/tests/test_handling.py; escalation/tests/test_sensitivity.py.</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31</a:t>
            </a:r>
            <a:endParaRPr lang="en-US" sz="900" dirty="0"/>
          </a:p>
        </p:txBody>
      </p:sp>
      <p:sp>
        <p:nvSpPr>
          <p:cNvPr id="7" name="Shape 4"/>
          <p:cNvSpPr/>
          <p:nvPr/>
        </p:nvSpPr>
        <p:spPr>
          <a:xfrm>
            <a:off x="457200" y="1600200"/>
            <a:ext cx="3576218" cy="868680"/>
          </a:xfrm>
          <a:prstGeom prst="rect">
            <a:avLst/>
          </a:prstGeom>
          <a:solidFill>
            <a:srgbClr val="14213D"/>
          </a:solidFill>
          <a:ln w="12700">
            <a:solidFill>
              <a:srgbClr val="14213D"/>
            </a:solidFill>
            <a:prstDash val="solid"/>
          </a:ln>
        </p:spPr>
      </p:sp>
      <p:sp>
        <p:nvSpPr>
          <p:cNvPr id="8" name="Text 5"/>
          <p:cNvSpPr txBox="1"/>
          <p:nvPr/>
        </p:nvSpPr>
        <p:spPr>
          <a:xfrm>
            <a:off x="640080" y="1645920"/>
            <a:ext cx="2021738" cy="7772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Publication approval</a:t>
            </a:r>
            <a:endParaRPr lang="en-US" sz="1600" dirty="0"/>
          </a:p>
          <a:p>
            <a:pPr algn="l" indent="0" marL="0">
              <a:spcAft>
                <a:spcPts val="400"/>
              </a:spcAft>
              <a:buNone/>
            </a:pPr>
            <a:r>
              <a:rPr lang="en-US" sz="1100" dirty="0">
                <a:solidFill>
                  <a:srgbClr val="C9D3E3"/>
                </a:solidFill>
                <a:latin typeface="Calibri" pitchFamily="34" charset="0"/>
                <a:ea typeface="Calibri" pitchFamily="34" charset="-122"/>
                <a:cs typeface="Calibri" pitchFamily="34" charset="-120"/>
              </a:rPr>
              <a:t>P-25</a:t>
            </a:r>
            <a:endParaRPr lang="en-US" sz="1600" dirty="0"/>
          </a:p>
        </p:txBody>
      </p:sp>
      <p:sp>
        <p:nvSpPr>
          <p:cNvPr id="9" name="Shape 6"/>
          <p:cNvSpPr/>
          <p:nvPr/>
        </p:nvSpPr>
        <p:spPr>
          <a:xfrm>
            <a:off x="2707538" y="1828800"/>
            <a:ext cx="1143000" cy="411480"/>
          </a:xfrm>
          <a:prstGeom prst="rect">
            <a:avLst/>
          </a:prstGeom>
          <a:solidFill>
            <a:srgbClr val="2E8B57"/>
          </a:solidFill>
          <a:ln w="12700">
            <a:solidFill>
              <a:srgbClr val="FFFFFF"/>
            </a:solidFill>
            <a:prstDash val="solid"/>
          </a:ln>
        </p:spPr>
      </p:sp>
      <p:sp>
        <p:nvSpPr>
          <p:cNvPr id="10" name="Text 7"/>
          <p:cNvSpPr txBox="1"/>
          <p:nvPr/>
        </p:nvSpPr>
        <p:spPr>
          <a:xfrm>
            <a:off x="2707538" y="1828800"/>
            <a:ext cx="11430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FIXED</a:t>
            </a:r>
            <a:endParaRPr lang="en-US" sz="1100" dirty="0"/>
          </a:p>
        </p:txBody>
      </p:sp>
      <p:sp>
        <p:nvSpPr>
          <p:cNvPr id="11" name="Shape 8"/>
          <p:cNvSpPr/>
          <p:nvPr/>
        </p:nvSpPr>
        <p:spPr>
          <a:xfrm>
            <a:off x="457200" y="2468880"/>
            <a:ext cx="3576218" cy="2743200"/>
          </a:xfrm>
          <a:prstGeom prst="rect">
            <a:avLst/>
          </a:prstGeom>
          <a:solidFill>
            <a:srgbClr val="F2F4F7"/>
          </a:solidFill>
          <a:ln w="12700">
            <a:solidFill>
              <a:srgbClr val="F2F4F7"/>
            </a:solidFill>
            <a:prstDash val="solid"/>
          </a:ln>
        </p:spPr>
      </p:sp>
      <p:sp>
        <p:nvSpPr>
          <p:cNvPr id="12" name="Text 9"/>
          <p:cNvSpPr txBox="1"/>
          <p:nvPr/>
        </p:nvSpPr>
        <p:spPr>
          <a:xfrm>
            <a:off x="640080" y="2633472"/>
            <a:ext cx="3210458" cy="2514600"/>
          </a:xfrm>
          <a:prstGeom prst="rect">
            <a:avLst/>
          </a:prstGeom>
          <a:noFill/>
          <a:ln/>
        </p:spPr>
        <p:txBody>
          <a:bodyPr wrap="square" lIns="0" tIns="0" rIns="0" bIns="0" rtlCol="0" anchor="t"/>
          <a:lstStyle/>
          <a:p>
            <a:pPr algn="l" indent="0" marL="0">
              <a:spcAft>
                <a:spcPts val="1000"/>
              </a:spcAft>
              <a:buNone/>
            </a:pPr>
            <a:r>
              <a:rPr lang="en-US" sz="1250" b="1" dirty="0">
                <a:solidFill>
                  <a:srgbClr val="2A2F36"/>
                </a:solidFill>
                <a:latin typeface="Calibri" pitchFamily="34" charset="0"/>
                <a:ea typeface="Calibri" pitchFamily="34" charset="-122"/>
                <a:cs typeface="Calibri" pitchFamily="34" charset="-120"/>
              </a:rPr>
              <a:t>Found:</a:t>
            </a:r>
            <a:pPr algn="l" indent="0" marL="0">
              <a:spcAft>
                <a:spcPts val="1000"/>
              </a:spcAft>
              <a:buNone/>
            </a:pPr>
            <a:r>
              <a:rPr lang="en-US" sz="1250" dirty="0">
                <a:solidFill>
                  <a:srgbClr val="2A2F36"/>
                </a:solidFill>
                <a:latin typeface="Calibri" pitchFamily="34" charset="0"/>
                <a:ea typeface="Calibri" pitchFamily="34" charset="-122"/>
                <a:cs typeface="Calibri" pitchFamily="34" charset="-120"/>
              </a:rPr>
              <a:t> the workspace's workflow menu and direct writes skipped the gates, so a document could be published with no approval chain.</a:t>
            </a:r>
            <a:endParaRPr lang="en-US" sz="1250" dirty="0"/>
          </a:p>
          <a:p>
            <a:pPr algn="l" indent="0" marL="0">
              <a:spcAft>
                <a:spcPts val="1000"/>
              </a:spcAft>
              <a:buNone/>
            </a:pPr>
            <a:r>
              <a:rPr lang="en-US" sz="1250" b="1" dirty="0">
                <a:solidFill>
                  <a:srgbClr val="2A2F36"/>
                </a:solidFill>
                <a:latin typeface="Calibri" pitchFamily="34" charset="0"/>
                <a:ea typeface="Calibri" pitchFamily="34" charset="-122"/>
                <a:cs typeface="Calibri" pitchFamily="34" charset="-120"/>
              </a:rPr>
              <a:t>Now:</a:t>
            </a:r>
            <a:pPr algn="l" indent="0" marL="0">
              <a:spcAft>
                <a:spcPts val="1000"/>
              </a:spcAft>
              <a:buNone/>
            </a:pPr>
            <a:r>
              <a:rPr lang="en-US" sz="1250" dirty="0">
                <a:solidFill>
                  <a:srgbClr val="2A2F36"/>
                </a:solidFill>
                <a:latin typeface="Calibri" pitchFamily="34" charset="0"/>
                <a:ea typeface="Calibri" pitchFamily="34" charset="-122"/>
                <a:cs typeface="Calibri" pitchFamily="34" charset="-120"/>
              </a:rPr>
              <a:t> gates run on every phase change, whatever the route. A written exception still works.</a:t>
            </a:r>
            <a:endParaRPr lang="en-US" sz="1250" dirty="0"/>
          </a:p>
          <a:p>
            <a:pPr algn="l" indent="0" marL="0">
              <a:spcAft>
                <a:spcPts val="1000"/>
              </a:spcAft>
              <a:buNone/>
            </a:pPr>
            <a:r>
              <a:rPr lang="en-US" sz="1250" b="1" dirty="0">
                <a:solidFill>
                  <a:srgbClr val="2A2F36"/>
                </a:solidFill>
                <a:latin typeface="Calibri" pitchFamily="34" charset="0"/>
                <a:ea typeface="Calibri" pitchFamily="34" charset="-122"/>
                <a:cs typeface="Calibri" pitchFamily="34" charset="-120"/>
              </a:rPr>
              <a:t>Tested:</a:t>
            </a:r>
            <a:pPr algn="l" indent="0" marL="0">
              <a:spcAft>
                <a:spcPts val="1000"/>
              </a:spcAft>
              <a:buNone/>
            </a:pPr>
            <a:r>
              <a:rPr lang="en-US" sz="1250" dirty="0">
                <a:solidFill>
                  <a:srgbClr val="2A2F36"/>
                </a:solidFill>
                <a:latin typeface="Calibri" pitchFamily="34" charset="0"/>
                <a:ea typeface="Calibri" pitchFamily="34" charset="-122"/>
                <a:cs typeface="Calibri" pitchFamily="34" charset="-120"/>
              </a:rPr>
              <a:t> menu refused, direct write refused, proper route publishes; plus 7 refusal tests.</a:t>
            </a:r>
            <a:endParaRPr lang="en-US" sz="1250" dirty="0"/>
          </a:p>
        </p:txBody>
      </p:sp>
      <p:sp>
        <p:nvSpPr>
          <p:cNvPr id="13" name="Shape 10"/>
          <p:cNvSpPr/>
          <p:nvPr/>
        </p:nvSpPr>
        <p:spPr>
          <a:xfrm>
            <a:off x="4307738" y="1600200"/>
            <a:ext cx="3576218" cy="868680"/>
          </a:xfrm>
          <a:prstGeom prst="rect">
            <a:avLst/>
          </a:prstGeom>
          <a:solidFill>
            <a:srgbClr val="14213D"/>
          </a:solidFill>
          <a:ln w="12700">
            <a:solidFill>
              <a:srgbClr val="14213D"/>
            </a:solidFill>
            <a:prstDash val="solid"/>
          </a:ln>
        </p:spPr>
      </p:sp>
      <p:sp>
        <p:nvSpPr>
          <p:cNvPr id="14" name="Text 11"/>
          <p:cNvSpPr txBox="1"/>
          <p:nvPr/>
        </p:nvSpPr>
        <p:spPr>
          <a:xfrm>
            <a:off x="4490618" y="1645920"/>
            <a:ext cx="2021738" cy="7772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Sensitive escalations</a:t>
            </a:r>
            <a:endParaRPr lang="en-US" sz="1600" dirty="0"/>
          </a:p>
          <a:p>
            <a:pPr algn="l" indent="0" marL="0">
              <a:spcAft>
                <a:spcPts val="400"/>
              </a:spcAft>
              <a:buNone/>
            </a:pPr>
            <a:r>
              <a:rPr lang="en-US" sz="1100" dirty="0">
                <a:solidFill>
                  <a:srgbClr val="C9D3E3"/>
                </a:solidFill>
                <a:latin typeface="Calibri" pitchFamily="34" charset="0"/>
                <a:ea typeface="Calibri" pitchFamily="34" charset="-122"/>
                <a:cs typeface="Calibri" pitchFamily="34" charset="-120"/>
              </a:rPr>
              <a:t>E-16</a:t>
            </a:r>
            <a:endParaRPr lang="en-US" sz="1600" dirty="0"/>
          </a:p>
        </p:txBody>
      </p:sp>
      <p:sp>
        <p:nvSpPr>
          <p:cNvPr id="15" name="Shape 12"/>
          <p:cNvSpPr/>
          <p:nvPr/>
        </p:nvSpPr>
        <p:spPr>
          <a:xfrm>
            <a:off x="6558077" y="1828800"/>
            <a:ext cx="1143000" cy="411480"/>
          </a:xfrm>
          <a:prstGeom prst="rect">
            <a:avLst/>
          </a:prstGeom>
          <a:solidFill>
            <a:srgbClr val="2E8B57"/>
          </a:solidFill>
          <a:ln w="12700">
            <a:solidFill>
              <a:srgbClr val="FFFFFF"/>
            </a:solidFill>
            <a:prstDash val="solid"/>
          </a:ln>
        </p:spPr>
      </p:sp>
      <p:sp>
        <p:nvSpPr>
          <p:cNvPr id="16" name="Text 13"/>
          <p:cNvSpPr txBox="1"/>
          <p:nvPr/>
        </p:nvSpPr>
        <p:spPr>
          <a:xfrm>
            <a:off x="6558077" y="1828800"/>
            <a:ext cx="11430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HOLDS</a:t>
            </a:r>
            <a:endParaRPr lang="en-US" sz="1100" dirty="0"/>
          </a:p>
        </p:txBody>
      </p:sp>
      <p:sp>
        <p:nvSpPr>
          <p:cNvPr id="17" name="Shape 14"/>
          <p:cNvSpPr/>
          <p:nvPr/>
        </p:nvSpPr>
        <p:spPr>
          <a:xfrm>
            <a:off x="4307738" y="2468880"/>
            <a:ext cx="3576218" cy="2743200"/>
          </a:xfrm>
          <a:prstGeom prst="rect">
            <a:avLst/>
          </a:prstGeom>
          <a:solidFill>
            <a:srgbClr val="F2F4F7"/>
          </a:solidFill>
          <a:ln w="12700">
            <a:solidFill>
              <a:srgbClr val="F2F4F7"/>
            </a:solidFill>
            <a:prstDash val="solid"/>
          </a:ln>
        </p:spPr>
      </p:sp>
      <p:sp>
        <p:nvSpPr>
          <p:cNvPr id="18" name="Text 15"/>
          <p:cNvSpPr txBox="1"/>
          <p:nvPr/>
        </p:nvSpPr>
        <p:spPr>
          <a:xfrm>
            <a:off x="4490618" y="2633472"/>
            <a:ext cx="3210458" cy="2514600"/>
          </a:xfrm>
          <a:prstGeom prst="rect">
            <a:avLst/>
          </a:prstGeom>
          <a:noFill/>
          <a:ln/>
        </p:spPr>
        <p:txBody>
          <a:bodyPr wrap="square" lIns="0" tIns="0" rIns="0" bIns="0" rtlCol="0" anchor="t"/>
          <a:lstStyle/>
          <a:p>
            <a:pPr algn="l" indent="0" marL="0">
              <a:spcAft>
                <a:spcPts val="1000"/>
              </a:spcAft>
              <a:buNone/>
            </a:pPr>
            <a:r>
              <a:rPr lang="en-US" sz="1250" b="1" dirty="0">
                <a:solidFill>
                  <a:srgbClr val="2A2F36"/>
                </a:solidFill>
                <a:latin typeface="Calibri" pitchFamily="34" charset="0"/>
                <a:ea typeface="Calibri" pitchFamily="34" charset="-122"/>
                <a:cs typeface="Calibri" pitchFamily="34" charset="-120"/>
              </a:rPr>
              <a:t>Control:</a:t>
            </a:r>
            <a:pPr algn="l" indent="0" marL="0">
              <a:spcAft>
                <a:spcPts val="1000"/>
              </a:spcAft>
              <a:buNone/>
            </a:pPr>
            <a:r>
              <a:rPr lang="en-US" sz="1250" dirty="0">
                <a:solidFill>
                  <a:srgbClr val="2A2F36"/>
                </a:solidFill>
                <a:latin typeface="Calibri" pitchFamily="34" charset="0"/>
                <a:ea typeface="Calibri" pitchFamily="34" charset="-122"/>
                <a:cs typeface="Calibri" pitchFamily="34" charset="-120"/>
              </a:rPr>
              <a:t> permission hooks on the matter and its three child records; a dedicated access role.</a:t>
            </a:r>
            <a:endParaRPr lang="en-US" sz="1250" dirty="0"/>
          </a:p>
          <a:p>
            <a:pPr algn="l" indent="0" marL="0">
              <a:spcAft>
                <a:spcPts val="1000"/>
              </a:spcAft>
              <a:buNone/>
            </a:pPr>
            <a:r>
              <a:rPr lang="en-US" sz="1250" b="1" dirty="0">
                <a:solidFill>
                  <a:srgbClr val="2A2F36"/>
                </a:solidFill>
                <a:latin typeface="Calibri" pitchFamily="34" charset="0"/>
                <a:ea typeface="Calibri" pitchFamily="34" charset="-122"/>
                <a:cs typeface="Calibri" pitchFamily="34" charset="-120"/>
              </a:rPr>
              <a:t>Holds on:</a:t>
            </a:r>
            <a:pPr algn="l" indent="0" marL="0">
              <a:spcAft>
                <a:spcPts val="1000"/>
              </a:spcAft>
              <a:buNone/>
            </a:pPr>
            <a:r>
              <a:rPr lang="en-US" sz="1250" dirty="0">
                <a:solidFill>
                  <a:srgbClr val="2A2F36"/>
                </a:solidFill>
                <a:latin typeface="Calibri" pitchFamily="34" charset="0"/>
                <a:ea typeface="Calibri" pitchFamily="34" charset="-122"/>
                <a:cs typeface="Calibri" pitchFamily="34" charset="-120"/>
              </a:rPr>
              <a:t> lists, counts, search, reports and the API. A link reads like a record that does not exist.</a:t>
            </a:r>
            <a:endParaRPr lang="en-US" sz="1250" dirty="0"/>
          </a:p>
          <a:p>
            <a:pPr algn="l" indent="0" marL="0">
              <a:spcAft>
                <a:spcPts val="1000"/>
              </a:spcAft>
              <a:buNone/>
            </a:pPr>
            <a:r>
              <a:rPr lang="en-US" sz="1250" b="1" dirty="0">
                <a:solidFill>
                  <a:srgbClr val="2A2F36"/>
                </a:solidFill>
                <a:latin typeface="Calibri" pitchFamily="34" charset="0"/>
                <a:ea typeface="Calibri" pitchFamily="34" charset="-122"/>
                <a:cs typeface="Calibri" pitchFamily="34" charset="-120"/>
              </a:rPr>
              <a:t>Tested:</a:t>
            </a:r>
            <a:pPr algn="l" indent="0" marL="0">
              <a:spcAft>
                <a:spcPts val="1000"/>
              </a:spcAft>
              <a:buNone/>
            </a:pPr>
            <a:r>
              <a:rPr lang="en-US" sz="1250" dirty="0">
                <a:solidFill>
                  <a:srgbClr val="2A2F36"/>
                </a:solidFill>
                <a:latin typeface="Calibri" pitchFamily="34" charset="0"/>
                <a:ea typeface="Calibri" pitchFamily="34" charset="-122"/>
                <a:cs typeface="Calibri" pitchFamily="34" charset="-120"/>
              </a:rPr>
              <a:t> 12 sensitivity tests, including the API list and named people seeing their own matters.</a:t>
            </a:r>
            <a:endParaRPr lang="en-US" sz="1250" dirty="0"/>
          </a:p>
        </p:txBody>
      </p:sp>
      <p:sp>
        <p:nvSpPr>
          <p:cNvPr id="19" name="Shape 16"/>
          <p:cNvSpPr/>
          <p:nvPr/>
        </p:nvSpPr>
        <p:spPr>
          <a:xfrm>
            <a:off x="8158277" y="1600200"/>
            <a:ext cx="3576218" cy="868680"/>
          </a:xfrm>
          <a:prstGeom prst="rect">
            <a:avLst/>
          </a:prstGeom>
          <a:solidFill>
            <a:srgbClr val="14213D"/>
          </a:solidFill>
          <a:ln w="12700">
            <a:solidFill>
              <a:srgbClr val="14213D"/>
            </a:solidFill>
            <a:prstDash val="solid"/>
          </a:ln>
        </p:spPr>
      </p:sp>
      <p:sp>
        <p:nvSpPr>
          <p:cNvPr id="20" name="Text 17"/>
          <p:cNvSpPr txBox="1"/>
          <p:nvPr/>
        </p:nvSpPr>
        <p:spPr>
          <a:xfrm>
            <a:off x="8341157" y="1645920"/>
            <a:ext cx="2021738" cy="7772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Confidential documents</a:t>
            </a:r>
            <a:endParaRPr lang="en-US" sz="1600" dirty="0"/>
          </a:p>
          <a:p>
            <a:pPr algn="l" indent="0" marL="0">
              <a:spcAft>
                <a:spcPts val="400"/>
              </a:spcAft>
              <a:buNone/>
            </a:pPr>
            <a:r>
              <a:rPr lang="en-US" sz="1100" dirty="0">
                <a:solidFill>
                  <a:srgbClr val="C9D3E3"/>
                </a:solidFill>
                <a:latin typeface="Calibri" pitchFamily="34" charset="0"/>
                <a:ea typeface="Calibri" pitchFamily="34" charset="-122"/>
                <a:cs typeface="Calibri" pitchFamily="34" charset="-120"/>
              </a:rPr>
              <a:t>P-1, P-13, P-19</a:t>
            </a:r>
            <a:endParaRPr lang="en-US" sz="1600" dirty="0"/>
          </a:p>
        </p:txBody>
      </p:sp>
      <p:sp>
        <p:nvSpPr>
          <p:cNvPr id="21" name="Shape 18"/>
          <p:cNvSpPr/>
          <p:nvPr/>
        </p:nvSpPr>
        <p:spPr>
          <a:xfrm>
            <a:off x="10408615" y="1828800"/>
            <a:ext cx="1143000" cy="411480"/>
          </a:xfrm>
          <a:prstGeom prst="rect">
            <a:avLst/>
          </a:prstGeom>
          <a:solidFill>
            <a:srgbClr val="2E8B57"/>
          </a:solidFill>
          <a:ln w="12700">
            <a:solidFill>
              <a:srgbClr val="FFFFFF"/>
            </a:solidFill>
            <a:prstDash val="solid"/>
          </a:ln>
        </p:spPr>
      </p:sp>
      <p:sp>
        <p:nvSpPr>
          <p:cNvPr id="22" name="Text 19"/>
          <p:cNvSpPr txBox="1"/>
          <p:nvPr/>
        </p:nvSpPr>
        <p:spPr>
          <a:xfrm>
            <a:off x="10408615" y="1828800"/>
            <a:ext cx="11430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FIXED</a:t>
            </a:r>
            <a:endParaRPr lang="en-US" sz="1100" dirty="0"/>
          </a:p>
        </p:txBody>
      </p:sp>
      <p:sp>
        <p:nvSpPr>
          <p:cNvPr id="23" name="Shape 20"/>
          <p:cNvSpPr/>
          <p:nvPr/>
        </p:nvSpPr>
        <p:spPr>
          <a:xfrm>
            <a:off x="8158277" y="2468880"/>
            <a:ext cx="3576218" cy="2743200"/>
          </a:xfrm>
          <a:prstGeom prst="rect">
            <a:avLst/>
          </a:prstGeom>
          <a:solidFill>
            <a:srgbClr val="F2F4F7"/>
          </a:solidFill>
          <a:ln w="12700">
            <a:solidFill>
              <a:srgbClr val="F2F4F7"/>
            </a:solidFill>
            <a:prstDash val="solid"/>
          </a:ln>
        </p:spPr>
      </p:sp>
      <p:sp>
        <p:nvSpPr>
          <p:cNvPr id="24" name="Text 21"/>
          <p:cNvSpPr txBox="1"/>
          <p:nvPr/>
        </p:nvSpPr>
        <p:spPr>
          <a:xfrm>
            <a:off x="8341157" y="2633472"/>
            <a:ext cx="3210458" cy="2514600"/>
          </a:xfrm>
          <a:prstGeom prst="rect">
            <a:avLst/>
          </a:prstGeom>
          <a:noFill/>
          <a:ln/>
        </p:spPr>
        <p:txBody>
          <a:bodyPr wrap="square" lIns="0" tIns="0" rIns="0" bIns="0" rtlCol="0" anchor="t"/>
          <a:lstStyle/>
          <a:p>
            <a:pPr algn="l" indent="0" marL="0">
              <a:spcAft>
                <a:spcPts val="1000"/>
              </a:spcAft>
              <a:buNone/>
            </a:pPr>
            <a:r>
              <a:rPr lang="en-US" sz="1250" b="1" dirty="0">
                <a:solidFill>
                  <a:srgbClr val="2A2F36"/>
                </a:solidFill>
                <a:latin typeface="Calibri" pitchFamily="34" charset="0"/>
                <a:ea typeface="Calibri" pitchFamily="34" charset="-122"/>
                <a:cs typeface="Calibri" pitchFamily="34" charset="-120"/>
              </a:rPr>
              <a:t>Found (17 Sep):</a:t>
            </a:r>
            <a:pPr algn="l" indent="0" marL="0">
              <a:spcAft>
                <a:spcPts val="1000"/>
              </a:spcAft>
              <a:buNone/>
            </a:pPr>
            <a:r>
              <a:rPr lang="en-US" sz="1250" dirty="0">
                <a:solidFill>
                  <a:srgbClr val="2A2F36"/>
                </a:solidFill>
                <a:latin typeface="Calibri" pitchFamily="34" charset="0"/>
                <a:ea typeface="Calibri" pitchFamily="34" charset="-122"/>
                <a:cs typeface="Calibri" pitchFamily="34" charset="-120"/>
              </a:rPr>
              <a:t> the view, download, print and share flags were display-only, so attachments were readable by anyone with read access.</a:t>
            </a:r>
            <a:endParaRPr lang="en-US" sz="1250" dirty="0"/>
          </a:p>
          <a:p>
            <a:pPr algn="l" indent="0" marL="0">
              <a:spcAft>
                <a:spcPts val="1000"/>
              </a:spcAft>
              <a:buNone/>
            </a:pPr>
            <a:r>
              <a:rPr lang="en-US" sz="1250" b="1" dirty="0">
                <a:solidFill>
                  <a:srgbClr val="2A2F36"/>
                </a:solidFill>
                <a:latin typeface="Calibri" pitchFamily="34" charset="0"/>
                <a:ea typeface="Calibri" pitchFamily="34" charset="-122"/>
                <a:cs typeface="Calibri" pitchFamily="34" charset="-120"/>
              </a:rPr>
              <a:t>Now:</a:t>
            </a:r>
            <a:pPr algn="l" indent="0" marL="0">
              <a:spcAft>
                <a:spcPts val="1000"/>
              </a:spcAft>
              <a:buNone/>
            </a:pPr>
            <a:r>
              <a:rPr lang="en-US" sz="1250" dirty="0">
                <a:solidFill>
                  <a:srgbClr val="2A2F36"/>
                </a:solidFill>
                <a:latin typeface="Calibri" pitchFamily="34" charset="0"/>
                <a:ea typeface="Calibri" pitchFamily="34" charset="-122"/>
                <a:cs typeface="Calibri" pitchFamily="34" charset="-120"/>
              </a:rPr>
              <a:t> read, list, download, print and share refused per flag on every path, attachments and version bodies included; a view-only in-portal viewer.</a:t>
            </a:r>
            <a:endParaRPr lang="en-US" sz="1250" dirty="0"/>
          </a:p>
          <a:p>
            <a:pPr algn="l" indent="0" marL="0">
              <a:spcAft>
                <a:spcPts val="1000"/>
              </a:spcAft>
              <a:buNone/>
            </a:pPr>
            <a:r>
              <a:rPr lang="en-US" sz="1250" b="1" dirty="0">
                <a:solidFill>
                  <a:srgbClr val="2A2F36"/>
                </a:solidFill>
                <a:latin typeface="Calibri" pitchFamily="34" charset="0"/>
                <a:ea typeface="Calibri" pitchFamily="34" charset="-122"/>
                <a:cs typeface="Calibri" pitchFamily="34" charset="-120"/>
              </a:rPr>
              <a:t>Tested:</a:t>
            </a:r>
            <a:pPr algn="l" indent="0" marL="0">
              <a:spcAft>
                <a:spcPts val="1000"/>
              </a:spcAft>
              <a:buNone/>
            </a:pPr>
            <a:r>
              <a:rPr lang="en-US" sz="1250" dirty="0">
                <a:solidFill>
                  <a:srgbClr val="2A2F36"/>
                </a:solidFill>
                <a:latin typeface="Calibri" pitchFamily="34" charset="0"/>
                <a:ea typeface="Calibri" pitchFamily="34" charset="-122"/>
                <a:cs typeface="Calibri" pitchFamily="34" charset="-120"/>
              </a:rPr>
              <a:t> 32 handling tests through the API, plus the viewer page.</a:t>
            </a:r>
            <a:endParaRPr lang="en-US" sz="1250" dirty="0"/>
          </a:p>
        </p:txBody>
      </p:sp>
      <p:sp>
        <p:nvSpPr>
          <p:cNvPr id="25" name="Shape 22"/>
          <p:cNvSpPr/>
          <p:nvPr/>
        </p:nvSpPr>
        <p:spPr>
          <a:xfrm>
            <a:off x="457200" y="5394960"/>
            <a:ext cx="11277295" cy="731520"/>
          </a:xfrm>
          <a:prstGeom prst="rect">
            <a:avLst/>
          </a:prstGeom>
          <a:solidFill>
            <a:srgbClr val="F7E3DE"/>
          </a:solidFill>
          <a:ln w="12700">
            <a:solidFill>
              <a:srgbClr val="F7E3DE"/>
            </a:solidFill>
            <a:prstDash val="solid"/>
          </a:ln>
        </p:spPr>
      </p:sp>
      <p:sp>
        <p:nvSpPr>
          <p:cNvPr id="26" name="Text 23"/>
          <p:cNvSpPr txBox="1"/>
          <p:nvPr/>
        </p:nvSpPr>
        <p:spPr>
          <a:xfrm>
            <a:off x="640080" y="5394960"/>
            <a:ext cx="10911535" cy="731520"/>
          </a:xfrm>
          <a:prstGeom prst="rect">
            <a:avLst/>
          </a:prstGeom>
          <a:noFill/>
          <a:ln/>
        </p:spPr>
        <p:txBody>
          <a:bodyPr wrap="square" lIns="0" tIns="0" rIns="0" bIns="0" rtlCol="0" anchor="ctr"/>
          <a:lstStyle/>
          <a:p>
            <a:pPr algn="l" indent="0" marL="0">
              <a:buNone/>
            </a:pPr>
            <a:r>
              <a:rPr lang="en-US" sz="1250" b="1" dirty="0">
                <a:solidFill>
                  <a:srgbClr val="2A2F36"/>
                </a:solidFill>
                <a:latin typeface="Calibri" pitchFamily="34" charset="0"/>
                <a:ea typeface="Calibri" pitchFamily="34" charset="-122"/>
                <a:cs typeface="Calibri" pitchFamily="34" charset="-120"/>
              </a:rPr>
              <a:t>How we test a control:</a:t>
            </a:r>
            <a:pPr algn="l" indent="0" marL="0">
              <a:buNone/>
            </a:pPr>
            <a:r>
              <a:rPr lang="en-US" sz="1250" dirty="0">
                <a:solidFill>
                  <a:srgbClr val="2A2F36"/>
                </a:solidFill>
                <a:latin typeface="Calibri" pitchFamily="34" charset="0"/>
                <a:ea typeface="Calibri" pitchFamily="34" charset="-122"/>
                <a:cs typeface="Calibri" pitchFamily="34" charset="-120"/>
              </a:rPr>
              <a:t> by attacking every route to the action, not just the intended one: the workspace menu, a direct API write, the portal action and the file download.</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D  ·  EVIDENCE</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We tested the claim that a new approval step is configuration, not code: a Legal Review stage was added with no release</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 docs/guides/images/manifest.json and verification screenshots (captured 18 Sep 2026 on the demo site, document GDOC-00016); docs/guides/09-administration.md §9.11 and docs/OPERATIONS.md §B (worked example: adding a workflow state).</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32</a:t>
            </a:r>
            <a:endParaRPr lang="en-US" sz="900" dirty="0"/>
          </a:p>
        </p:txBody>
      </p:sp>
      <p:sp>
        <p:nvSpPr>
          <p:cNvPr id="7" name="Shape 4"/>
          <p:cNvSpPr/>
          <p:nvPr/>
        </p:nvSpPr>
        <p:spPr>
          <a:xfrm>
            <a:off x="438912" y="1627632"/>
            <a:ext cx="3643274" cy="2290763"/>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8" name="Image 0" descr="The Legal Review stage and its transitions, added as configuration">    </p:cNvPr>
          <p:cNvPicPr>
            <a:picLocks noChangeAspect="1"/>
          </p:cNvPicPr>
          <p:nvPr/>
        </p:nvPicPr>
        <p:blipFill>
          <a:blip r:embed="rId1"/>
          <a:stretch>
            <a:fillRect/>
          </a:stretch>
        </p:blipFill>
        <p:spPr>
          <a:xfrm>
            <a:off x="457200" y="1645920"/>
            <a:ext cx="3606698" cy="2254187"/>
          </a:xfrm>
          <a:prstGeom prst="rect">
            <a:avLst/>
          </a:prstGeom>
        </p:spPr>
      </p:pic>
      <p:sp>
        <p:nvSpPr>
          <p:cNvPr id="9" name="Text 5"/>
          <p:cNvSpPr txBox="1"/>
          <p:nvPr/>
        </p:nvSpPr>
        <p:spPr>
          <a:xfrm>
            <a:off x="457200" y="3991547"/>
            <a:ext cx="3606698" cy="640080"/>
          </a:xfrm>
          <a:prstGeom prst="rect">
            <a:avLst/>
          </a:prstGeom>
          <a:noFill/>
          <a:ln/>
        </p:spPr>
        <p:txBody>
          <a:bodyPr wrap="square" lIns="0" tIns="0" rIns="0" bIns="0" rtlCol="0" anchor="t"/>
          <a:lstStyle/>
          <a:p>
            <a:pPr algn="l" indent="0" marL="0">
              <a:buNone/>
            </a:pPr>
            <a:r>
              <a:rPr lang="en-US" sz="1200" b="1" dirty="0">
                <a:solidFill>
                  <a:srgbClr val="14213D"/>
                </a:solidFill>
                <a:latin typeface="Calibri" pitchFamily="34" charset="0"/>
                <a:ea typeface="Calibri" pitchFamily="34" charset="-122"/>
                <a:cs typeface="Calibri" pitchFamily="34" charset="-120"/>
              </a:rPr>
              <a:t>1  The Legal Review stage and its transitions are added to the workflow, as configuration</a:t>
            </a:r>
            <a:endParaRPr lang="en-US" sz="1200" dirty="0"/>
          </a:p>
        </p:txBody>
      </p:sp>
      <p:sp>
        <p:nvSpPr>
          <p:cNvPr id="10" name="Shape 6"/>
          <p:cNvSpPr/>
          <p:nvPr/>
        </p:nvSpPr>
        <p:spPr>
          <a:xfrm>
            <a:off x="4274210" y="1627632"/>
            <a:ext cx="3643274" cy="2290763"/>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11" name="Image 1" descr="The flag row that says what the stage means">    </p:cNvPr>
          <p:cNvPicPr>
            <a:picLocks noChangeAspect="1"/>
          </p:cNvPicPr>
          <p:nvPr/>
        </p:nvPicPr>
        <p:blipFill>
          <a:blip r:embed="rId2"/>
          <a:stretch>
            <a:fillRect/>
          </a:stretch>
        </p:blipFill>
        <p:spPr>
          <a:xfrm>
            <a:off x="4292498" y="1645920"/>
            <a:ext cx="3606698" cy="2254187"/>
          </a:xfrm>
          <a:prstGeom prst="rect">
            <a:avLst/>
          </a:prstGeom>
        </p:spPr>
      </p:pic>
      <p:sp>
        <p:nvSpPr>
          <p:cNvPr id="12" name="Text 7"/>
          <p:cNvSpPr txBox="1"/>
          <p:nvPr/>
        </p:nvSpPr>
        <p:spPr>
          <a:xfrm>
            <a:off x="4292498" y="3991547"/>
            <a:ext cx="3606698" cy="640080"/>
          </a:xfrm>
          <a:prstGeom prst="rect">
            <a:avLst/>
          </a:prstGeom>
          <a:noFill/>
          <a:ln/>
        </p:spPr>
        <p:txBody>
          <a:bodyPr wrap="square" lIns="0" tIns="0" rIns="0" bIns="0" rtlCol="0" anchor="t"/>
          <a:lstStyle/>
          <a:p>
            <a:pPr algn="l" indent="0" marL="0">
              <a:buNone/>
            </a:pPr>
            <a:r>
              <a:rPr lang="en-US" sz="1200" b="1" dirty="0">
                <a:solidFill>
                  <a:srgbClr val="14213D"/>
                </a:solidFill>
                <a:latin typeface="Calibri" pitchFamily="34" charset="0"/>
                <a:ea typeface="Calibri" pitchFamily="34" charset="-122"/>
                <a:cs typeface="Calibri" pitchFamily="34" charset="-120"/>
              </a:rPr>
              <a:t>2  One flag row says what the stage means: editable, active, requires review</a:t>
            </a:r>
            <a:endParaRPr lang="en-US" sz="1200" dirty="0"/>
          </a:p>
        </p:txBody>
      </p:sp>
      <p:sp>
        <p:nvSpPr>
          <p:cNvPr id="13" name="Shape 8"/>
          <p:cNvSpPr/>
          <p:nvPr/>
        </p:nvSpPr>
        <p:spPr>
          <a:xfrm>
            <a:off x="8109509" y="1627632"/>
            <a:ext cx="3643274" cy="2290763"/>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14" name="Image 2" descr="The document in Legal Review">    </p:cNvPr>
          <p:cNvPicPr>
            <a:picLocks noChangeAspect="1"/>
          </p:cNvPicPr>
          <p:nvPr/>
        </p:nvPicPr>
        <p:blipFill>
          <a:blip r:embed="rId3"/>
          <a:stretch>
            <a:fillRect/>
          </a:stretch>
        </p:blipFill>
        <p:spPr>
          <a:xfrm>
            <a:off x="8127797" y="1645920"/>
            <a:ext cx="3606698" cy="2254187"/>
          </a:xfrm>
          <a:prstGeom prst="rect">
            <a:avLst/>
          </a:prstGeom>
        </p:spPr>
      </p:pic>
      <p:sp>
        <p:nvSpPr>
          <p:cNvPr id="15" name="Text 9"/>
          <p:cNvSpPr txBox="1"/>
          <p:nvPr/>
        </p:nvSpPr>
        <p:spPr>
          <a:xfrm>
            <a:off x="8127797" y="3991547"/>
            <a:ext cx="3606698" cy="640080"/>
          </a:xfrm>
          <a:prstGeom prst="rect">
            <a:avLst/>
          </a:prstGeom>
          <a:noFill/>
          <a:ln/>
        </p:spPr>
        <p:txBody>
          <a:bodyPr wrap="square" lIns="0" tIns="0" rIns="0" bIns="0" rtlCol="0" anchor="t"/>
          <a:lstStyle/>
          <a:p>
            <a:pPr algn="l" indent="0" marL="0">
              <a:buNone/>
            </a:pPr>
            <a:r>
              <a:rPr lang="en-US" sz="1200" b="1" dirty="0">
                <a:solidFill>
                  <a:srgbClr val="14213D"/>
                </a:solidFill>
                <a:latin typeface="Calibri" pitchFamily="34" charset="0"/>
                <a:ea typeface="Calibri" pitchFamily="34" charset="-122"/>
                <a:cs typeface="Calibri" pitchFamily="34" charset="-120"/>
              </a:rPr>
              <a:t>3  The document moves into Legal Review; the page's actions update themselves</a:t>
            </a:r>
            <a:endParaRPr lang="en-US" sz="1200" dirty="0"/>
          </a:p>
        </p:txBody>
      </p:sp>
      <p:sp>
        <p:nvSpPr>
          <p:cNvPr id="16" name="Shape 10"/>
          <p:cNvSpPr/>
          <p:nvPr/>
        </p:nvSpPr>
        <p:spPr>
          <a:xfrm>
            <a:off x="457200" y="4846320"/>
            <a:ext cx="11277295" cy="1234440"/>
          </a:xfrm>
          <a:prstGeom prst="rect">
            <a:avLst/>
          </a:prstGeom>
          <a:solidFill>
            <a:srgbClr val="E8EDF5"/>
          </a:solidFill>
          <a:ln w="12700">
            <a:solidFill>
              <a:srgbClr val="E8EDF5"/>
            </a:solidFill>
            <a:prstDash val="solid"/>
          </a:ln>
        </p:spPr>
      </p:sp>
      <p:sp>
        <p:nvSpPr>
          <p:cNvPr id="17" name="Text 11"/>
          <p:cNvSpPr txBox="1"/>
          <p:nvPr/>
        </p:nvSpPr>
        <p:spPr>
          <a:xfrm>
            <a:off x="640080" y="4892040"/>
            <a:ext cx="10911535" cy="1143000"/>
          </a:xfrm>
          <a:prstGeom prst="rect">
            <a:avLst/>
          </a:prstGeom>
          <a:noFill/>
          <a:ln/>
        </p:spPr>
        <p:txBody>
          <a:bodyPr wrap="square" lIns="0" tIns="0" rIns="0" bIns="0" rtlCol="0" anchor="ctr"/>
          <a:lstStyle/>
          <a:p>
            <a:pPr algn="l" indent="0" marL="0">
              <a:spcAft>
                <a:spcPts val="500"/>
              </a:spcAft>
              <a:buNone/>
            </a:pPr>
            <a:r>
              <a:rPr lang="en-US" sz="1200" b="1" dirty="0">
                <a:solidFill>
                  <a:srgbClr val="2A2F36"/>
                </a:solidFill>
                <a:latin typeface="Calibri" pitchFamily="34" charset="0"/>
                <a:ea typeface="Calibri" pitchFamily="34" charset="-122"/>
                <a:cs typeface="Calibri" pitchFamily="34" charset="-120"/>
              </a:rPr>
              <a:t>What this proves:</a:t>
            </a:r>
            <a:pPr algn="l" indent="0" marL="0">
              <a:spcAft>
                <a:spcPts val="500"/>
              </a:spcAft>
              <a:buNone/>
            </a:pPr>
            <a:r>
              <a:rPr lang="en-US" sz="1200" dirty="0">
                <a:solidFill>
                  <a:srgbClr val="2A2F36"/>
                </a:solidFill>
                <a:latin typeface="Calibri" pitchFamily="34" charset="0"/>
                <a:ea typeface="Calibri" pitchFamily="34" charset="-122"/>
                <a:cs typeface="Calibri" pitchFamily="34" charset="-120"/>
              </a:rPr>
              <a:t> renaming a state or inserting an approval step is an administrator's change, made in minutes and recorded in the audit trail. It needs no release.</a:t>
            </a:r>
            <a:endParaRPr lang="en-US" sz="1200" dirty="0"/>
          </a:p>
          <a:p>
            <a:pPr algn="l" indent="0" marL="0">
              <a:spcAft>
                <a:spcPts val="400"/>
              </a:spcAft>
              <a:buNone/>
            </a:pPr>
            <a:r>
              <a:rPr lang="en-US" sz="1200" b="1" dirty="0">
                <a:solidFill>
                  <a:srgbClr val="2A2F36"/>
                </a:solidFill>
                <a:latin typeface="Calibri" pitchFamily="34" charset="0"/>
                <a:ea typeface="Calibri" pitchFamily="34" charset="-122"/>
                <a:cs typeface="Calibri" pitchFamily="34" charset="-120"/>
              </a:rPr>
              <a:t>The safety net:</a:t>
            </a:r>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 a state with no flag row is refused, not guessed, so a missing configuration shows up at once. Each refusal is written to the Governance Refusal Log.</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1417320"/>
            <a:ext cx="2011680" cy="2011680"/>
          </a:xfrm>
          <a:prstGeom prst="rect">
            <a:avLst/>
          </a:prstGeom>
          <a:noFill/>
          <a:ln/>
        </p:spPr>
        <p:txBody>
          <a:bodyPr wrap="square" lIns="0" tIns="0" rIns="0" bIns="0" rtlCol="0" anchor="t"/>
          <a:lstStyle/>
          <a:p>
            <a:pPr indent="0" marL="0">
              <a:buNone/>
            </a:pPr>
            <a:r>
              <a:rPr lang="en-US" sz="15000" b="1" dirty="0">
                <a:solidFill>
                  <a:srgbClr val="C8553D"/>
                </a:solidFill>
                <a:latin typeface="Calibri" pitchFamily="34" charset="0"/>
                <a:ea typeface="Calibri" pitchFamily="34" charset="-122"/>
                <a:cs typeface="Calibri" pitchFamily="34" charset="-120"/>
              </a:rPr>
              <a:t>E</a:t>
            </a:r>
            <a:endParaRPr lang="en-US" sz="15000" dirty="0"/>
          </a:p>
        </p:txBody>
      </p:sp>
      <p:sp>
        <p:nvSpPr>
          <p:cNvPr id="3" name="Text 1"/>
          <p:cNvSpPr txBox="1"/>
          <p:nvPr/>
        </p:nvSpPr>
        <p:spPr>
          <a:xfrm>
            <a:off x="2743200" y="1828800"/>
            <a:ext cx="8686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What is not done</a:t>
            </a:r>
            <a:endParaRPr lang="en-US" sz="3600" dirty="0"/>
          </a:p>
        </p:txBody>
      </p:sp>
      <p:sp>
        <p:nvSpPr>
          <p:cNvPr id="4" name="Text 2"/>
          <p:cNvSpPr txBox="1"/>
          <p:nvPr/>
        </p:nvSpPr>
        <p:spPr>
          <a:xfrm>
            <a:off x="2743200" y="2697480"/>
            <a:ext cx="8503920" cy="1097280"/>
          </a:xfrm>
          <a:prstGeom prst="rect">
            <a:avLst/>
          </a:prstGeom>
          <a:noFill/>
          <a:ln/>
        </p:spPr>
        <p:txBody>
          <a:bodyPr wrap="square" lIns="0" tIns="0" rIns="0" bIns="0" rtlCol="0" anchor="t"/>
          <a:lstStyle/>
          <a:p>
            <a:pPr indent="0" marL="0">
              <a:buNone/>
            </a:pPr>
            <a:r>
              <a:rPr lang="en-US" sz="1800" dirty="0">
                <a:solidFill>
                  <a:srgbClr val="C9D3E3"/>
                </a:solidFill>
                <a:latin typeface="Calibri" pitchFamily="34" charset="0"/>
                <a:ea typeface="Calibri" pitchFamily="34" charset="-122"/>
                <a:cs typeface="Calibri" pitchFamily="34" charset="-120"/>
              </a:rPr>
              <a:t>Feature gaps, the AI features, go-live conditions and the assumptions that carry most risk</a:t>
            </a:r>
            <a:endParaRPr lang="en-US" sz="1800" dirty="0"/>
          </a:p>
        </p:txBody>
      </p:sp>
      <p:sp>
        <p:nvSpPr>
          <p:cNvPr id="5" name="Text 3"/>
          <p:cNvSpPr txBox="1"/>
          <p:nvPr/>
        </p:nvSpPr>
        <p:spPr>
          <a:xfrm>
            <a:off x="457200"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A  </a:t>
            </a:r>
            <a:pPr indent="0" marL="0">
              <a:buNone/>
            </a:pPr>
            <a:r>
              <a:rPr lang="en-US" sz="1200" dirty="0">
                <a:solidFill>
                  <a:srgbClr val="8391A8"/>
                </a:solidFill>
                <a:latin typeface="Calibri" pitchFamily="34" charset="0"/>
                <a:ea typeface="Calibri" pitchFamily="34" charset="-122"/>
                <a:cs typeface="Calibri" pitchFamily="34" charset="-120"/>
              </a:rPr>
              <a:t>Why this exists</a:t>
            </a:r>
            <a:endParaRPr lang="en-US" sz="1200" dirty="0"/>
          </a:p>
        </p:txBody>
      </p:sp>
      <p:sp>
        <p:nvSpPr>
          <p:cNvPr id="6" name="Shape 4"/>
          <p:cNvSpPr/>
          <p:nvPr/>
        </p:nvSpPr>
        <p:spPr>
          <a:xfrm>
            <a:off x="457200" y="5303520"/>
            <a:ext cx="1742389" cy="36576"/>
          </a:xfrm>
          <a:prstGeom prst="rect">
            <a:avLst/>
          </a:prstGeom>
          <a:solidFill>
            <a:srgbClr val="3A4A6A"/>
          </a:solidFill>
          <a:ln w="12700">
            <a:solidFill>
              <a:srgbClr val="3A4A6A"/>
            </a:solidFill>
            <a:prstDash val="solid"/>
          </a:ln>
        </p:spPr>
      </p:sp>
      <p:sp>
        <p:nvSpPr>
          <p:cNvPr id="7" name="Text 5"/>
          <p:cNvSpPr txBox="1"/>
          <p:nvPr/>
        </p:nvSpPr>
        <p:spPr>
          <a:xfrm>
            <a:off x="2336749"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B  </a:t>
            </a:r>
            <a:pPr indent="0" marL="0">
              <a:buNone/>
            </a:pPr>
            <a:r>
              <a:rPr lang="en-US" sz="1200" dirty="0">
                <a:solidFill>
                  <a:srgbClr val="8391A8"/>
                </a:solidFill>
                <a:latin typeface="Calibri" pitchFamily="34" charset="0"/>
                <a:ea typeface="Calibri" pitchFamily="34" charset="-122"/>
                <a:cs typeface="Calibri" pitchFamily="34" charset="-120"/>
              </a:rPr>
              <a:t>What we built</a:t>
            </a:r>
            <a:endParaRPr lang="en-US" sz="1200" dirty="0"/>
          </a:p>
        </p:txBody>
      </p:sp>
      <p:sp>
        <p:nvSpPr>
          <p:cNvPr id="8" name="Shape 6"/>
          <p:cNvSpPr/>
          <p:nvPr/>
        </p:nvSpPr>
        <p:spPr>
          <a:xfrm>
            <a:off x="2336749" y="5303520"/>
            <a:ext cx="1742389" cy="36576"/>
          </a:xfrm>
          <a:prstGeom prst="rect">
            <a:avLst/>
          </a:prstGeom>
          <a:solidFill>
            <a:srgbClr val="3A4A6A"/>
          </a:solidFill>
          <a:ln w="12700">
            <a:solidFill>
              <a:srgbClr val="3A4A6A"/>
            </a:solidFill>
            <a:prstDash val="solid"/>
          </a:ln>
        </p:spPr>
      </p:sp>
      <p:sp>
        <p:nvSpPr>
          <p:cNvPr id="9" name="Text 7"/>
          <p:cNvSpPr txBox="1"/>
          <p:nvPr/>
        </p:nvSpPr>
        <p:spPr>
          <a:xfrm>
            <a:off x="4216298"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C  </a:t>
            </a:r>
            <a:pPr indent="0" marL="0">
              <a:buNone/>
            </a:pPr>
            <a:r>
              <a:rPr lang="en-US" sz="1200" dirty="0">
                <a:solidFill>
                  <a:srgbClr val="8391A8"/>
                </a:solidFill>
                <a:latin typeface="Calibri" pitchFamily="34" charset="0"/>
                <a:ea typeface="Calibri" pitchFamily="34" charset="-122"/>
                <a:cs typeface="Calibri" pitchFamily="34" charset="-120"/>
              </a:rPr>
              <a:t>How it works</a:t>
            </a:r>
            <a:endParaRPr lang="en-US" sz="1200" dirty="0"/>
          </a:p>
        </p:txBody>
      </p:sp>
      <p:sp>
        <p:nvSpPr>
          <p:cNvPr id="10" name="Shape 8"/>
          <p:cNvSpPr/>
          <p:nvPr/>
        </p:nvSpPr>
        <p:spPr>
          <a:xfrm>
            <a:off x="4216298" y="5303520"/>
            <a:ext cx="1742389" cy="36576"/>
          </a:xfrm>
          <a:prstGeom prst="rect">
            <a:avLst/>
          </a:prstGeom>
          <a:solidFill>
            <a:srgbClr val="3A4A6A"/>
          </a:solidFill>
          <a:ln w="12700">
            <a:solidFill>
              <a:srgbClr val="3A4A6A"/>
            </a:solidFill>
            <a:prstDash val="solid"/>
          </a:ln>
        </p:spPr>
      </p:sp>
      <p:sp>
        <p:nvSpPr>
          <p:cNvPr id="11" name="Text 9"/>
          <p:cNvSpPr txBox="1"/>
          <p:nvPr/>
        </p:nvSpPr>
        <p:spPr>
          <a:xfrm>
            <a:off x="6095848"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D  </a:t>
            </a:r>
            <a:pPr indent="0" marL="0">
              <a:buNone/>
            </a:pPr>
            <a:r>
              <a:rPr lang="en-US" sz="1200" dirty="0">
                <a:solidFill>
                  <a:srgbClr val="8391A8"/>
                </a:solidFill>
                <a:latin typeface="Calibri" pitchFamily="34" charset="0"/>
                <a:ea typeface="Calibri" pitchFamily="34" charset="-122"/>
                <a:cs typeface="Calibri" pitchFamily="34" charset="-120"/>
              </a:rPr>
              <a:t>Evidence</a:t>
            </a:r>
            <a:endParaRPr lang="en-US" sz="1200" dirty="0"/>
          </a:p>
        </p:txBody>
      </p:sp>
      <p:sp>
        <p:nvSpPr>
          <p:cNvPr id="12" name="Shape 10"/>
          <p:cNvSpPr/>
          <p:nvPr/>
        </p:nvSpPr>
        <p:spPr>
          <a:xfrm>
            <a:off x="6095848" y="5303520"/>
            <a:ext cx="1742389" cy="36576"/>
          </a:xfrm>
          <a:prstGeom prst="rect">
            <a:avLst/>
          </a:prstGeom>
          <a:solidFill>
            <a:srgbClr val="3A4A6A"/>
          </a:solidFill>
          <a:ln w="12700">
            <a:solidFill>
              <a:srgbClr val="3A4A6A"/>
            </a:solidFill>
            <a:prstDash val="solid"/>
          </a:ln>
        </p:spPr>
      </p:sp>
      <p:sp>
        <p:nvSpPr>
          <p:cNvPr id="13" name="Text 11"/>
          <p:cNvSpPr txBox="1"/>
          <p:nvPr/>
        </p:nvSpPr>
        <p:spPr>
          <a:xfrm>
            <a:off x="7975397" y="5394960"/>
            <a:ext cx="1788109"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E  </a:t>
            </a:r>
            <a:pPr indent="0" marL="0">
              <a:buNone/>
            </a:pPr>
            <a:r>
              <a:rPr lang="en-US" sz="1200" b="1" dirty="0">
                <a:solidFill>
                  <a:srgbClr val="FFFFFF"/>
                </a:solidFill>
                <a:latin typeface="Calibri" pitchFamily="34" charset="0"/>
                <a:ea typeface="Calibri" pitchFamily="34" charset="-122"/>
                <a:cs typeface="Calibri" pitchFamily="34" charset="-120"/>
              </a:rPr>
              <a:t>What is not done</a:t>
            </a:r>
            <a:endParaRPr lang="en-US" sz="1200" dirty="0"/>
          </a:p>
        </p:txBody>
      </p:sp>
      <p:sp>
        <p:nvSpPr>
          <p:cNvPr id="14" name="Shape 12"/>
          <p:cNvSpPr/>
          <p:nvPr/>
        </p:nvSpPr>
        <p:spPr>
          <a:xfrm>
            <a:off x="7975397" y="5303520"/>
            <a:ext cx="1742389" cy="36576"/>
          </a:xfrm>
          <a:prstGeom prst="rect">
            <a:avLst/>
          </a:prstGeom>
          <a:solidFill>
            <a:srgbClr val="C8553D"/>
          </a:solidFill>
          <a:ln w="12700">
            <a:solidFill>
              <a:srgbClr val="C8553D"/>
            </a:solidFill>
            <a:prstDash val="solid"/>
          </a:ln>
        </p:spPr>
      </p:sp>
      <p:sp>
        <p:nvSpPr>
          <p:cNvPr id="15" name="Text 13"/>
          <p:cNvSpPr txBox="1"/>
          <p:nvPr/>
        </p:nvSpPr>
        <p:spPr>
          <a:xfrm>
            <a:off x="9854946"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F  </a:t>
            </a:r>
            <a:pPr indent="0" marL="0">
              <a:buNone/>
            </a:pPr>
            <a:r>
              <a:rPr lang="en-US" sz="1200" dirty="0">
                <a:solidFill>
                  <a:srgbClr val="8391A8"/>
                </a:solidFill>
                <a:latin typeface="Calibri" pitchFamily="34" charset="0"/>
                <a:ea typeface="Calibri" pitchFamily="34" charset="-122"/>
                <a:cs typeface="Calibri" pitchFamily="34" charset="-120"/>
              </a:rPr>
              <a:t>Road to production</a:t>
            </a:r>
            <a:endParaRPr lang="en-US" sz="1200" dirty="0"/>
          </a:p>
        </p:txBody>
      </p:sp>
      <p:sp>
        <p:nvSpPr>
          <p:cNvPr id="16" name="Shape 14"/>
          <p:cNvSpPr/>
          <p:nvPr/>
        </p:nvSpPr>
        <p:spPr>
          <a:xfrm>
            <a:off x="9854946" y="5303520"/>
            <a:ext cx="1742389" cy="36576"/>
          </a:xfrm>
          <a:prstGeom prst="rect">
            <a:avLst/>
          </a:prstGeom>
          <a:solidFill>
            <a:srgbClr val="3A4A6A"/>
          </a:solidFill>
          <a:ln w="12700">
            <a:solidFill>
              <a:srgbClr val="3A4A6A"/>
            </a:solidFill>
            <a:prstDash val="solid"/>
          </a:ln>
        </p:spPr>
      </p:sp>
      <p:sp>
        <p:nvSpPr>
          <p:cNvPr id="17" name="Text 15"/>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C9D3E3"/>
                </a:solidFill>
                <a:latin typeface="Calibri" pitchFamily="34" charset="0"/>
                <a:ea typeface="Calibri" pitchFamily="34" charset="-122"/>
                <a:cs typeface="Calibri" pitchFamily="34" charset="-120"/>
              </a:rPr>
              <a:t>Consilium  |  </a:t>
            </a:r>
            <a:pPr algn="r" indent="0" marL="0">
              <a:buNone/>
            </a:pPr>
            <a:r>
              <a:rPr lang="en-US" sz="900" b="1" dirty="0">
                <a:solidFill>
                  <a:srgbClr val="FFFFFF"/>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E  ·  WHAT IS NOT DONE</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Of 191 backlog stories, 151 are done and none is in progress. Most of what remains is missing tests or work that needs the target environment</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 docs/delivery/EPICS.md 'Status at a glance' (final measurement, 18 Sep 2026, against release 1.0.0, the demo site and the 1453-test run). Done = reachable by a user and covered by a passing test.</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34</a:t>
            </a:r>
            <a:endParaRPr lang="en-US" sz="900" dirty="0"/>
          </a:p>
        </p:txBody>
      </p:sp>
      <p:graphicFrame>
        <p:nvGraphicFramePr>
          <p:cNvPr id="7" name="Chart 0" descr=""/>
          <p:cNvGraphicFramePr/>
          <p:nvPr/>
        </p:nvGraphicFramePr>
        <p:xfrm>
          <a:off x="457200" y="1600200"/>
          <a:ext cx="7589520" cy="452628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8366760" y="1554480"/>
            <a:ext cx="3367735" cy="640080"/>
          </a:xfrm>
          <a:prstGeom prst="rect">
            <a:avLst/>
          </a:prstGeom>
          <a:noFill/>
          <a:ln/>
        </p:spPr>
        <p:txBody>
          <a:bodyPr wrap="square" lIns="0" tIns="0" rIns="0" bIns="0" rtlCol="0" anchor="b"/>
          <a:lstStyle/>
          <a:p>
            <a:pPr indent="0" marL="0">
              <a:buNone/>
            </a:pPr>
            <a:r>
              <a:rPr lang="en-US" sz="3000" b="1" dirty="0">
                <a:solidFill>
                  <a:srgbClr val="14213D"/>
                </a:solidFill>
                <a:latin typeface="Calibri" pitchFamily="34" charset="0"/>
                <a:ea typeface="Calibri" pitchFamily="34" charset="-122"/>
                <a:cs typeface="Calibri" pitchFamily="34" charset="-120"/>
              </a:rPr>
              <a:t>151 of 191</a:t>
            </a:r>
            <a:endParaRPr lang="en-US" sz="3000" dirty="0"/>
          </a:p>
        </p:txBody>
      </p:sp>
      <p:sp>
        <p:nvSpPr>
          <p:cNvPr id="9" name="Text 5"/>
          <p:cNvSpPr txBox="1"/>
          <p:nvPr/>
        </p:nvSpPr>
        <p:spPr>
          <a:xfrm>
            <a:off x="8366760" y="2231136"/>
            <a:ext cx="3367735" cy="54864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stories done: a user can reach it and a passing test covers it</a:t>
            </a:r>
            <a:endParaRPr lang="en-US" sz="1100" dirty="0"/>
          </a:p>
        </p:txBody>
      </p:sp>
      <p:sp>
        <p:nvSpPr>
          <p:cNvPr id="10" name="Text 6"/>
          <p:cNvSpPr txBox="1"/>
          <p:nvPr/>
        </p:nvSpPr>
        <p:spPr>
          <a:xfrm>
            <a:off x="8366760" y="2788920"/>
            <a:ext cx="3367735" cy="640080"/>
          </a:xfrm>
          <a:prstGeom prst="rect">
            <a:avLst/>
          </a:prstGeom>
          <a:noFill/>
          <a:ln/>
        </p:spPr>
        <p:txBody>
          <a:bodyPr wrap="square" lIns="0" tIns="0" rIns="0" bIns="0" rtlCol="0" anchor="b"/>
          <a:lstStyle/>
          <a:p>
            <a:pPr indent="0" marL="0">
              <a:buNone/>
            </a:pPr>
            <a:r>
              <a:rPr lang="en-US" sz="3000" b="1" dirty="0">
                <a:solidFill>
                  <a:srgbClr val="14213D"/>
                </a:solidFill>
                <a:latin typeface="Calibri" pitchFamily="34" charset="0"/>
                <a:ea typeface="Calibri" pitchFamily="34" charset="-122"/>
                <a:cs typeface="Calibri" pitchFamily="34" charset="-120"/>
              </a:rPr>
              <a:t>39</a:t>
            </a:r>
            <a:endParaRPr lang="en-US" sz="3000" dirty="0"/>
          </a:p>
        </p:txBody>
      </p:sp>
      <p:sp>
        <p:nvSpPr>
          <p:cNvPr id="11" name="Text 7"/>
          <p:cNvSpPr txBox="1"/>
          <p:nvPr/>
        </p:nvSpPr>
        <p:spPr>
          <a:xfrm>
            <a:off x="8366760" y="3465576"/>
            <a:ext cx="3367735" cy="54864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partial: mostly missing tests, or rehearsal that needs the target</a:t>
            </a:r>
            <a:endParaRPr lang="en-US" sz="1100" dirty="0"/>
          </a:p>
        </p:txBody>
      </p:sp>
      <p:sp>
        <p:nvSpPr>
          <p:cNvPr id="12" name="Text 8"/>
          <p:cNvSpPr txBox="1"/>
          <p:nvPr/>
        </p:nvSpPr>
        <p:spPr>
          <a:xfrm>
            <a:off x="8366760" y="4023360"/>
            <a:ext cx="3367735" cy="640080"/>
          </a:xfrm>
          <a:prstGeom prst="rect">
            <a:avLst/>
          </a:prstGeom>
          <a:noFill/>
          <a:ln/>
        </p:spPr>
        <p:txBody>
          <a:bodyPr wrap="square" lIns="0" tIns="0" rIns="0" bIns="0" rtlCol="0" anchor="b"/>
          <a:lstStyle/>
          <a:p>
            <a:pPr indent="0" marL="0">
              <a:buNone/>
            </a:pPr>
            <a:r>
              <a:rPr lang="en-US" sz="3000" b="1" dirty="0">
                <a:solidFill>
                  <a:srgbClr val="14213D"/>
                </a:solidFill>
                <a:latin typeface="Calibri" pitchFamily="34" charset="0"/>
                <a:ea typeface="Calibri" pitchFamily="34" charset="-122"/>
                <a:cs typeface="Calibri" pitchFamily="34" charset="-120"/>
              </a:rPr>
              <a:t>100 of 127</a:t>
            </a:r>
            <a:endParaRPr lang="en-US" sz="3000" dirty="0"/>
          </a:p>
        </p:txBody>
      </p:sp>
      <p:sp>
        <p:nvSpPr>
          <p:cNvPr id="13" name="Text 9"/>
          <p:cNvSpPr txBox="1"/>
          <p:nvPr/>
        </p:nvSpPr>
        <p:spPr>
          <a:xfrm>
            <a:off x="8366760" y="4700016"/>
            <a:ext cx="3367735" cy="54864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of the original backlog done; 64 stories were added after it</a:t>
            </a:r>
            <a:endParaRPr lang="en-US" sz="1100" dirty="0"/>
          </a:p>
        </p:txBody>
      </p:sp>
      <p:sp>
        <p:nvSpPr>
          <p:cNvPr id="14" name="Text 10"/>
          <p:cNvSpPr txBox="1"/>
          <p:nvPr/>
        </p:nvSpPr>
        <p:spPr>
          <a:xfrm>
            <a:off x="8366760" y="5303520"/>
            <a:ext cx="3367735" cy="822960"/>
          </a:xfrm>
          <a:prstGeom prst="rect">
            <a:avLst/>
          </a:prstGeom>
          <a:noFill/>
          <a:ln/>
        </p:spPr>
        <p:txBody>
          <a:bodyPr wrap="square" lIns="0" tIns="0" rIns="0" bIns="0" rtlCol="0" anchor="t"/>
          <a:lstStyle/>
          <a:p>
            <a:pPr algn="l" indent="0" marL="0">
              <a:buNone/>
            </a:pPr>
            <a:r>
              <a:rPr lang="en-US" sz="1100" b="1" i="1" dirty="0">
                <a:solidFill>
                  <a:srgbClr val="C8553D"/>
                </a:solidFill>
                <a:latin typeface="Calibri" pitchFamily="34" charset="0"/>
                <a:ea typeface="Calibri" pitchFamily="34" charset="-122"/>
                <a:cs typeface="Calibri" pitchFamily="34" charset="-120"/>
              </a:rPr>
              <a:t>Deployment-readiness stories were rehearsed on a stand-in server. They close only on the target environment (decision 2).</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E  ·  WHAT IS NOT DONE</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All seven workstreams and the third wave are complete. Six mandatory requirements still miss one clause each, and none is a design problem</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docs/delivery/REQUIREMENTS-COVERAGE.md §2 (what moved), §4 (remaining gaps), final measurement 18 Sep 2026; docs/delivery/EPICS.md (E27–E33).</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35</a:t>
            </a:r>
            <a:endParaRPr lang="en-US"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7295" cy="914400"/>
        </p:xfrm>
        <a:graphic>
          <a:graphicData uri="http://schemas.openxmlformats.org/drawingml/2006/table">
            <a:tbl>
              <a:tblPr/>
              <a:tblGrid>
                <a:gridCol w="2103120"/>
                <a:gridCol w="4160520"/>
                <a:gridCol w="2926080"/>
                <a:gridCol w="2084832"/>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Workstream</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What it closed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Requirements (class at 17 Sep)</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Status now</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475488">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1 · Handling and viewer</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Confidential and restricted handling; in-portal document viewer; naming conventions; glossary enforcement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P-1, P-13, P-19, P-15, P-24 (d)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Done</a:t>
                      </a:r>
                      <a:pPr algn="l" indent="0" marL="0">
                        <a:buNone/>
                      </a:pPr>
                      <a:r>
                        <a:rPr lang="en-US" sz="1100" dirty="0">
                          <a:solidFill>
                            <a:srgbClr val="2A2F36"/>
                          </a:solidFill>
                          <a:latin typeface="Calibri" pitchFamily="34" charset="0"/>
                          <a:ea typeface="Calibri" pitchFamily="34" charset="-122"/>
                          <a:cs typeface="Calibri" pitchFamily="34" charset="-120"/>
                        </a:rPr>
                        <a:t> · all a or b</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75488">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2 · Policy actions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Lifecycle buttons, approval steps, version upload and revert, publication, reviews, scans, intake classification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P-8, P-9, P-16, P-21, P-25, P-26 (c)</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Done</a:t>
                      </a:r>
                      <a:pPr algn="l" indent="0" marL="0">
                        <a:buNone/>
                      </a:pPr>
                      <a:r>
                        <a:rPr lang="en-US" sz="1100" dirty="0">
                          <a:solidFill>
                            <a:srgbClr val="2A2F36"/>
                          </a:solidFill>
                          <a:latin typeface="Calibri" pitchFamily="34" charset="0"/>
                          <a:ea typeface="Calibri" pitchFamily="34" charset="-122"/>
                          <a:cs typeface="Calibri" pitchFamily="34" charset="-120"/>
                        </a:rPr>
                        <a:t> · P-8 now d (reminders)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3 · Escalation actions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Portal write actions; forum-participant notification; revert for forums and escalations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E-5, E-8 (c); E-7, E-12, G-9 (d)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Done</a:t>
                      </a:r>
                      <a:pPr algn="l" indent="0" marL="0">
                        <a:buNone/>
                      </a:pPr>
                      <a:r>
                        <a:rPr lang="en-US" sz="1100" dirty="0">
                          <a:solidFill>
                            <a:srgbClr val="2A2F36"/>
                          </a:solidFill>
                          <a:latin typeface="Calibri" pitchFamily="34" charset="0"/>
                          <a:ea typeface="Calibri" pitchFamily="34" charset="-122"/>
                          <a:cs typeface="Calibri" pitchFamily="34" charset="-120"/>
                        </a:rPr>
                        <a:t> · E-8 now d (transitions)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4 · Queues and imports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Task and attestation inbox; campaign administration; import batch review; coverage-gap view</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G-10, P-23, G-19, P-20, E-19 (c); O-3 (d)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Done</a:t>
                      </a:r>
                      <a:pPr algn="l" indent="0" marL="0">
                        <a:buNone/>
                      </a:pPr>
                      <a:r>
                        <a:rPr lang="en-US" sz="1100" dirty="0">
                          <a:solidFill>
                            <a:srgbClr val="2A2F36"/>
                          </a:solidFill>
                          <a:latin typeface="Calibri" pitchFamily="34" charset="0"/>
                          <a:ea typeface="Calibri" pitchFamily="34" charset="-122"/>
                          <a:cs typeface="Calibri" pitchFamily="34" charset="-120"/>
                        </a:rPr>
                        <a:t> · export still c</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75488">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5 · Notifications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Email, admin-editable templates, reminders, service-level warnings and time in state, regulatory fan-out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G-14, P-14, E-17, O-4, P-6, P-7, P-10, P-11, E-9, E-11, E-13 (d)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Done</a:t>
                      </a:r>
                      <a:pPr algn="l" indent="0" marL="0">
                        <a:buNone/>
                      </a:pPr>
                      <a:r>
                        <a:rPr lang="en-US" sz="1100" dirty="0">
                          <a:solidFill>
                            <a:srgbClr val="2A2F36"/>
                          </a:solidFill>
                          <a:latin typeface="Calibri" pitchFamily="34" charset="0"/>
                          <a:ea typeface="Calibri" pitchFamily="34" charset="-122"/>
                          <a:cs typeface="Calibri" pitchFamily="34" charset="-120"/>
                        </a:rPr>
                        <a:t> · G-14 meeting notices open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6 · Help assistant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Context-aware help, offline by default, optional AI endpoint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O-1 (a); usability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Done</a:t>
                      </a:r>
                      <a:pPr algn="l" indent="0" marL="0">
                        <a:buNone/>
                      </a:pPr>
                      <a:r>
                        <a:rPr lang="en-US" sz="1100" dirty="0">
                          <a:solidFill>
                            <a:srgbClr val="2A2F36"/>
                          </a:solidFill>
                          <a:latin typeface="Calibri" pitchFamily="34" charset="0"/>
                          <a:ea typeface="Calibri" pitchFamily="34" charset="-122"/>
                          <a:cs typeface="Calibri" pitchFamily="34" charset="-120"/>
                        </a:rPr>
                        <a:t> · offline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7 · AI features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O-6 and O-7 on the optional, administrator-configured endpoint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O-6, O-7 (d)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Done</a:t>
                      </a:r>
                      <a:pPr algn="l" indent="0" marL="0">
                        <a:buNone/>
                      </a:pPr>
                      <a:r>
                        <a:rPr lang="en-US" sz="1100" dirty="0">
                          <a:solidFill>
                            <a:srgbClr val="2A2F36"/>
                          </a:solidFill>
                          <a:latin typeface="Calibri" pitchFamily="34" charset="0"/>
                          <a:ea typeface="Calibri" pitchFamily="34" charset="-122"/>
                          <a:cs typeface="Calibri" pitchFamily="34" charset="-120"/>
                        </a:rPr>
                        <a:t> · rule-based; AI off by default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8" name="Shape 4"/>
          <p:cNvSpPr/>
          <p:nvPr/>
        </p:nvSpPr>
        <p:spPr>
          <a:xfrm>
            <a:off x="457200" y="5257800"/>
            <a:ext cx="11277295" cy="868680"/>
          </a:xfrm>
          <a:prstGeom prst="rect">
            <a:avLst/>
          </a:prstGeom>
          <a:solidFill>
            <a:srgbClr val="E8EDF5"/>
          </a:solidFill>
          <a:ln w="12700">
            <a:solidFill>
              <a:srgbClr val="E8EDF5"/>
            </a:solidFill>
            <a:prstDash val="solid"/>
          </a:ln>
        </p:spPr>
      </p:sp>
      <p:sp>
        <p:nvSpPr>
          <p:cNvPr id="9" name="Text 5"/>
          <p:cNvSpPr txBox="1"/>
          <p:nvPr/>
        </p:nvSpPr>
        <p:spPr>
          <a:xfrm>
            <a:off x="640080" y="5285232"/>
            <a:ext cx="10911535" cy="822960"/>
          </a:xfrm>
          <a:prstGeom prst="rect">
            <a:avLst/>
          </a:prstGeom>
          <a:noFill/>
          <a:ln/>
        </p:spPr>
        <p:txBody>
          <a:bodyPr wrap="square" lIns="0" tIns="0" rIns="0" bIns="0" rtlCol="0" anchor="t"/>
          <a:lstStyle/>
          <a:p>
            <a:pPr algn="l" indent="0" marL="0">
              <a:spcAft>
                <a:spcPts val="300"/>
              </a:spcAft>
              <a:buNone/>
            </a:pPr>
            <a:r>
              <a:rPr lang="en-US" sz="950" b="1" dirty="0">
                <a:solidFill>
                  <a:srgbClr val="6B7380"/>
                </a:solidFill>
                <a:latin typeface="Calibri" pitchFamily="34" charset="0"/>
                <a:ea typeface="Calibri" pitchFamily="34" charset="-122"/>
                <a:cs typeface="Calibri" pitchFamily="34" charset="-120"/>
              </a:rPr>
              <a:t>STILL OPEN: ONE CLAUSE EACH (CLASS D)</a:t>
            </a:r>
            <a:endParaRPr lang="en-US" sz="950" dirty="0"/>
          </a:p>
          <a:p>
            <a:pPr algn="l" indent="0" marL="0">
              <a:spcAft>
                <a:spcPts val="400"/>
              </a:spcAft>
              <a:buNone/>
            </a:pPr>
            <a:r>
              <a:rPr lang="en-US" sz="1050" dirty="0">
                <a:solidFill>
                  <a:srgbClr val="2A2F36"/>
                </a:solidFill>
                <a:latin typeface="Calibri" pitchFamily="34" charset="0"/>
                <a:ea typeface="Calibri" pitchFamily="34" charset="-122"/>
                <a:cs typeface="Calibri" pitchFamily="34" charset="-120"/>
              </a:rPr>
              <a:t>Formation route by forum type or materiality (G-8) · Q1 rule for the annual inventory attestation (G-10) · meeting and charter-review notices (G-14) · approval-step reminders and group routing (P-8) · escalation transitions by type and severity (E-8) · risk-acceptance approval chain (E-9)</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E  ·  WHAT IS NOT DONE</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AI is connected and tested with an OpenAI-compatible provider: a Help assistant on every page answers with citations, and every analysis still works with AI off</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docs/delivery/REQUIREMENTS-COVERAGE.md O-1, O-6, O-7; docs/delivery/EPICS.md E22, E31-S4, E36-S2; consilium_core/ai/ (client, guard), consilium_core/assistant/; AI Service Request log on the demo site (20 requests, all succeeded, all at Internal classification); consilium_core/tests/test_ai_features.py (37), test_assistant.py (36), test_integrations.py (31).</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36</a:t>
            </a:r>
            <a:endParaRPr lang="en-US" sz="900" dirty="0"/>
          </a:p>
        </p:txBody>
      </p:sp>
      <p:sp>
        <p:nvSpPr>
          <p:cNvPr id="7" name="Shape 4"/>
          <p:cNvSpPr/>
          <p:nvPr/>
        </p:nvSpPr>
        <p:spPr>
          <a:xfrm>
            <a:off x="775640" y="1581912"/>
            <a:ext cx="4864608" cy="3054096"/>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8" name="Image 0" descr="The Help assistant answering with its sources">    </p:cNvPr>
          <p:cNvPicPr>
            <a:picLocks noChangeAspect="1"/>
          </p:cNvPicPr>
          <p:nvPr/>
        </p:nvPicPr>
        <p:blipFill>
          <a:blip r:embed="rId1"/>
          <a:stretch>
            <a:fillRect/>
          </a:stretch>
        </p:blipFill>
        <p:spPr>
          <a:xfrm>
            <a:off x="793928" y="1600200"/>
            <a:ext cx="4828032" cy="3017520"/>
          </a:xfrm>
          <a:prstGeom prst="rect">
            <a:avLst/>
          </a:prstGeom>
        </p:spPr>
      </p:pic>
      <p:sp>
        <p:nvSpPr>
          <p:cNvPr id="9" name="Text 5"/>
          <p:cNvSpPr txBox="1"/>
          <p:nvPr/>
        </p:nvSpPr>
        <p:spPr>
          <a:xfrm>
            <a:off x="457200" y="4672584"/>
            <a:ext cx="5501488" cy="228600"/>
          </a:xfrm>
          <a:prstGeom prst="rect">
            <a:avLst/>
          </a:prstGeom>
          <a:noFill/>
          <a:ln/>
        </p:spPr>
        <p:txBody>
          <a:bodyPr wrap="square" lIns="0" tIns="0" rIns="0" bIns="0" rtlCol="0" anchor="t"/>
          <a:lstStyle/>
          <a:p>
            <a:pPr algn="l" indent="0" marL="0">
              <a:buNone/>
            </a:pPr>
            <a:r>
              <a:rPr lang="en-US" sz="900" i="1" dirty="0">
                <a:solidFill>
                  <a:srgbClr val="6B7380"/>
                </a:solidFill>
                <a:latin typeface="Calibri" pitchFamily="34" charset="0"/>
                <a:ea typeface="Calibri" pitchFamily="34" charset="-122"/>
                <a:cs typeface="Calibri" pitchFamily="34" charset="-120"/>
              </a:rPr>
              <a:t>The Help assistant answering with its sources</a:t>
            </a:r>
            <a:endParaRPr lang="en-US" sz="900" dirty="0"/>
          </a:p>
        </p:txBody>
      </p:sp>
      <p:sp>
        <p:nvSpPr>
          <p:cNvPr id="10" name="Shape 6"/>
          <p:cNvSpPr/>
          <p:nvPr/>
        </p:nvSpPr>
        <p:spPr>
          <a:xfrm>
            <a:off x="6551447" y="1581912"/>
            <a:ext cx="4864608" cy="3054096"/>
          </a:xfrm>
          <a:prstGeom prst="rect">
            <a:avLst/>
          </a:prstGeom>
          <a:solidFill>
            <a:srgbClr val="FFFFFF"/>
          </a:solidFill>
          <a:ln w="9525">
            <a:solidFill>
              <a:srgbClr val="D3D9E1"/>
            </a:solidFill>
            <a:prstDash val="solid"/>
          </a:ln>
          <a:effectLst>
            <a:outerShdw sx="100000" sy="100000" kx="0" ky="0" algn="bl" rotWithShape="0" blurRad="76200" dist="25400" dir="5400000">
              <a:srgbClr val="000000">
                <a:alpha val="15000"/>
              </a:srgbClr>
            </a:outerShdw>
          </a:effectLst>
        </p:spPr>
      </p:sp>
      <p:pic>
        <p:nvPicPr>
          <p:cNvPr id="11" name="Image 1" descr="Gaps and risk: rule-based findings, with labelled AI commentary">    </p:cNvPr>
          <p:cNvPicPr>
            <a:picLocks noChangeAspect="1"/>
          </p:cNvPicPr>
          <p:nvPr/>
        </p:nvPicPr>
        <p:blipFill>
          <a:blip r:embed="rId2"/>
          <a:stretch>
            <a:fillRect/>
          </a:stretch>
        </p:blipFill>
        <p:spPr>
          <a:xfrm>
            <a:off x="6569735" y="1600200"/>
            <a:ext cx="4828032" cy="3017520"/>
          </a:xfrm>
          <a:prstGeom prst="rect">
            <a:avLst/>
          </a:prstGeom>
        </p:spPr>
      </p:pic>
      <p:sp>
        <p:nvSpPr>
          <p:cNvPr id="12" name="Text 7"/>
          <p:cNvSpPr txBox="1"/>
          <p:nvPr/>
        </p:nvSpPr>
        <p:spPr>
          <a:xfrm>
            <a:off x="6233008" y="4672584"/>
            <a:ext cx="5501488" cy="228600"/>
          </a:xfrm>
          <a:prstGeom prst="rect">
            <a:avLst/>
          </a:prstGeom>
          <a:noFill/>
          <a:ln/>
        </p:spPr>
        <p:txBody>
          <a:bodyPr wrap="square" lIns="0" tIns="0" rIns="0" bIns="0" rtlCol="0" anchor="t"/>
          <a:lstStyle/>
          <a:p>
            <a:pPr algn="l" indent="0" marL="0">
              <a:buNone/>
            </a:pPr>
            <a:r>
              <a:rPr lang="en-US" sz="900" i="1" dirty="0">
                <a:solidFill>
                  <a:srgbClr val="6B7380"/>
                </a:solidFill>
                <a:latin typeface="Calibri" pitchFamily="34" charset="0"/>
                <a:ea typeface="Calibri" pitchFamily="34" charset="-122"/>
                <a:cs typeface="Calibri" pitchFamily="34" charset="-120"/>
              </a:rPr>
              <a:t>Gaps and risk: rule-based findings, with labelled AI commentary</a:t>
            </a:r>
            <a:endParaRPr lang="en-US" sz="900" dirty="0"/>
          </a:p>
        </p:txBody>
      </p:sp>
      <p:sp>
        <p:nvSpPr>
          <p:cNvPr id="13" name="Shape 8"/>
          <p:cNvSpPr/>
          <p:nvPr/>
        </p:nvSpPr>
        <p:spPr>
          <a:xfrm>
            <a:off x="457200" y="5029200"/>
            <a:ext cx="3698138" cy="1097280"/>
          </a:xfrm>
          <a:prstGeom prst="rect">
            <a:avLst/>
          </a:prstGeom>
          <a:solidFill>
            <a:srgbClr val="E8EDF5"/>
          </a:solidFill>
          <a:ln w="12700">
            <a:solidFill>
              <a:srgbClr val="E8EDF5"/>
            </a:solidFill>
            <a:prstDash val="solid"/>
          </a:ln>
        </p:spPr>
      </p:sp>
      <p:sp>
        <p:nvSpPr>
          <p:cNvPr id="14" name="Text 9"/>
          <p:cNvSpPr txBox="1"/>
          <p:nvPr/>
        </p:nvSpPr>
        <p:spPr>
          <a:xfrm>
            <a:off x="566928" y="5084064"/>
            <a:ext cx="3478682" cy="1005840"/>
          </a:xfrm>
          <a:prstGeom prst="rect">
            <a:avLst/>
          </a:prstGeom>
          <a:noFill/>
          <a:ln/>
        </p:spPr>
        <p:txBody>
          <a:bodyPr wrap="square" lIns="0" tIns="0" rIns="0" bIns="0" rtlCol="0" anchor="t"/>
          <a:lstStyle/>
          <a:p>
            <a:pPr algn="l" indent="0" marL="0">
              <a:spcAft>
                <a:spcPts val="200"/>
              </a:spcAft>
              <a:buNone/>
            </a:pPr>
            <a:r>
              <a:rPr lang="en-US" sz="1200" b="1" dirty="0">
                <a:solidFill>
                  <a:srgbClr val="14213D"/>
                </a:solidFill>
                <a:latin typeface="Calibri" pitchFamily="34" charset="0"/>
                <a:ea typeface="Calibri" pitchFamily="34" charset="-122"/>
                <a:cs typeface="Calibri" pitchFamily="34" charset="-120"/>
              </a:rPr>
              <a:t>Works today</a:t>
            </a:r>
            <a:endParaRPr lang="en-US" sz="1200" dirty="0"/>
          </a:p>
          <a:p>
            <a:pPr algn="l" indent="0" marL="0">
              <a:spcAft>
                <a:spcPts val="400"/>
              </a:spcAft>
              <a:buNone/>
            </a:pPr>
            <a:r>
              <a:rPr lang="en-US" sz="1050" dirty="0">
                <a:solidFill>
                  <a:srgbClr val="2A2F36"/>
                </a:solidFill>
                <a:latin typeface="Calibri" pitchFamily="34" charset="0"/>
                <a:ea typeface="Calibri" pitchFamily="34" charset="-122"/>
                <a:cs typeface="Calibri" pitchFamily="34" charset="-120"/>
              </a:rPr>
              <a:t>A Help assistant on every page, answering from the guides with citations; commentary on the analysis pages. 20 logged requests on the demo site, all succeeded.</a:t>
            </a:r>
            <a:endParaRPr lang="en-US" sz="1200" dirty="0"/>
          </a:p>
        </p:txBody>
      </p:sp>
      <p:sp>
        <p:nvSpPr>
          <p:cNvPr id="15" name="Shape 10"/>
          <p:cNvSpPr/>
          <p:nvPr/>
        </p:nvSpPr>
        <p:spPr>
          <a:xfrm>
            <a:off x="4246778" y="5029200"/>
            <a:ext cx="3698138" cy="1097280"/>
          </a:xfrm>
          <a:prstGeom prst="rect">
            <a:avLst/>
          </a:prstGeom>
          <a:solidFill>
            <a:srgbClr val="E8EDF5"/>
          </a:solidFill>
          <a:ln w="12700">
            <a:solidFill>
              <a:srgbClr val="E8EDF5"/>
            </a:solidFill>
            <a:prstDash val="solid"/>
          </a:ln>
        </p:spPr>
      </p:sp>
      <p:sp>
        <p:nvSpPr>
          <p:cNvPr id="16" name="Text 11"/>
          <p:cNvSpPr txBox="1"/>
          <p:nvPr/>
        </p:nvSpPr>
        <p:spPr>
          <a:xfrm>
            <a:off x="4356506" y="5084064"/>
            <a:ext cx="3478682" cy="1005840"/>
          </a:xfrm>
          <a:prstGeom prst="rect">
            <a:avLst/>
          </a:prstGeom>
          <a:noFill/>
          <a:ln/>
        </p:spPr>
        <p:txBody>
          <a:bodyPr wrap="square" lIns="0" tIns="0" rIns="0" bIns="0" rtlCol="0" anchor="t"/>
          <a:lstStyle/>
          <a:p>
            <a:pPr algn="l" indent="0" marL="0">
              <a:spcAft>
                <a:spcPts val="200"/>
              </a:spcAft>
              <a:buNone/>
            </a:pPr>
            <a:r>
              <a:rPr lang="en-US" sz="1200" b="1" dirty="0">
                <a:solidFill>
                  <a:srgbClr val="14213D"/>
                </a:solidFill>
                <a:latin typeface="Calibri" pitchFamily="34" charset="0"/>
                <a:ea typeface="Calibri" pitchFamily="34" charset="-122"/>
                <a:cs typeface="Calibri" pitchFamily="34" charset="-120"/>
              </a:rPr>
              <a:t>Controls</a:t>
            </a:r>
            <a:endParaRPr lang="en-US" sz="1200" dirty="0"/>
          </a:p>
          <a:p>
            <a:pPr algn="l" indent="0" marL="0">
              <a:spcAft>
                <a:spcPts val="400"/>
              </a:spcAft>
              <a:buNone/>
            </a:pPr>
            <a:r>
              <a:rPr lang="en-US" sz="1050" dirty="0">
                <a:solidFill>
                  <a:srgbClr val="2A2F36"/>
                </a:solidFill>
                <a:latin typeface="Calibri" pitchFamily="34" charset="0"/>
                <a:ea typeface="Calibri" pitchFamily="34" charset="-122"/>
                <a:cs typeface="Calibri" pitchFamily="34" charset="-120"/>
              </a:rPr>
              <a:t>Guidance-only by default; a classification ceiling; sensitive and restricted never sent; every call logged first; a person accepts any suggestion.</a:t>
            </a:r>
            <a:endParaRPr lang="en-US" sz="1200" dirty="0"/>
          </a:p>
        </p:txBody>
      </p:sp>
      <p:sp>
        <p:nvSpPr>
          <p:cNvPr id="17" name="Shape 12"/>
          <p:cNvSpPr/>
          <p:nvPr/>
        </p:nvSpPr>
        <p:spPr>
          <a:xfrm>
            <a:off x="8036357" y="5029200"/>
            <a:ext cx="3698138" cy="1097280"/>
          </a:xfrm>
          <a:prstGeom prst="rect">
            <a:avLst/>
          </a:prstGeom>
          <a:solidFill>
            <a:srgbClr val="F7E3DE"/>
          </a:solidFill>
          <a:ln w="12700">
            <a:solidFill>
              <a:srgbClr val="F7E3DE"/>
            </a:solidFill>
            <a:prstDash val="solid"/>
          </a:ln>
        </p:spPr>
      </p:sp>
      <p:sp>
        <p:nvSpPr>
          <p:cNvPr id="18" name="Text 13"/>
          <p:cNvSpPr txBox="1"/>
          <p:nvPr/>
        </p:nvSpPr>
        <p:spPr>
          <a:xfrm>
            <a:off x="8146085" y="5084064"/>
            <a:ext cx="3478682" cy="1005840"/>
          </a:xfrm>
          <a:prstGeom prst="rect">
            <a:avLst/>
          </a:prstGeom>
          <a:noFill/>
          <a:ln/>
        </p:spPr>
        <p:txBody>
          <a:bodyPr wrap="square" lIns="0" tIns="0" rIns="0" bIns="0" rtlCol="0" anchor="t"/>
          <a:lstStyle/>
          <a:p>
            <a:pPr algn="l" indent="0" marL="0">
              <a:spcAft>
                <a:spcPts val="200"/>
              </a:spcAft>
              <a:buNone/>
            </a:pPr>
            <a:r>
              <a:rPr lang="en-US" sz="1200" b="1" dirty="0">
                <a:solidFill>
                  <a:srgbClr val="14213D"/>
                </a:solidFill>
                <a:latin typeface="Calibri" pitchFamily="34" charset="0"/>
                <a:ea typeface="Calibri" pitchFamily="34" charset="-122"/>
                <a:cs typeface="Calibri" pitchFamily="34" charset="-120"/>
              </a:rPr>
              <a:t>For production</a:t>
            </a:r>
            <a:endParaRPr lang="en-US" sz="1200" dirty="0"/>
          </a:p>
          <a:p>
            <a:pPr algn="l" indent="0" marL="0">
              <a:spcAft>
                <a:spcPts val="400"/>
              </a:spcAft>
              <a:buNone/>
            </a:pPr>
            <a:r>
              <a:rPr lang="en-US" sz="1050" dirty="0">
                <a:solidFill>
                  <a:srgbClr val="2A2F36"/>
                </a:solidFill>
                <a:latin typeface="Calibri" pitchFamily="34" charset="0"/>
                <a:ea typeface="Calibri" pitchFamily="34" charset="-122"/>
                <a:cs typeface="Calibri" pitchFamily="34" charset="-120"/>
              </a:rPr>
              <a:t>An approved endpoint, an outbound path and a data-boundary decision, or AI stays off. Every analysis works without it.</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E  ·  WHAT IS NOT DONE</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Offline install, migration and upgrade are rehearsed on a stand-in server. The conditions left before go-live need the target environment</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docs/delivery/DEPLOYMENT-READINESS.md ('Where it stands', §1–9, evidence/linux-rehearsal/); docs/delivery/REQUIREMENTS-COVERAGE.md §5 (re-checked 18 Sep 2026); docs/RUNBOOK.md; HANDOVER.md §4.</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37</a:t>
            </a:r>
            <a:endParaRPr lang="en-US" sz="900" dirty="0"/>
          </a:p>
        </p:txBody>
      </p:sp>
      <p:sp>
        <p:nvSpPr>
          <p:cNvPr id="7" name="Shape 4"/>
          <p:cNvSpPr/>
          <p:nvPr/>
        </p:nvSpPr>
        <p:spPr>
          <a:xfrm>
            <a:off x="457200" y="1600200"/>
            <a:ext cx="3931920" cy="4526280"/>
          </a:xfrm>
          <a:prstGeom prst="rect">
            <a:avLst/>
          </a:prstGeom>
          <a:solidFill>
            <a:srgbClr val="E8EDF5"/>
          </a:solidFill>
          <a:ln w="12700">
            <a:solidFill>
              <a:srgbClr val="E8EDF5"/>
            </a:solidFill>
            <a:prstDash val="solid"/>
          </a:ln>
        </p:spPr>
      </p:sp>
      <p:sp>
        <p:nvSpPr>
          <p:cNvPr id="8" name="Text 5"/>
          <p:cNvSpPr txBox="1"/>
          <p:nvPr/>
        </p:nvSpPr>
        <p:spPr>
          <a:xfrm>
            <a:off x="640080" y="1737360"/>
            <a:ext cx="3566160" cy="4297680"/>
          </a:xfrm>
          <a:prstGeom prst="rect">
            <a:avLst/>
          </a:prstGeom>
          <a:noFill/>
          <a:ln/>
        </p:spPr>
        <p:txBody>
          <a:bodyPr wrap="square" lIns="0" tIns="0" rIns="0" bIns="0" rtlCol="0" anchor="t"/>
          <a:lstStyle/>
          <a:p>
            <a:pPr algn="l" indent="0" marL="0">
              <a:spcAft>
                <a:spcPts val="800"/>
              </a:spcAft>
              <a:buNone/>
            </a:pPr>
            <a:r>
              <a:rPr lang="en-US" sz="1400" b="1" dirty="0">
                <a:solidFill>
                  <a:srgbClr val="14213D"/>
                </a:solidFill>
                <a:latin typeface="Calibri" pitchFamily="34" charset="0"/>
                <a:ea typeface="Calibri" pitchFamily="34" charset="-122"/>
                <a:cs typeface="Calibri" pitchFamily="34" charset="-120"/>
              </a:rPr>
              <a:t>Proven by running it</a:t>
            </a:r>
            <a:endParaRPr lang="en-US" sz="1400" dirty="0"/>
          </a:p>
          <a:p>
            <a:pPr algn="l" indent="0" marL="0">
              <a:spcAft>
                <a:spcPts val="900"/>
              </a:spcAft>
              <a:buNone/>
            </a:pPr>
            <a:r>
              <a:rPr lang="en-US" sz="1250" dirty="0">
                <a:solidFill>
                  <a:srgbClr val="2A2F36"/>
                </a:solidFill>
                <a:latin typeface="Calibri" pitchFamily="34" charset="0"/>
                <a:ea typeface="Calibri" pitchFamily="34" charset="-122"/>
                <a:cs typeface="Calibri" pitchFamily="34" charset="-120"/>
              </a:rPr>
              <a:t>✓  Air-gapped install on Rocky Linux 9 in 2 min 23 s; verify.sh 14/14</a:t>
            </a:r>
            <a:endParaRPr lang="en-US" sz="1400" dirty="0"/>
          </a:p>
          <a:p>
            <a:pPr algn="l" indent="0" marL="0">
              <a:spcAft>
                <a:spcPts val="900"/>
              </a:spcAft>
              <a:buNone/>
            </a:pPr>
            <a:r>
              <a:rPr lang="en-US" sz="1250" dirty="0">
                <a:solidFill>
                  <a:srgbClr val="2A2F36"/>
                </a:solidFill>
                <a:latin typeface="Calibri" pitchFamily="34" charset="0"/>
                <a:ea typeface="Calibri" pitchFamily="34" charset="-122"/>
                <a:cs typeface="Calibri" pitchFamily="34" charset="-120"/>
              </a:rPr>
              <a:t>✓  Demo site migrated with identical row counts</a:t>
            </a:r>
            <a:endParaRPr lang="en-US" sz="1400" dirty="0"/>
          </a:p>
          <a:p>
            <a:pPr algn="l" indent="0" marL="0">
              <a:spcAft>
                <a:spcPts val="900"/>
              </a:spcAft>
              <a:buNone/>
            </a:pPr>
            <a:r>
              <a:rPr lang="en-US" sz="1250" dirty="0">
                <a:solidFill>
                  <a:srgbClr val="2A2F36"/>
                </a:solidFill>
                <a:latin typeface="Calibri" pitchFamily="34" charset="0"/>
                <a:ea typeface="Calibri" pitchFamily="34" charset="-122"/>
                <a:cs typeface="Calibri" pitchFamily="34" charset="-120"/>
              </a:rPr>
              <a:t>✓  Upgrade from the previous release: no table lost a row</a:t>
            </a:r>
            <a:endParaRPr lang="en-US" sz="1400" dirty="0"/>
          </a:p>
          <a:p>
            <a:pPr algn="l" indent="0" marL="0">
              <a:spcAft>
                <a:spcPts val="900"/>
              </a:spcAft>
              <a:buNone/>
            </a:pPr>
            <a:r>
              <a:rPr lang="en-US" sz="1250" dirty="0">
                <a:solidFill>
                  <a:srgbClr val="2A2F36"/>
                </a:solidFill>
                <a:latin typeface="Calibri" pitchFamily="34" charset="0"/>
                <a:ea typeface="Calibri" pitchFamily="34" charset="-122"/>
                <a:cs typeface="Calibri" pitchFamily="34" charset="-120"/>
              </a:rPr>
              <a:t>✓  Backup and restore by the kit, verified</a:t>
            </a:r>
            <a:endParaRPr lang="en-US" sz="1400" dirty="0"/>
          </a:p>
          <a:p>
            <a:pPr algn="l" indent="0" marL="0">
              <a:spcAft>
                <a:spcPts val="900"/>
              </a:spcAft>
              <a:buNone/>
            </a:pPr>
            <a:r>
              <a:rPr lang="en-US" sz="1250" dirty="0">
                <a:solidFill>
                  <a:srgbClr val="2A2F36"/>
                </a:solidFill>
                <a:latin typeface="Calibri" pitchFamily="34" charset="0"/>
                <a:ea typeface="Calibri" pitchFamily="34" charset="-122"/>
                <a:cs typeface="Calibri" pitchFamily="34" charset="-120"/>
              </a:rPr>
              <a:t>✓  systemd units, TLS proxy; one scheduler ran every job once</a:t>
            </a:r>
            <a:endParaRPr lang="en-US" sz="1400" dirty="0"/>
          </a:p>
          <a:p>
            <a:pPr algn="l" indent="0" marL="0">
              <a:spcAft>
                <a:spcPts val="900"/>
              </a:spcAft>
              <a:buNone/>
            </a:pPr>
            <a:r>
              <a:rPr lang="en-US" sz="1250" dirty="0">
                <a:solidFill>
                  <a:srgbClr val="2A2F36"/>
                </a:solidFill>
                <a:latin typeface="Calibri" pitchFamily="34" charset="0"/>
                <a:ea typeface="Calibri" pitchFamily="34" charset="-122"/>
                <a:cs typeface="Calibri" pitchFamily="34" charset="-120"/>
              </a:rPr>
              <a:t>✓  OIDC sign-in against a mock provider; existing users matched</a:t>
            </a:r>
            <a:endParaRPr lang="en-US" sz="1400" dirty="0"/>
          </a:p>
          <a:p>
            <a:pPr algn="l" indent="0" marL="0">
              <a:spcAft>
                <a:spcPts val="900"/>
              </a:spcAft>
              <a:buNone/>
            </a:pPr>
            <a:r>
              <a:rPr lang="en-US" sz="1250" dirty="0">
                <a:solidFill>
                  <a:srgbClr val="2A2F36"/>
                </a:solidFill>
                <a:latin typeface="Calibri" pitchFamily="34" charset="0"/>
                <a:ea typeface="Calibri" pitchFamily="34" charset="-122"/>
                <a:cs typeface="Calibri" pitchFamily="34" charset="-120"/>
              </a:rPr>
              <a:t>✓  CI: platform rules, toolchain tests, app tests, health check</a:t>
            </a:r>
            <a:endParaRPr lang="en-US" sz="14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663440" y="1600200"/>
          <a:ext cx="7071055" cy="914400"/>
        </p:xfrm>
        <a:graphic>
          <a:graphicData uri="http://schemas.openxmlformats.org/drawingml/2006/table">
            <a:tbl>
              <a:tblPr/>
              <a:tblGrid>
                <a:gridCol w="2331720"/>
                <a:gridCol w="2148840"/>
                <a:gridCol w="2587752"/>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Open go-live condition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What closes it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512064">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The target's own PostgreSQL</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8553D"/>
                          </a:solidFill>
                          <a:latin typeface="Calibri" pitchFamily="34" charset="0"/>
                          <a:ea typeface="Calibri" pitchFamily="34" charset="-122"/>
                          <a:cs typeface="Calibri" pitchFamily="34" charset="-120"/>
                        </a:rPr>
                        <a:t>Stand-in only. Largest unknown.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Install and migrate on the target server with representative data</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75488">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Offline bundle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Must be rebuilt from the final commit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Rebuild (Python 3.11, x86_64); install; verify.sh again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75488">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Load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Indicative only (emulated laptop)</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Agreed volume; several web processes; record the times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512064">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Certificates, IdP, mail route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Documented; decisions open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The organisation's CA, identity provider, and an SMTP relay or a Graph app registration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75488">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Other platforms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RHEL 8, Ubuntu 22.04 not run; Python 3.11 only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Rehearse; raise the hiredis and psutil pins for 3.12 or ARM</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75488">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Real Windows hardware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Never run on a Windows machine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Bootstrap on a managed laptop; RUNBOOK acceptance script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512064">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Upgrade rollback</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Printed, not exercised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Exercise once before the first production upgrade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75488">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Write-once storage; backup owner</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Undecided; unassigned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Infrastructure decision; a named owner</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E  ·  WHAT IS NOT DONE</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Five assumptions carry the most rework risk if they prove wrong, and each needs a business or risk judgement, not engineering</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 docs/product/07-assumptions-and-gaps.md §7 ('What a reviewer should push back on'), items A-1, C-1, C-3, D-5 and §2 (S-3). Severity: H = rework of a model, schema or delivery mechanism.</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38</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7295" cy="914400"/>
        </p:xfrm>
        <a:graphic>
          <a:graphicData uri="http://schemas.openxmlformats.org/drawingml/2006/table">
            <a:tbl>
              <a:tblPr/>
              <a:tblGrid>
                <a:gridCol w="411480"/>
                <a:gridCol w="3794760"/>
                <a:gridCol w="3749040"/>
                <a:gridCol w="2423160"/>
                <a:gridCol w="896112"/>
              </a:tblGrid>
              <a:tr h="3657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Assumption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If it is wrong</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Who settles it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Severity</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731520">
                <a:tc>
                  <a:txBody>
                    <a:bodyPr/>
                    <a:lstStyle/>
                    <a:p>
                      <a:pPr algn="ctr" indent="0" marL="0">
                        <a:buNone/>
                      </a:pPr>
                      <a:r>
                        <a:rPr lang="en-US" sz="1150" b="1" dirty="0">
                          <a:solidFill>
                            <a:srgbClr val="2A2F36"/>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Regulatory citations are chosen from a shared library, not typed as free text (C-1)</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'Notify owners when a regulation changes' cannot be implemented as written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Owner of the regulatory-change process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553D"/>
                          </a:solidFill>
                          <a:latin typeface="Calibri" pitchFamily="34" charset="0"/>
                          <a:ea typeface="Calibri" pitchFamily="34" charset="-122"/>
                          <a:cs typeface="Calibri" pitchFamily="34" charset="-120"/>
                        </a:rPr>
                        <a:t>H</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731520">
                <a:tc>
                  <a:txBody>
                    <a:bodyPr/>
                    <a:lstStyle/>
                    <a:p>
                      <a:pPr algn="ctr" indent="0" marL="0">
                        <a:buNone/>
                      </a:pPr>
                      <a:r>
                        <a:rPr lang="en-US" sz="1150" b="1" dirty="0">
                          <a:solidFill>
                            <a:srgbClr val="2A2F36"/>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'Restricted' means blocking download, print and share, not just viewing (C-3)</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The difference between configuration and a build that must hold on six separate paths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Owner of the confidential-document standard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553D"/>
                          </a:solidFill>
                          <a:latin typeface="Calibri" pitchFamily="34" charset="0"/>
                          <a:ea typeface="Calibri" pitchFamily="34" charset="-122"/>
                          <a:cs typeface="Calibri" pitchFamily="34" charset="-120"/>
                        </a:rPr>
                        <a:t>H</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731520">
                <a:tc>
                  <a:txBody>
                    <a:bodyPr/>
                    <a:lstStyle/>
                    <a:p>
                      <a:pPr algn="ctr" indent="0" marL="0">
                        <a:buNone/>
                      </a:pPr>
                      <a:r>
                        <a:rPr lang="en-US" sz="1150" b="1" dirty="0">
                          <a:solidFill>
                            <a:srgbClr val="2A2F36"/>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Tamper-evident storage is acceptable where the requirement says write-once (A-1)</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An auditor who edits a file directly will succeed; the hash chain will only record that they did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Risk function, with an infrastructure owner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553D"/>
                          </a:solidFill>
                          <a:latin typeface="Calibri" pitchFamily="34" charset="0"/>
                          <a:ea typeface="Calibri" pitchFamily="34" charset="-122"/>
                          <a:cs typeface="Calibri" pitchFamily="34" charset="-120"/>
                        </a:rPr>
                        <a:t>H</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85800">
                <a:tc>
                  <a:txBody>
                    <a:bodyPr/>
                    <a:lstStyle/>
                    <a:p>
                      <a:pPr algn="ctr" indent="0" marL="0">
                        <a:buNone/>
                      </a:pPr>
                      <a:r>
                        <a:rPr lang="en-US" sz="1150" b="1" dirty="0">
                          <a:solidFill>
                            <a:srgbClr val="2A2F3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Retention is built in the platform, not handed to an external records system (S-3)</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If revisited, a substantial part of Core disappears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Records management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553D"/>
                          </a:solidFill>
                          <a:latin typeface="Calibri" pitchFamily="34" charset="0"/>
                          <a:ea typeface="Calibri" pitchFamily="34" charset="-122"/>
                          <a:cs typeface="Calibri" pitchFamily="34" charset="-120"/>
                        </a:rPr>
                        <a:t>H</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731520">
                <a:tc>
                  <a:txBody>
                    <a:bodyPr/>
                    <a:lstStyle/>
                    <a:p>
                      <a:pPr algn="ctr" indent="0" marL="0">
                        <a:buNone/>
                      </a:pPr>
                      <a:r>
                        <a:rPr lang="en-US" sz="1150" b="1" dirty="0">
                          <a:solidFill>
                            <a:srgbClr val="2A2F36"/>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Four forum tags (business unit, risk type, legal entity, jurisdiction) are multi-valued (D-5)</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Correct, but every filter on them becomes a subquery on the most-used screen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Governance office; confirmed by load test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A2F36"/>
                          </a:solidFill>
                          <a:latin typeface="Calibri" pitchFamily="34" charset="0"/>
                          <a:ea typeface="Calibri" pitchFamily="34" charset="-122"/>
                          <a:cs typeface="Calibri" pitchFamily="34" charset="-120"/>
                        </a:rPr>
                        <a:t>M</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1417320"/>
            <a:ext cx="2011680" cy="2011680"/>
          </a:xfrm>
          <a:prstGeom prst="rect">
            <a:avLst/>
          </a:prstGeom>
          <a:noFill/>
          <a:ln/>
        </p:spPr>
        <p:txBody>
          <a:bodyPr wrap="square" lIns="0" tIns="0" rIns="0" bIns="0" rtlCol="0" anchor="t"/>
          <a:lstStyle/>
          <a:p>
            <a:pPr indent="0" marL="0">
              <a:buNone/>
            </a:pPr>
            <a:r>
              <a:rPr lang="en-US" sz="15000" b="1" dirty="0">
                <a:solidFill>
                  <a:srgbClr val="C8553D"/>
                </a:solidFill>
                <a:latin typeface="Calibri" pitchFamily="34" charset="0"/>
                <a:ea typeface="Calibri" pitchFamily="34" charset="-122"/>
                <a:cs typeface="Calibri" pitchFamily="34" charset="-120"/>
              </a:rPr>
              <a:t>F</a:t>
            </a:r>
            <a:endParaRPr lang="en-US" sz="15000" dirty="0"/>
          </a:p>
        </p:txBody>
      </p:sp>
      <p:sp>
        <p:nvSpPr>
          <p:cNvPr id="3" name="Text 1"/>
          <p:cNvSpPr txBox="1"/>
          <p:nvPr/>
        </p:nvSpPr>
        <p:spPr>
          <a:xfrm>
            <a:off x="2743200" y="1828800"/>
            <a:ext cx="8686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Road to production</a:t>
            </a:r>
            <a:endParaRPr lang="en-US" sz="3600" dirty="0"/>
          </a:p>
        </p:txBody>
      </p:sp>
      <p:sp>
        <p:nvSpPr>
          <p:cNvPr id="4" name="Text 2"/>
          <p:cNvSpPr txBox="1"/>
          <p:nvPr/>
        </p:nvSpPr>
        <p:spPr>
          <a:xfrm>
            <a:off x="2743200" y="2697480"/>
            <a:ext cx="8503920" cy="1097280"/>
          </a:xfrm>
          <a:prstGeom prst="rect">
            <a:avLst/>
          </a:prstGeom>
          <a:noFill/>
          <a:ln/>
        </p:spPr>
        <p:txBody>
          <a:bodyPr wrap="square" lIns="0" tIns="0" rIns="0" bIns="0" rtlCol="0" anchor="t"/>
          <a:lstStyle/>
          <a:p>
            <a:pPr indent="0" marL="0">
              <a:buNone/>
            </a:pPr>
            <a:r>
              <a:rPr lang="en-US" sz="1800" dirty="0">
                <a:solidFill>
                  <a:srgbClr val="C9D3E3"/>
                </a:solidFill>
                <a:latin typeface="Calibri" pitchFamily="34" charset="0"/>
                <a:ea typeface="Calibri" pitchFamily="34" charset="-122"/>
                <a:cs typeface="Calibri" pitchFamily="34" charset="-120"/>
              </a:rPr>
              <a:t>A gated plan, clear ownership, the risks and the framework-version recommendation</a:t>
            </a:r>
            <a:endParaRPr lang="en-US" sz="1800" dirty="0"/>
          </a:p>
        </p:txBody>
      </p:sp>
      <p:sp>
        <p:nvSpPr>
          <p:cNvPr id="5" name="Text 3"/>
          <p:cNvSpPr txBox="1"/>
          <p:nvPr/>
        </p:nvSpPr>
        <p:spPr>
          <a:xfrm>
            <a:off x="457200"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A  </a:t>
            </a:r>
            <a:pPr indent="0" marL="0">
              <a:buNone/>
            </a:pPr>
            <a:r>
              <a:rPr lang="en-US" sz="1200" dirty="0">
                <a:solidFill>
                  <a:srgbClr val="8391A8"/>
                </a:solidFill>
                <a:latin typeface="Calibri" pitchFamily="34" charset="0"/>
                <a:ea typeface="Calibri" pitchFamily="34" charset="-122"/>
                <a:cs typeface="Calibri" pitchFamily="34" charset="-120"/>
              </a:rPr>
              <a:t>Why this exists</a:t>
            </a:r>
            <a:endParaRPr lang="en-US" sz="1200" dirty="0"/>
          </a:p>
        </p:txBody>
      </p:sp>
      <p:sp>
        <p:nvSpPr>
          <p:cNvPr id="6" name="Shape 4"/>
          <p:cNvSpPr/>
          <p:nvPr/>
        </p:nvSpPr>
        <p:spPr>
          <a:xfrm>
            <a:off x="457200" y="5303520"/>
            <a:ext cx="1742389" cy="36576"/>
          </a:xfrm>
          <a:prstGeom prst="rect">
            <a:avLst/>
          </a:prstGeom>
          <a:solidFill>
            <a:srgbClr val="3A4A6A"/>
          </a:solidFill>
          <a:ln w="12700">
            <a:solidFill>
              <a:srgbClr val="3A4A6A"/>
            </a:solidFill>
            <a:prstDash val="solid"/>
          </a:ln>
        </p:spPr>
      </p:sp>
      <p:sp>
        <p:nvSpPr>
          <p:cNvPr id="7" name="Text 5"/>
          <p:cNvSpPr txBox="1"/>
          <p:nvPr/>
        </p:nvSpPr>
        <p:spPr>
          <a:xfrm>
            <a:off x="2336749"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B  </a:t>
            </a:r>
            <a:pPr indent="0" marL="0">
              <a:buNone/>
            </a:pPr>
            <a:r>
              <a:rPr lang="en-US" sz="1200" dirty="0">
                <a:solidFill>
                  <a:srgbClr val="8391A8"/>
                </a:solidFill>
                <a:latin typeface="Calibri" pitchFamily="34" charset="0"/>
                <a:ea typeface="Calibri" pitchFamily="34" charset="-122"/>
                <a:cs typeface="Calibri" pitchFamily="34" charset="-120"/>
              </a:rPr>
              <a:t>What we built</a:t>
            </a:r>
            <a:endParaRPr lang="en-US" sz="1200" dirty="0"/>
          </a:p>
        </p:txBody>
      </p:sp>
      <p:sp>
        <p:nvSpPr>
          <p:cNvPr id="8" name="Shape 6"/>
          <p:cNvSpPr/>
          <p:nvPr/>
        </p:nvSpPr>
        <p:spPr>
          <a:xfrm>
            <a:off x="2336749" y="5303520"/>
            <a:ext cx="1742389" cy="36576"/>
          </a:xfrm>
          <a:prstGeom prst="rect">
            <a:avLst/>
          </a:prstGeom>
          <a:solidFill>
            <a:srgbClr val="3A4A6A"/>
          </a:solidFill>
          <a:ln w="12700">
            <a:solidFill>
              <a:srgbClr val="3A4A6A"/>
            </a:solidFill>
            <a:prstDash val="solid"/>
          </a:ln>
        </p:spPr>
      </p:sp>
      <p:sp>
        <p:nvSpPr>
          <p:cNvPr id="9" name="Text 7"/>
          <p:cNvSpPr txBox="1"/>
          <p:nvPr/>
        </p:nvSpPr>
        <p:spPr>
          <a:xfrm>
            <a:off x="4216298"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C  </a:t>
            </a:r>
            <a:pPr indent="0" marL="0">
              <a:buNone/>
            </a:pPr>
            <a:r>
              <a:rPr lang="en-US" sz="1200" dirty="0">
                <a:solidFill>
                  <a:srgbClr val="8391A8"/>
                </a:solidFill>
                <a:latin typeface="Calibri" pitchFamily="34" charset="0"/>
                <a:ea typeface="Calibri" pitchFamily="34" charset="-122"/>
                <a:cs typeface="Calibri" pitchFamily="34" charset="-120"/>
              </a:rPr>
              <a:t>How it works</a:t>
            </a:r>
            <a:endParaRPr lang="en-US" sz="1200" dirty="0"/>
          </a:p>
        </p:txBody>
      </p:sp>
      <p:sp>
        <p:nvSpPr>
          <p:cNvPr id="10" name="Shape 8"/>
          <p:cNvSpPr/>
          <p:nvPr/>
        </p:nvSpPr>
        <p:spPr>
          <a:xfrm>
            <a:off x="4216298" y="5303520"/>
            <a:ext cx="1742389" cy="36576"/>
          </a:xfrm>
          <a:prstGeom prst="rect">
            <a:avLst/>
          </a:prstGeom>
          <a:solidFill>
            <a:srgbClr val="3A4A6A"/>
          </a:solidFill>
          <a:ln w="12700">
            <a:solidFill>
              <a:srgbClr val="3A4A6A"/>
            </a:solidFill>
            <a:prstDash val="solid"/>
          </a:ln>
        </p:spPr>
      </p:sp>
      <p:sp>
        <p:nvSpPr>
          <p:cNvPr id="11" name="Text 9"/>
          <p:cNvSpPr txBox="1"/>
          <p:nvPr/>
        </p:nvSpPr>
        <p:spPr>
          <a:xfrm>
            <a:off x="6095848"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D  </a:t>
            </a:r>
            <a:pPr indent="0" marL="0">
              <a:buNone/>
            </a:pPr>
            <a:r>
              <a:rPr lang="en-US" sz="1200" dirty="0">
                <a:solidFill>
                  <a:srgbClr val="8391A8"/>
                </a:solidFill>
                <a:latin typeface="Calibri" pitchFamily="34" charset="0"/>
                <a:ea typeface="Calibri" pitchFamily="34" charset="-122"/>
                <a:cs typeface="Calibri" pitchFamily="34" charset="-120"/>
              </a:rPr>
              <a:t>Evidence</a:t>
            </a:r>
            <a:endParaRPr lang="en-US" sz="1200" dirty="0"/>
          </a:p>
        </p:txBody>
      </p:sp>
      <p:sp>
        <p:nvSpPr>
          <p:cNvPr id="12" name="Shape 10"/>
          <p:cNvSpPr/>
          <p:nvPr/>
        </p:nvSpPr>
        <p:spPr>
          <a:xfrm>
            <a:off x="6095848" y="5303520"/>
            <a:ext cx="1742389" cy="36576"/>
          </a:xfrm>
          <a:prstGeom prst="rect">
            <a:avLst/>
          </a:prstGeom>
          <a:solidFill>
            <a:srgbClr val="3A4A6A"/>
          </a:solidFill>
          <a:ln w="12700">
            <a:solidFill>
              <a:srgbClr val="3A4A6A"/>
            </a:solidFill>
            <a:prstDash val="solid"/>
          </a:ln>
        </p:spPr>
      </p:sp>
      <p:sp>
        <p:nvSpPr>
          <p:cNvPr id="13" name="Text 11"/>
          <p:cNvSpPr txBox="1"/>
          <p:nvPr/>
        </p:nvSpPr>
        <p:spPr>
          <a:xfrm>
            <a:off x="7975397" y="5394960"/>
            <a:ext cx="1788109" cy="320040"/>
          </a:xfrm>
          <a:prstGeom prst="rect">
            <a:avLst/>
          </a:prstGeom>
          <a:noFill/>
          <a:ln/>
        </p:spPr>
        <p:txBody>
          <a:bodyPr wrap="square" lIns="0" tIns="0" rIns="0" bIns="0" rtlCol="0" anchor="ctr"/>
          <a:lstStyle/>
          <a:p>
            <a:pPr indent="0" marL="0">
              <a:buNone/>
            </a:pPr>
            <a:r>
              <a:rPr lang="en-US" sz="1200" b="1" dirty="0">
                <a:solidFill>
                  <a:srgbClr val="8391A8"/>
                </a:solidFill>
                <a:latin typeface="Calibri" pitchFamily="34" charset="0"/>
                <a:ea typeface="Calibri" pitchFamily="34" charset="-122"/>
                <a:cs typeface="Calibri" pitchFamily="34" charset="-120"/>
              </a:rPr>
              <a:t>E  </a:t>
            </a:r>
            <a:pPr indent="0" marL="0">
              <a:buNone/>
            </a:pPr>
            <a:r>
              <a:rPr lang="en-US" sz="1200" dirty="0">
                <a:solidFill>
                  <a:srgbClr val="8391A8"/>
                </a:solidFill>
                <a:latin typeface="Calibri" pitchFamily="34" charset="0"/>
                <a:ea typeface="Calibri" pitchFamily="34" charset="-122"/>
                <a:cs typeface="Calibri" pitchFamily="34" charset="-120"/>
              </a:rPr>
              <a:t>What is not done</a:t>
            </a:r>
            <a:endParaRPr lang="en-US" sz="1200" dirty="0"/>
          </a:p>
        </p:txBody>
      </p:sp>
      <p:sp>
        <p:nvSpPr>
          <p:cNvPr id="14" name="Shape 12"/>
          <p:cNvSpPr/>
          <p:nvPr/>
        </p:nvSpPr>
        <p:spPr>
          <a:xfrm>
            <a:off x="7975397" y="5303520"/>
            <a:ext cx="1742389" cy="36576"/>
          </a:xfrm>
          <a:prstGeom prst="rect">
            <a:avLst/>
          </a:prstGeom>
          <a:solidFill>
            <a:srgbClr val="3A4A6A"/>
          </a:solidFill>
          <a:ln w="12700">
            <a:solidFill>
              <a:srgbClr val="3A4A6A"/>
            </a:solidFill>
            <a:prstDash val="solid"/>
          </a:ln>
        </p:spPr>
      </p:sp>
      <p:sp>
        <p:nvSpPr>
          <p:cNvPr id="15" name="Text 13"/>
          <p:cNvSpPr txBox="1"/>
          <p:nvPr/>
        </p:nvSpPr>
        <p:spPr>
          <a:xfrm>
            <a:off x="9854946" y="5394960"/>
            <a:ext cx="1788109"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F  </a:t>
            </a:r>
            <a:pPr indent="0" marL="0">
              <a:buNone/>
            </a:pPr>
            <a:r>
              <a:rPr lang="en-US" sz="1200" b="1" dirty="0">
                <a:solidFill>
                  <a:srgbClr val="FFFFFF"/>
                </a:solidFill>
                <a:latin typeface="Calibri" pitchFamily="34" charset="0"/>
                <a:ea typeface="Calibri" pitchFamily="34" charset="-122"/>
                <a:cs typeface="Calibri" pitchFamily="34" charset="-120"/>
              </a:rPr>
              <a:t>Road to production</a:t>
            </a:r>
            <a:endParaRPr lang="en-US" sz="1200" dirty="0"/>
          </a:p>
        </p:txBody>
      </p:sp>
      <p:sp>
        <p:nvSpPr>
          <p:cNvPr id="16" name="Shape 14"/>
          <p:cNvSpPr/>
          <p:nvPr/>
        </p:nvSpPr>
        <p:spPr>
          <a:xfrm>
            <a:off x="9854946" y="5303520"/>
            <a:ext cx="1742389" cy="36576"/>
          </a:xfrm>
          <a:prstGeom prst="rect">
            <a:avLst/>
          </a:prstGeom>
          <a:solidFill>
            <a:srgbClr val="C8553D"/>
          </a:solidFill>
          <a:ln w="12700">
            <a:solidFill>
              <a:srgbClr val="C8553D"/>
            </a:solidFill>
            <a:prstDash val="solid"/>
          </a:ln>
        </p:spPr>
      </p:sp>
      <p:sp>
        <p:nvSpPr>
          <p:cNvPr id="17" name="Text 15"/>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C9D3E3"/>
                </a:solidFill>
                <a:latin typeface="Calibri" pitchFamily="34" charset="0"/>
                <a:ea typeface="Calibri" pitchFamily="34" charset="-122"/>
                <a:cs typeface="Calibri" pitchFamily="34" charset="-120"/>
              </a:rPr>
              <a:t>Consilium  |  </a:t>
            </a:r>
            <a:pPr algn="r" indent="0" marL="0">
              <a:buNone/>
            </a:pPr>
            <a:r>
              <a:rPr lang="en-US" sz="900" b="1" dirty="0">
                <a:solidFill>
                  <a:srgbClr val="FFFFFF"/>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F  ·  ROAD TO PRODUCTION</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A three-phase path to production, with each phase exiting on objective evidence rather than a date</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Durations are planning estimates from the delivery team, expressed as ranges and not taken from repository documents; re-baseline after Phase 2 starts. Exit criteria: HANDOVER.md §6 (Phases 0–3), docs/delivery/DEPLOYMENT-READINESS.md, docs/delivery/REQUIREMENTS-COVERAGE.md §4–5.</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40</a:t>
            </a:r>
            <a:endParaRPr lang="en-US" sz="900" dirty="0"/>
          </a:p>
        </p:txBody>
      </p:sp>
      <p:sp>
        <p:nvSpPr>
          <p:cNvPr id="7" name="Text 4"/>
          <p:cNvSpPr txBox="1"/>
          <p:nvPr/>
        </p:nvSpPr>
        <p:spPr>
          <a:xfrm>
            <a:off x="3840480" y="1572768"/>
            <a:ext cx="457200" cy="228600"/>
          </a:xfrm>
          <a:prstGeom prst="rect">
            <a:avLst/>
          </a:prstGeom>
          <a:noFill/>
          <a:ln/>
        </p:spPr>
        <p:txBody>
          <a:bodyPr wrap="square" lIns="0" tIns="0" rIns="0" bIns="0" rtlCol="0" anchor="t"/>
          <a:lstStyle/>
          <a:p>
            <a:pPr algn="ctr" indent="0" marL="0">
              <a:buNone/>
            </a:pPr>
            <a:r>
              <a:rPr lang="en-US" sz="900" dirty="0">
                <a:solidFill>
                  <a:srgbClr val="6B7380"/>
                </a:solidFill>
                <a:latin typeface="Calibri" pitchFamily="34" charset="0"/>
                <a:ea typeface="Calibri" pitchFamily="34" charset="-122"/>
                <a:cs typeface="Calibri" pitchFamily="34" charset="-120"/>
              </a:rPr>
              <a:t>W0</a:t>
            </a:r>
            <a:endParaRPr lang="en-US" sz="900" dirty="0"/>
          </a:p>
        </p:txBody>
      </p:sp>
      <p:sp>
        <p:nvSpPr>
          <p:cNvPr id="8" name="Shape 5"/>
          <p:cNvSpPr/>
          <p:nvPr/>
        </p:nvSpPr>
        <p:spPr>
          <a:xfrm>
            <a:off x="4069080" y="1810512"/>
            <a:ext cx="0" cy="3611880"/>
          </a:xfrm>
          <a:prstGeom prst="line">
            <a:avLst/>
          </a:prstGeom>
          <a:noFill/>
          <a:ln w="9525">
            <a:solidFill>
              <a:srgbClr val="E3E7ED"/>
            </a:solidFill>
            <a:prstDash val="solid"/>
          </a:ln>
        </p:spPr>
      </p:sp>
      <p:sp>
        <p:nvSpPr>
          <p:cNvPr id="9" name="Text 6"/>
          <p:cNvSpPr txBox="1"/>
          <p:nvPr/>
        </p:nvSpPr>
        <p:spPr>
          <a:xfrm>
            <a:off x="4607022" y="1572768"/>
            <a:ext cx="457200" cy="228600"/>
          </a:xfrm>
          <a:prstGeom prst="rect">
            <a:avLst/>
          </a:prstGeom>
          <a:noFill/>
          <a:ln/>
        </p:spPr>
        <p:txBody>
          <a:bodyPr wrap="square" lIns="0" tIns="0" rIns="0" bIns="0" rtlCol="0" anchor="t"/>
          <a:lstStyle/>
          <a:p>
            <a:pPr algn="ctr" indent="0" marL="0">
              <a:buNone/>
            </a:pPr>
            <a:r>
              <a:rPr lang="en-US" sz="900" dirty="0">
                <a:solidFill>
                  <a:srgbClr val="6B7380"/>
                </a:solidFill>
                <a:latin typeface="Calibri" pitchFamily="34" charset="0"/>
                <a:ea typeface="Calibri" pitchFamily="34" charset="-122"/>
                <a:cs typeface="Calibri" pitchFamily="34" charset="-120"/>
              </a:rPr>
              <a:t>W2</a:t>
            </a:r>
            <a:endParaRPr lang="en-US" sz="900" dirty="0"/>
          </a:p>
        </p:txBody>
      </p:sp>
      <p:sp>
        <p:nvSpPr>
          <p:cNvPr id="10" name="Shape 7"/>
          <p:cNvSpPr/>
          <p:nvPr/>
        </p:nvSpPr>
        <p:spPr>
          <a:xfrm>
            <a:off x="4835622" y="1810512"/>
            <a:ext cx="0" cy="3611880"/>
          </a:xfrm>
          <a:prstGeom prst="line">
            <a:avLst/>
          </a:prstGeom>
          <a:noFill/>
          <a:ln w="9525">
            <a:solidFill>
              <a:srgbClr val="E3E7ED"/>
            </a:solidFill>
            <a:prstDash val="solid"/>
          </a:ln>
        </p:spPr>
      </p:sp>
      <p:sp>
        <p:nvSpPr>
          <p:cNvPr id="11" name="Text 8"/>
          <p:cNvSpPr txBox="1"/>
          <p:nvPr/>
        </p:nvSpPr>
        <p:spPr>
          <a:xfrm>
            <a:off x="5373563" y="1572768"/>
            <a:ext cx="457200" cy="228600"/>
          </a:xfrm>
          <a:prstGeom prst="rect">
            <a:avLst/>
          </a:prstGeom>
          <a:noFill/>
          <a:ln/>
        </p:spPr>
        <p:txBody>
          <a:bodyPr wrap="square" lIns="0" tIns="0" rIns="0" bIns="0" rtlCol="0" anchor="t"/>
          <a:lstStyle/>
          <a:p>
            <a:pPr algn="ctr" indent="0" marL="0">
              <a:buNone/>
            </a:pPr>
            <a:r>
              <a:rPr lang="en-US" sz="900" dirty="0">
                <a:solidFill>
                  <a:srgbClr val="6B7380"/>
                </a:solidFill>
                <a:latin typeface="Calibri" pitchFamily="34" charset="0"/>
                <a:ea typeface="Calibri" pitchFamily="34" charset="-122"/>
                <a:cs typeface="Calibri" pitchFamily="34" charset="-120"/>
              </a:rPr>
              <a:t>W4</a:t>
            </a:r>
            <a:endParaRPr lang="en-US" sz="900" dirty="0"/>
          </a:p>
        </p:txBody>
      </p:sp>
      <p:sp>
        <p:nvSpPr>
          <p:cNvPr id="12" name="Shape 9"/>
          <p:cNvSpPr/>
          <p:nvPr/>
        </p:nvSpPr>
        <p:spPr>
          <a:xfrm>
            <a:off x="5602163" y="1810512"/>
            <a:ext cx="0" cy="3611880"/>
          </a:xfrm>
          <a:prstGeom prst="line">
            <a:avLst/>
          </a:prstGeom>
          <a:noFill/>
          <a:ln w="9525">
            <a:solidFill>
              <a:srgbClr val="E3E7ED"/>
            </a:solidFill>
            <a:prstDash val="solid"/>
          </a:ln>
        </p:spPr>
      </p:sp>
      <p:sp>
        <p:nvSpPr>
          <p:cNvPr id="13" name="Text 10"/>
          <p:cNvSpPr txBox="1"/>
          <p:nvPr/>
        </p:nvSpPr>
        <p:spPr>
          <a:xfrm>
            <a:off x="6140105" y="1572768"/>
            <a:ext cx="457200" cy="228600"/>
          </a:xfrm>
          <a:prstGeom prst="rect">
            <a:avLst/>
          </a:prstGeom>
          <a:noFill/>
          <a:ln/>
        </p:spPr>
        <p:txBody>
          <a:bodyPr wrap="square" lIns="0" tIns="0" rIns="0" bIns="0" rtlCol="0" anchor="t"/>
          <a:lstStyle/>
          <a:p>
            <a:pPr algn="ctr" indent="0" marL="0">
              <a:buNone/>
            </a:pPr>
            <a:r>
              <a:rPr lang="en-US" sz="900" dirty="0">
                <a:solidFill>
                  <a:srgbClr val="6B7380"/>
                </a:solidFill>
                <a:latin typeface="Calibri" pitchFamily="34" charset="0"/>
                <a:ea typeface="Calibri" pitchFamily="34" charset="-122"/>
                <a:cs typeface="Calibri" pitchFamily="34" charset="-120"/>
              </a:rPr>
              <a:t>W6</a:t>
            </a:r>
            <a:endParaRPr lang="en-US" sz="900" dirty="0"/>
          </a:p>
        </p:txBody>
      </p:sp>
      <p:sp>
        <p:nvSpPr>
          <p:cNvPr id="14" name="Shape 11"/>
          <p:cNvSpPr/>
          <p:nvPr/>
        </p:nvSpPr>
        <p:spPr>
          <a:xfrm>
            <a:off x="6368705" y="1810512"/>
            <a:ext cx="0" cy="3611880"/>
          </a:xfrm>
          <a:prstGeom prst="line">
            <a:avLst/>
          </a:prstGeom>
          <a:noFill/>
          <a:ln w="9525">
            <a:solidFill>
              <a:srgbClr val="E3E7ED"/>
            </a:solidFill>
            <a:prstDash val="solid"/>
          </a:ln>
        </p:spPr>
      </p:sp>
      <p:sp>
        <p:nvSpPr>
          <p:cNvPr id="15" name="Text 12"/>
          <p:cNvSpPr txBox="1"/>
          <p:nvPr/>
        </p:nvSpPr>
        <p:spPr>
          <a:xfrm>
            <a:off x="6906646" y="1572768"/>
            <a:ext cx="457200" cy="228600"/>
          </a:xfrm>
          <a:prstGeom prst="rect">
            <a:avLst/>
          </a:prstGeom>
          <a:noFill/>
          <a:ln/>
        </p:spPr>
        <p:txBody>
          <a:bodyPr wrap="square" lIns="0" tIns="0" rIns="0" bIns="0" rtlCol="0" anchor="t"/>
          <a:lstStyle/>
          <a:p>
            <a:pPr algn="ctr" indent="0" marL="0">
              <a:buNone/>
            </a:pPr>
            <a:r>
              <a:rPr lang="en-US" sz="900" dirty="0">
                <a:solidFill>
                  <a:srgbClr val="6B7380"/>
                </a:solidFill>
                <a:latin typeface="Calibri" pitchFamily="34" charset="0"/>
                <a:ea typeface="Calibri" pitchFamily="34" charset="-122"/>
                <a:cs typeface="Calibri" pitchFamily="34" charset="-120"/>
              </a:rPr>
              <a:t>W8</a:t>
            </a:r>
            <a:endParaRPr lang="en-US" sz="900" dirty="0"/>
          </a:p>
        </p:txBody>
      </p:sp>
      <p:sp>
        <p:nvSpPr>
          <p:cNvPr id="16" name="Shape 13"/>
          <p:cNvSpPr/>
          <p:nvPr/>
        </p:nvSpPr>
        <p:spPr>
          <a:xfrm>
            <a:off x="7135246" y="1810512"/>
            <a:ext cx="0" cy="3611880"/>
          </a:xfrm>
          <a:prstGeom prst="line">
            <a:avLst/>
          </a:prstGeom>
          <a:noFill/>
          <a:ln w="9525">
            <a:solidFill>
              <a:srgbClr val="E3E7ED"/>
            </a:solidFill>
            <a:prstDash val="solid"/>
          </a:ln>
        </p:spPr>
      </p:sp>
      <p:sp>
        <p:nvSpPr>
          <p:cNvPr id="17" name="Text 14"/>
          <p:cNvSpPr txBox="1"/>
          <p:nvPr/>
        </p:nvSpPr>
        <p:spPr>
          <a:xfrm>
            <a:off x="7673188" y="1572768"/>
            <a:ext cx="457200" cy="228600"/>
          </a:xfrm>
          <a:prstGeom prst="rect">
            <a:avLst/>
          </a:prstGeom>
          <a:noFill/>
          <a:ln/>
        </p:spPr>
        <p:txBody>
          <a:bodyPr wrap="square" lIns="0" tIns="0" rIns="0" bIns="0" rtlCol="0" anchor="t"/>
          <a:lstStyle/>
          <a:p>
            <a:pPr algn="ctr" indent="0" marL="0">
              <a:buNone/>
            </a:pPr>
            <a:r>
              <a:rPr lang="en-US" sz="900" dirty="0">
                <a:solidFill>
                  <a:srgbClr val="6B7380"/>
                </a:solidFill>
                <a:latin typeface="Calibri" pitchFamily="34" charset="0"/>
                <a:ea typeface="Calibri" pitchFamily="34" charset="-122"/>
                <a:cs typeface="Calibri" pitchFamily="34" charset="-120"/>
              </a:rPr>
              <a:t>W10</a:t>
            </a:r>
            <a:endParaRPr lang="en-US" sz="900" dirty="0"/>
          </a:p>
        </p:txBody>
      </p:sp>
      <p:sp>
        <p:nvSpPr>
          <p:cNvPr id="18" name="Shape 15"/>
          <p:cNvSpPr/>
          <p:nvPr/>
        </p:nvSpPr>
        <p:spPr>
          <a:xfrm>
            <a:off x="7901788" y="1810512"/>
            <a:ext cx="0" cy="3611880"/>
          </a:xfrm>
          <a:prstGeom prst="line">
            <a:avLst/>
          </a:prstGeom>
          <a:noFill/>
          <a:ln w="9525">
            <a:solidFill>
              <a:srgbClr val="E3E7ED"/>
            </a:solidFill>
            <a:prstDash val="solid"/>
          </a:ln>
        </p:spPr>
      </p:sp>
      <p:sp>
        <p:nvSpPr>
          <p:cNvPr id="19" name="Text 16"/>
          <p:cNvSpPr txBox="1"/>
          <p:nvPr/>
        </p:nvSpPr>
        <p:spPr>
          <a:xfrm>
            <a:off x="8439729" y="1572768"/>
            <a:ext cx="457200" cy="228600"/>
          </a:xfrm>
          <a:prstGeom prst="rect">
            <a:avLst/>
          </a:prstGeom>
          <a:noFill/>
          <a:ln/>
        </p:spPr>
        <p:txBody>
          <a:bodyPr wrap="square" lIns="0" tIns="0" rIns="0" bIns="0" rtlCol="0" anchor="t"/>
          <a:lstStyle/>
          <a:p>
            <a:pPr algn="ctr" indent="0" marL="0">
              <a:buNone/>
            </a:pPr>
            <a:r>
              <a:rPr lang="en-US" sz="900" dirty="0">
                <a:solidFill>
                  <a:srgbClr val="6B7380"/>
                </a:solidFill>
                <a:latin typeface="Calibri" pitchFamily="34" charset="0"/>
                <a:ea typeface="Calibri" pitchFamily="34" charset="-122"/>
                <a:cs typeface="Calibri" pitchFamily="34" charset="-120"/>
              </a:rPr>
              <a:t>W12</a:t>
            </a:r>
            <a:endParaRPr lang="en-US" sz="900" dirty="0"/>
          </a:p>
        </p:txBody>
      </p:sp>
      <p:sp>
        <p:nvSpPr>
          <p:cNvPr id="20" name="Shape 17"/>
          <p:cNvSpPr/>
          <p:nvPr/>
        </p:nvSpPr>
        <p:spPr>
          <a:xfrm>
            <a:off x="8668329" y="1810512"/>
            <a:ext cx="0" cy="3611880"/>
          </a:xfrm>
          <a:prstGeom prst="line">
            <a:avLst/>
          </a:prstGeom>
          <a:noFill/>
          <a:ln w="9525">
            <a:solidFill>
              <a:srgbClr val="E3E7ED"/>
            </a:solidFill>
            <a:prstDash val="solid"/>
          </a:ln>
        </p:spPr>
      </p:sp>
      <p:sp>
        <p:nvSpPr>
          <p:cNvPr id="21" name="Text 18"/>
          <p:cNvSpPr txBox="1"/>
          <p:nvPr/>
        </p:nvSpPr>
        <p:spPr>
          <a:xfrm>
            <a:off x="9206271" y="1572768"/>
            <a:ext cx="457200" cy="228600"/>
          </a:xfrm>
          <a:prstGeom prst="rect">
            <a:avLst/>
          </a:prstGeom>
          <a:noFill/>
          <a:ln/>
        </p:spPr>
        <p:txBody>
          <a:bodyPr wrap="square" lIns="0" tIns="0" rIns="0" bIns="0" rtlCol="0" anchor="t"/>
          <a:lstStyle/>
          <a:p>
            <a:pPr algn="ctr" indent="0" marL="0">
              <a:buNone/>
            </a:pPr>
            <a:r>
              <a:rPr lang="en-US" sz="900" dirty="0">
                <a:solidFill>
                  <a:srgbClr val="6B7380"/>
                </a:solidFill>
                <a:latin typeface="Calibri" pitchFamily="34" charset="0"/>
                <a:ea typeface="Calibri" pitchFamily="34" charset="-122"/>
                <a:cs typeface="Calibri" pitchFamily="34" charset="-120"/>
              </a:rPr>
              <a:t>W14</a:t>
            </a:r>
            <a:endParaRPr lang="en-US" sz="900" dirty="0"/>
          </a:p>
        </p:txBody>
      </p:sp>
      <p:sp>
        <p:nvSpPr>
          <p:cNvPr id="22" name="Shape 19"/>
          <p:cNvSpPr/>
          <p:nvPr/>
        </p:nvSpPr>
        <p:spPr>
          <a:xfrm>
            <a:off x="9434871" y="1810512"/>
            <a:ext cx="0" cy="3611880"/>
          </a:xfrm>
          <a:prstGeom prst="line">
            <a:avLst/>
          </a:prstGeom>
          <a:noFill/>
          <a:ln w="9525">
            <a:solidFill>
              <a:srgbClr val="E3E7ED"/>
            </a:solidFill>
            <a:prstDash val="solid"/>
          </a:ln>
        </p:spPr>
      </p:sp>
      <p:sp>
        <p:nvSpPr>
          <p:cNvPr id="23" name="Text 20"/>
          <p:cNvSpPr txBox="1"/>
          <p:nvPr/>
        </p:nvSpPr>
        <p:spPr>
          <a:xfrm>
            <a:off x="9972812" y="1572768"/>
            <a:ext cx="457200" cy="228600"/>
          </a:xfrm>
          <a:prstGeom prst="rect">
            <a:avLst/>
          </a:prstGeom>
          <a:noFill/>
          <a:ln/>
        </p:spPr>
        <p:txBody>
          <a:bodyPr wrap="square" lIns="0" tIns="0" rIns="0" bIns="0" rtlCol="0" anchor="t"/>
          <a:lstStyle/>
          <a:p>
            <a:pPr algn="ctr" indent="0" marL="0">
              <a:buNone/>
            </a:pPr>
            <a:r>
              <a:rPr lang="en-US" sz="900" dirty="0">
                <a:solidFill>
                  <a:srgbClr val="6B7380"/>
                </a:solidFill>
                <a:latin typeface="Calibri" pitchFamily="34" charset="0"/>
                <a:ea typeface="Calibri" pitchFamily="34" charset="-122"/>
                <a:cs typeface="Calibri" pitchFamily="34" charset="-120"/>
              </a:rPr>
              <a:t>W16</a:t>
            </a:r>
            <a:endParaRPr lang="en-US" sz="900" dirty="0"/>
          </a:p>
        </p:txBody>
      </p:sp>
      <p:sp>
        <p:nvSpPr>
          <p:cNvPr id="24" name="Shape 21"/>
          <p:cNvSpPr/>
          <p:nvPr/>
        </p:nvSpPr>
        <p:spPr>
          <a:xfrm>
            <a:off x="10201412" y="1810512"/>
            <a:ext cx="0" cy="3611880"/>
          </a:xfrm>
          <a:prstGeom prst="line">
            <a:avLst/>
          </a:prstGeom>
          <a:noFill/>
          <a:ln w="9525">
            <a:solidFill>
              <a:srgbClr val="E3E7ED"/>
            </a:solidFill>
            <a:prstDash val="solid"/>
          </a:ln>
        </p:spPr>
      </p:sp>
      <p:sp>
        <p:nvSpPr>
          <p:cNvPr id="25" name="Text 22"/>
          <p:cNvSpPr txBox="1"/>
          <p:nvPr/>
        </p:nvSpPr>
        <p:spPr>
          <a:xfrm>
            <a:off x="10739354" y="1572768"/>
            <a:ext cx="457200" cy="228600"/>
          </a:xfrm>
          <a:prstGeom prst="rect">
            <a:avLst/>
          </a:prstGeom>
          <a:noFill/>
          <a:ln/>
        </p:spPr>
        <p:txBody>
          <a:bodyPr wrap="square" lIns="0" tIns="0" rIns="0" bIns="0" rtlCol="0" anchor="t"/>
          <a:lstStyle/>
          <a:p>
            <a:pPr algn="ctr" indent="0" marL="0">
              <a:buNone/>
            </a:pPr>
            <a:r>
              <a:rPr lang="en-US" sz="900" dirty="0">
                <a:solidFill>
                  <a:srgbClr val="6B7380"/>
                </a:solidFill>
                <a:latin typeface="Calibri" pitchFamily="34" charset="0"/>
                <a:ea typeface="Calibri" pitchFamily="34" charset="-122"/>
                <a:cs typeface="Calibri" pitchFamily="34" charset="-120"/>
              </a:rPr>
              <a:t>W18</a:t>
            </a:r>
            <a:endParaRPr lang="en-US" sz="900" dirty="0"/>
          </a:p>
        </p:txBody>
      </p:sp>
      <p:sp>
        <p:nvSpPr>
          <p:cNvPr id="26" name="Shape 23"/>
          <p:cNvSpPr/>
          <p:nvPr/>
        </p:nvSpPr>
        <p:spPr>
          <a:xfrm>
            <a:off x="10967954" y="1810512"/>
            <a:ext cx="0" cy="3611880"/>
          </a:xfrm>
          <a:prstGeom prst="line">
            <a:avLst/>
          </a:prstGeom>
          <a:noFill/>
          <a:ln w="9525">
            <a:solidFill>
              <a:srgbClr val="E3E7ED"/>
            </a:solidFill>
            <a:prstDash val="solid"/>
          </a:ln>
        </p:spPr>
      </p:sp>
      <p:sp>
        <p:nvSpPr>
          <p:cNvPr id="27" name="Text 24"/>
          <p:cNvSpPr txBox="1"/>
          <p:nvPr/>
        </p:nvSpPr>
        <p:spPr>
          <a:xfrm>
            <a:off x="11505895" y="1572768"/>
            <a:ext cx="457200" cy="228600"/>
          </a:xfrm>
          <a:prstGeom prst="rect">
            <a:avLst/>
          </a:prstGeom>
          <a:noFill/>
          <a:ln/>
        </p:spPr>
        <p:txBody>
          <a:bodyPr wrap="square" lIns="0" tIns="0" rIns="0" bIns="0" rtlCol="0" anchor="t"/>
          <a:lstStyle/>
          <a:p>
            <a:pPr algn="ctr" indent="0" marL="0">
              <a:buNone/>
            </a:pPr>
            <a:r>
              <a:rPr lang="en-US" sz="900" dirty="0">
                <a:solidFill>
                  <a:srgbClr val="6B7380"/>
                </a:solidFill>
                <a:latin typeface="Calibri" pitchFamily="34" charset="0"/>
                <a:ea typeface="Calibri" pitchFamily="34" charset="-122"/>
                <a:cs typeface="Calibri" pitchFamily="34" charset="-120"/>
              </a:rPr>
              <a:t>W20</a:t>
            </a:r>
            <a:endParaRPr lang="en-US" sz="900" dirty="0"/>
          </a:p>
        </p:txBody>
      </p:sp>
      <p:sp>
        <p:nvSpPr>
          <p:cNvPr id="28" name="Shape 25"/>
          <p:cNvSpPr/>
          <p:nvPr/>
        </p:nvSpPr>
        <p:spPr>
          <a:xfrm>
            <a:off x="11734495" y="1810512"/>
            <a:ext cx="0" cy="3611880"/>
          </a:xfrm>
          <a:prstGeom prst="line">
            <a:avLst/>
          </a:prstGeom>
          <a:noFill/>
          <a:ln w="9525">
            <a:solidFill>
              <a:srgbClr val="E3E7ED"/>
            </a:solidFill>
            <a:prstDash val="solid"/>
          </a:ln>
        </p:spPr>
      </p:sp>
      <p:sp>
        <p:nvSpPr>
          <p:cNvPr id="29" name="Text 26"/>
          <p:cNvSpPr txBox="1"/>
          <p:nvPr/>
        </p:nvSpPr>
        <p:spPr>
          <a:xfrm>
            <a:off x="457200" y="1847088"/>
            <a:ext cx="3566160" cy="297180"/>
          </a:xfrm>
          <a:prstGeom prst="rect">
            <a:avLst/>
          </a:prstGeom>
          <a:noFill/>
          <a:ln/>
        </p:spPr>
        <p:txBody>
          <a:bodyPr wrap="square" lIns="0" tIns="0" rIns="0" bIns="0" rtlCol="0" anchor="ctr"/>
          <a:lstStyle/>
          <a:p>
            <a:pPr algn="l" indent="0" marL="0">
              <a:spcAft>
                <a:spcPts val="400"/>
              </a:spcAft>
              <a:buNone/>
            </a:pPr>
            <a:r>
              <a:rPr lang="en-US" sz="1150" b="1" dirty="0">
                <a:solidFill>
                  <a:srgbClr val="14213D"/>
                </a:solidFill>
                <a:latin typeface="Calibri" pitchFamily="34" charset="0"/>
                <a:ea typeface="Calibri" pitchFamily="34" charset="-122"/>
                <a:cs typeface="Calibri" pitchFamily="34" charset="-120"/>
              </a:rPr>
              <a:t>P1  Finish the product</a:t>
            </a:r>
            <a:endParaRPr lang="en-US" sz="1150" dirty="0"/>
          </a:p>
        </p:txBody>
      </p:sp>
      <p:sp>
        <p:nvSpPr>
          <p:cNvPr id="30" name="Text 27"/>
          <p:cNvSpPr txBox="1"/>
          <p:nvPr/>
        </p:nvSpPr>
        <p:spPr>
          <a:xfrm>
            <a:off x="685800" y="2144268"/>
            <a:ext cx="3337560" cy="297180"/>
          </a:xfrm>
          <a:prstGeom prst="rect">
            <a:avLst/>
          </a:prstGeom>
          <a:noFill/>
          <a:ln/>
        </p:spPr>
        <p:txBody>
          <a:bodyPr wrap="square" lIns="0" tIns="0" rIns="0" bIns="0" rtlCol="0" anchor="ctr"/>
          <a:lstStyle/>
          <a:p>
            <a:pPr algn="l" indent="0" marL="0">
              <a:buNone/>
            </a:pPr>
            <a:r>
              <a:rPr lang="en-US" sz="1050" dirty="0">
                <a:solidFill>
                  <a:srgbClr val="2A2F36"/>
                </a:solidFill>
                <a:latin typeface="Calibri" pitchFamily="34" charset="0"/>
                <a:ea typeface="Calibri" pitchFamily="34" charset="-122"/>
                <a:cs typeface="Calibri" pitchFamily="34" charset="-120"/>
              </a:rPr>
              <a:t>Rebuild the offline bundle from the final commit</a:t>
            </a:r>
            <a:endParaRPr lang="en-US" sz="1050" dirty="0"/>
          </a:p>
        </p:txBody>
      </p:sp>
      <p:sp>
        <p:nvSpPr>
          <p:cNvPr id="31" name="Shape 28"/>
          <p:cNvSpPr/>
          <p:nvPr/>
        </p:nvSpPr>
        <p:spPr>
          <a:xfrm>
            <a:off x="4069080" y="2199132"/>
            <a:ext cx="383271" cy="187452"/>
          </a:xfrm>
          <a:prstGeom prst="rect">
            <a:avLst/>
          </a:prstGeom>
          <a:solidFill>
            <a:srgbClr val="14213D"/>
          </a:solidFill>
          <a:ln w="12700">
            <a:solidFill>
              <a:srgbClr val="14213D"/>
            </a:solidFill>
            <a:prstDash val="solid"/>
          </a:ln>
        </p:spPr>
      </p:sp>
      <p:sp>
        <p:nvSpPr>
          <p:cNvPr id="32" name="Text 29"/>
          <p:cNvSpPr txBox="1"/>
          <p:nvPr/>
        </p:nvSpPr>
        <p:spPr>
          <a:xfrm>
            <a:off x="685800" y="2441448"/>
            <a:ext cx="3337560" cy="297180"/>
          </a:xfrm>
          <a:prstGeom prst="rect">
            <a:avLst/>
          </a:prstGeom>
          <a:noFill/>
          <a:ln/>
        </p:spPr>
        <p:txBody>
          <a:bodyPr wrap="square" lIns="0" tIns="0" rIns="0" bIns="0" rtlCol="0" anchor="ctr"/>
          <a:lstStyle/>
          <a:p>
            <a:pPr algn="l" indent="0" marL="0">
              <a:buNone/>
            </a:pPr>
            <a:r>
              <a:rPr lang="en-US" sz="1050" dirty="0">
                <a:solidFill>
                  <a:srgbClr val="2A2F36"/>
                </a:solidFill>
                <a:latin typeface="Calibri" pitchFamily="34" charset="0"/>
                <a:ea typeface="Calibri" pitchFamily="34" charset="-122"/>
                <a:cs typeface="Calibri" pitchFamily="34" charset="-120"/>
              </a:rPr>
              <a:t>Remaining class-d clauses and missing tests; re-measure</a:t>
            </a:r>
            <a:endParaRPr lang="en-US" sz="1050" dirty="0"/>
          </a:p>
        </p:txBody>
      </p:sp>
      <p:sp>
        <p:nvSpPr>
          <p:cNvPr id="33" name="Shape 30"/>
          <p:cNvSpPr/>
          <p:nvPr/>
        </p:nvSpPr>
        <p:spPr>
          <a:xfrm>
            <a:off x="4069080" y="2496312"/>
            <a:ext cx="1149812" cy="187452"/>
          </a:xfrm>
          <a:prstGeom prst="rect">
            <a:avLst/>
          </a:prstGeom>
          <a:solidFill>
            <a:srgbClr val="14213D"/>
          </a:solidFill>
          <a:ln w="12700">
            <a:solidFill>
              <a:srgbClr val="14213D"/>
            </a:solidFill>
            <a:prstDash val="solid"/>
          </a:ln>
        </p:spPr>
      </p:sp>
      <p:sp>
        <p:nvSpPr>
          <p:cNvPr id="34" name="Shape 31"/>
          <p:cNvSpPr/>
          <p:nvPr/>
        </p:nvSpPr>
        <p:spPr>
          <a:xfrm>
            <a:off x="5218892" y="2496312"/>
            <a:ext cx="766542" cy="187452"/>
          </a:xfrm>
          <a:prstGeom prst="rect">
            <a:avLst/>
          </a:prstGeom>
          <a:solidFill>
            <a:srgbClr val="C9D3E3"/>
          </a:solidFill>
          <a:ln w="12700">
            <a:solidFill>
              <a:srgbClr val="C9D3E3"/>
            </a:solidFill>
            <a:prstDash val="solid"/>
          </a:ln>
        </p:spPr>
      </p:sp>
      <p:sp>
        <p:nvSpPr>
          <p:cNvPr id="35" name="Text 32"/>
          <p:cNvSpPr txBox="1"/>
          <p:nvPr/>
        </p:nvSpPr>
        <p:spPr>
          <a:xfrm>
            <a:off x="457200" y="2738628"/>
            <a:ext cx="3566160" cy="297180"/>
          </a:xfrm>
          <a:prstGeom prst="rect">
            <a:avLst/>
          </a:prstGeom>
          <a:noFill/>
          <a:ln/>
        </p:spPr>
        <p:txBody>
          <a:bodyPr wrap="square" lIns="0" tIns="0" rIns="0" bIns="0" rtlCol="0" anchor="ctr"/>
          <a:lstStyle/>
          <a:p>
            <a:pPr algn="l" indent="0" marL="0">
              <a:spcAft>
                <a:spcPts val="400"/>
              </a:spcAft>
              <a:buNone/>
            </a:pPr>
            <a:r>
              <a:rPr lang="en-US" sz="1150" b="1" dirty="0">
                <a:solidFill>
                  <a:srgbClr val="14213D"/>
                </a:solidFill>
                <a:latin typeface="Calibri" pitchFamily="34" charset="0"/>
                <a:ea typeface="Calibri" pitchFamily="34" charset="-122"/>
                <a:cs typeface="Calibri" pitchFamily="34" charset="-120"/>
              </a:rPr>
              <a:t>P2  Target-environment rehearsal</a:t>
            </a:r>
            <a:endParaRPr lang="en-US" sz="1150" dirty="0"/>
          </a:p>
        </p:txBody>
      </p:sp>
      <p:sp>
        <p:nvSpPr>
          <p:cNvPr id="36" name="Text 33"/>
          <p:cNvSpPr txBox="1"/>
          <p:nvPr/>
        </p:nvSpPr>
        <p:spPr>
          <a:xfrm>
            <a:off x="685800" y="3035808"/>
            <a:ext cx="3337560" cy="297180"/>
          </a:xfrm>
          <a:prstGeom prst="rect">
            <a:avLst/>
          </a:prstGeom>
          <a:noFill/>
          <a:ln/>
        </p:spPr>
        <p:txBody>
          <a:bodyPr wrap="square" lIns="0" tIns="0" rIns="0" bIns="0" rtlCol="0" anchor="ctr"/>
          <a:lstStyle/>
          <a:p>
            <a:pPr algn="l" indent="0" marL="0">
              <a:buNone/>
            </a:pPr>
            <a:r>
              <a:rPr lang="en-US" sz="1050" dirty="0">
                <a:solidFill>
                  <a:srgbClr val="2A2F36"/>
                </a:solidFill>
                <a:latin typeface="Calibri" pitchFamily="34" charset="0"/>
                <a:ea typeface="Calibri" pitchFamily="34" charset="-122"/>
                <a:cs typeface="Calibri" pitchFamily="34" charset="-120"/>
              </a:rPr>
              <a:t>Rebase onto framework v16; re-verify</a:t>
            </a:r>
            <a:endParaRPr lang="en-US" sz="1050" dirty="0"/>
          </a:p>
        </p:txBody>
      </p:sp>
      <p:sp>
        <p:nvSpPr>
          <p:cNvPr id="37" name="Shape 34"/>
          <p:cNvSpPr/>
          <p:nvPr/>
        </p:nvSpPr>
        <p:spPr>
          <a:xfrm>
            <a:off x="4069080" y="3090672"/>
            <a:ext cx="766542" cy="187452"/>
          </a:xfrm>
          <a:prstGeom prst="rect">
            <a:avLst/>
          </a:prstGeom>
          <a:solidFill>
            <a:srgbClr val="14213D"/>
          </a:solidFill>
          <a:ln w="12700">
            <a:solidFill>
              <a:srgbClr val="14213D"/>
            </a:solidFill>
            <a:prstDash val="solid"/>
          </a:ln>
        </p:spPr>
      </p:sp>
      <p:sp>
        <p:nvSpPr>
          <p:cNvPr id="38" name="Shape 35"/>
          <p:cNvSpPr/>
          <p:nvPr/>
        </p:nvSpPr>
        <p:spPr>
          <a:xfrm>
            <a:off x="4835622" y="3090672"/>
            <a:ext cx="766542" cy="187452"/>
          </a:xfrm>
          <a:prstGeom prst="rect">
            <a:avLst/>
          </a:prstGeom>
          <a:solidFill>
            <a:srgbClr val="C9D3E3"/>
          </a:solidFill>
          <a:ln w="12700">
            <a:solidFill>
              <a:srgbClr val="C9D3E3"/>
            </a:solidFill>
            <a:prstDash val="solid"/>
          </a:ln>
        </p:spPr>
      </p:sp>
      <p:sp>
        <p:nvSpPr>
          <p:cNvPr id="39" name="Text 36"/>
          <p:cNvSpPr txBox="1"/>
          <p:nvPr/>
        </p:nvSpPr>
        <p:spPr>
          <a:xfrm>
            <a:off x="685800" y="3332988"/>
            <a:ext cx="3337560" cy="297180"/>
          </a:xfrm>
          <a:prstGeom prst="rect">
            <a:avLst/>
          </a:prstGeom>
          <a:noFill/>
          <a:ln/>
        </p:spPr>
        <p:txBody>
          <a:bodyPr wrap="square" lIns="0" tIns="0" rIns="0" bIns="0" rtlCol="0" anchor="ctr"/>
          <a:lstStyle/>
          <a:p>
            <a:pPr algn="l" indent="0" marL="0">
              <a:buNone/>
            </a:pPr>
            <a:r>
              <a:rPr lang="en-US" sz="1050" dirty="0">
                <a:solidFill>
                  <a:srgbClr val="2A2F36"/>
                </a:solidFill>
                <a:latin typeface="Calibri" pitchFamily="34" charset="0"/>
                <a:ea typeface="Calibri" pitchFamily="34" charset="-122"/>
                <a:cs typeface="Calibri" pitchFamily="34" charset="-120"/>
              </a:rPr>
              <a:t>Provision target: certificates, ports, accounts, storage</a:t>
            </a:r>
            <a:endParaRPr lang="en-US" sz="1050" dirty="0"/>
          </a:p>
        </p:txBody>
      </p:sp>
      <p:sp>
        <p:nvSpPr>
          <p:cNvPr id="40" name="Shape 37"/>
          <p:cNvSpPr/>
          <p:nvPr/>
        </p:nvSpPr>
        <p:spPr>
          <a:xfrm>
            <a:off x="4069080" y="3387852"/>
            <a:ext cx="766542" cy="187452"/>
          </a:xfrm>
          <a:prstGeom prst="rect">
            <a:avLst/>
          </a:prstGeom>
          <a:solidFill>
            <a:srgbClr val="14213D"/>
          </a:solidFill>
          <a:ln w="12700">
            <a:solidFill>
              <a:srgbClr val="14213D"/>
            </a:solidFill>
            <a:prstDash val="solid"/>
          </a:ln>
        </p:spPr>
      </p:sp>
      <p:sp>
        <p:nvSpPr>
          <p:cNvPr id="41" name="Shape 38"/>
          <p:cNvSpPr/>
          <p:nvPr/>
        </p:nvSpPr>
        <p:spPr>
          <a:xfrm>
            <a:off x="4835622" y="3387852"/>
            <a:ext cx="766542" cy="187452"/>
          </a:xfrm>
          <a:prstGeom prst="rect">
            <a:avLst/>
          </a:prstGeom>
          <a:solidFill>
            <a:srgbClr val="C9D3E3"/>
          </a:solidFill>
          <a:ln w="12700">
            <a:solidFill>
              <a:srgbClr val="C9D3E3"/>
            </a:solidFill>
            <a:prstDash val="solid"/>
          </a:ln>
        </p:spPr>
      </p:sp>
      <p:sp>
        <p:nvSpPr>
          <p:cNvPr id="42" name="Text 39"/>
          <p:cNvSpPr txBox="1"/>
          <p:nvPr/>
        </p:nvSpPr>
        <p:spPr>
          <a:xfrm>
            <a:off x="685800" y="3630168"/>
            <a:ext cx="3337560" cy="297180"/>
          </a:xfrm>
          <a:prstGeom prst="rect">
            <a:avLst/>
          </a:prstGeom>
          <a:noFill/>
          <a:ln/>
        </p:spPr>
        <p:txBody>
          <a:bodyPr wrap="square" lIns="0" tIns="0" rIns="0" bIns="0" rtlCol="0" anchor="ctr"/>
          <a:lstStyle/>
          <a:p>
            <a:pPr algn="l" indent="0" marL="0">
              <a:buNone/>
            </a:pPr>
            <a:r>
              <a:rPr lang="en-US" sz="1050" dirty="0">
                <a:solidFill>
                  <a:srgbClr val="2A2F36"/>
                </a:solidFill>
                <a:latin typeface="Calibri" pitchFamily="34" charset="0"/>
                <a:ea typeface="Calibri" pitchFamily="34" charset="-122"/>
                <a:cs typeface="Calibri" pitchFamily="34" charset="-120"/>
              </a:rPr>
              <a:t>Migration, load and upgrade rehearsal</a:t>
            </a:r>
            <a:endParaRPr lang="en-US" sz="1050" dirty="0"/>
          </a:p>
        </p:txBody>
      </p:sp>
      <p:sp>
        <p:nvSpPr>
          <p:cNvPr id="43" name="Shape 40"/>
          <p:cNvSpPr/>
          <p:nvPr/>
        </p:nvSpPr>
        <p:spPr>
          <a:xfrm>
            <a:off x="5602163" y="3685032"/>
            <a:ext cx="766542" cy="187452"/>
          </a:xfrm>
          <a:prstGeom prst="rect">
            <a:avLst/>
          </a:prstGeom>
          <a:solidFill>
            <a:srgbClr val="14213D"/>
          </a:solidFill>
          <a:ln w="12700">
            <a:solidFill>
              <a:srgbClr val="14213D"/>
            </a:solidFill>
            <a:prstDash val="solid"/>
          </a:ln>
        </p:spPr>
      </p:sp>
      <p:sp>
        <p:nvSpPr>
          <p:cNvPr id="44" name="Shape 41"/>
          <p:cNvSpPr/>
          <p:nvPr/>
        </p:nvSpPr>
        <p:spPr>
          <a:xfrm>
            <a:off x="6368705" y="3685032"/>
            <a:ext cx="766542" cy="187452"/>
          </a:xfrm>
          <a:prstGeom prst="rect">
            <a:avLst/>
          </a:prstGeom>
          <a:solidFill>
            <a:srgbClr val="C9D3E3"/>
          </a:solidFill>
          <a:ln w="12700">
            <a:solidFill>
              <a:srgbClr val="C9D3E3"/>
            </a:solidFill>
            <a:prstDash val="solid"/>
          </a:ln>
        </p:spPr>
      </p:sp>
      <p:sp>
        <p:nvSpPr>
          <p:cNvPr id="45" name="Text 42"/>
          <p:cNvSpPr txBox="1"/>
          <p:nvPr/>
        </p:nvSpPr>
        <p:spPr>
          <a:xfrm>
            <a:off x="685800" y="3927348"/>
            <a:ext cx="3337560" cy="297180"/>
          </a:xfrm>
          <a:prstGeom prst="rect">
            <a:avLst/>
          </a:prstGeom>
          <a:noFill/>
          <a:ln/>
        </p:spPr>
        <p:txBody>
          <a:bodyPr wrap="square" lIns="0" tIns="0" rIns="0" bIns="0" rtlCol="0" anchor="ctr"/>
          <a:lstStyle/>
          <a:p>
            <a:pPr algn="l" indent="0" marL="0">
              <a:buNone/>
            </a:pPr>
            <a:r>
              <a:rPr lang="en-US" sz="1050" dirty="0">
                <a:solidFill>
                  <a:srgbClr val="2A2F36"/>
                </a:solidFill>
                <a:latin typeface="Calibri" pitchFamily="34" charset="0"/>
                <a:ea typeface="Calibri" pitchFamily="34" charset="-122"/>
                <a:cs typeface="Calibri" pitchFamily="34" charset="-120"/>
              </a:rPr>
              <a:t>Real Windows run; single sign-on; one scheduler</a:t>
            </a:r>
            <a:endParaRPr lang="en-US" sz="1050" dirty="0"/>
          </a:p>
        </p:txBody>
      </p:sp>
      <p:sp>
        <p:nvSpPr>
          <p:cNvPr id="46" name="Shape 43"/>
          <p:cNvSpPr/>
          <p:nvPr/>
        </p:nvSpPr>
        <p:spPr>
          <a:xfrm>
            <a:off x="5602163" y="3982212"/>
            <a:ext cx="383271" cy="187452"/>
          </a:xfrm>
          <a:prstGeom prst="rect">
            <a:avLst/>
          </a:prstGeom>
          <a:solidFill>
            <a:srgbClr val="14213D"/>
          </a:solidFill>
          <a:ln w="12700">
            <a:solidFill>
              <a:srgbClr val="14213D"/>
            </a:solidFill>
            <a:prstDash val="solid"/>
          </a:ln>
        </p:spPr>
      </p:sp>
      <p:sp>
        <p:nvSpPr>
          <p:cNvPr id="47" name="Shape 44"/>
          <p:cNvSpPr/>
          <p:nvPr/>
        </p:nvSpPr>
        <p:spPr>
          <a:xfrm>
            <a:off x="5985434" y="3982212"/>
            <a:ext cx="766542" cy="187452"/>
          </a:xfrm>
          <a:prstGeom prst="rect">
            <a:avLst/>
          </a:prstGeom>
          <a:solidFill>
            <a:srgbClr val="C9D3E3"/>
          </a:solidFill>
          <a:ln w="12700">
            <a:solidFill>
              <a:srgbClr val="C9D3E3"/>
            </a:solidFill>
            <a:prstDash val="solid"/>
          </a:ln>
        </p:spPr>
      </p:sp>
      <p:sp>
        <p:nvSpPr>
          <p:cNvPr id="48" name="Text 45"/>
          <p:cNvSpPr txBox="1"/>
          <p:nvPr/>
        </p:nvSpPr>
        <p:spPr>
          <a:xfrm>
            <a:off x="457200" y="4224528"/>
            <a:ext cx="3566160" cy="297180"/>
          </a:xfrm>
          <a:prstGeom prst="rect">
            <a:avLst/>
          </a:prstGeom>
          <a:noFill/>
          <a:ln/>
        </p:spPr>
        <p:txBody>
          <a:bodyPr wrap="square" lIns="0" tIns="0" rIns="0" bIns="0" rtlCol="0" anchor="ctr"/>
          <a:lstStyle/>
          <a:p>
            <a:pPr algn="l" indent="0" marL="0">
              <a:spcAft>
                <a:spcPts val="400"/>
              </a:spcAft>
              <a:buNone/>
            </a:pPr>
            <a:r>
              <a:rPr lang="en-US" sz="1150" b="1" dirty="0">
                <a:solidFill>
                  <a:srgbClr val="14213D"/>
                </a:solidFill>
                <a:latin typeface="Calibri" pitchFamily="34" charset="0"/>
                <a:ea typeface="Calibri" pitchFamily="34" charset="-122"/>
                <a:cs typeface="Calibri" pitchFamily="34" charset="-120"/>
              </a:rPr>
              <a:t>P3  Pilot and go-live</a:t>
            </a:r>
            <a:endParaRPr lang="en-US" sz="1150" dirty="0"/>
          </a:p>
        </p:txBody>
      </p:sp>
      <p:sp>
        <p:nvSpPr>
          <p:cNvPr id="49" name="Text 46"/>
          <p:cNvSpPr txBox="1"/>
          <p:nvPr/>
        </p:nvSpPr>
        <p:spPr>
          <a:xfrm>
            <a:off x="685800" y="4521708"/>
            <a:ext cx="3337560" cy="297180"/>
          </a:xfrm>
          <a:prstGeom prst="rect">
            <a:avLst/>
          </a:prstGeom>
          <a:noFill/>
          <a:ln/>
        </p:spPr>
        <p:txBody>
          <a:bodyPr wrap="square" lIns="0" tIns="0" rIns="0" bIns="0" rtlCol="0" anchor="ctr"/>
          <a:lstStyle/>
          <a:p>
            <a:pPr algn="l" indent="0" marL="0">
              <a:buNone/>
            </a:pPr>
            <a:r>
              <a:rPr lang="en-US" sz="1050" dirty="0">
                <a:solidFill>
                  <a:srgbClr val="2A2F36"/>
                </a:solidFill>
                <a:latin typeface="Calibri" pitchFamily="34" charset="0"/>
                <a:ea typeface="Calibri" pitchFamily="34" charset="-122"/>
                <a:cs typeface="Calibri" pitchFamily="34" charset="-120"/>
              </a:rPr>
              <a:t>Business rules, taxonomy, data import</a:t>
            </a:r>
            <a:endParaRPr lang="en-US" sz="1050" dirty="0"/>
          </a:p>
        </p:txBody>
      </p:sp>
      <p:sp>
        <p:nvSpPr>
          <p:cNvPr id="50" name="Shape 47"/>
          <p:cNvSpPr/>
          <p:nvPr/>
        </p:nvSpPr>
        <p:spPr>
          <a:xfrm>
            <a:off x="6368705" y="4576572"/>
            <a:ext cx="766542" cy="187452"/>
          </a:xfrm>
          <a:prstGeom prst="rect">
            <a:avLst/>
          </a:prstGeom>
          <a:solidFill>
            <a:srgbClr val="14213D"/>
          </a:solidFill>
          <a:ln w="12700">
            <a:solidFill>
              <a:srgbClr val="14213D"/>
            </a:solidFill>
            <a:prstDash val="solid"/>
          </a:ln>
        </p:spPr>
      </p:sp>
      <p:sp>
        <p:nvSpPr>
          <p:cNvPr id="51" name="Shape 48"/>
          <p:cNvSpPr/>
          <p:nvPr/>
        </p:nvSpPr>
        <p:spPr>
          <a:xfrm>
            <a:off x="7135246" y="4576572"/>
            <a:ext cx="766542" cy="187452"/>
          </a:xfrm>
          <a:prstGeom prst="rect">
            <a:avLst/>
          </a:prstGeom>
          <a:solidFill>
            <a:srgbClr val="C9D3E3"/>
          </a:solidFill>
          <a:ln w="12700">
            <a:solidFill>
              <a:srgbClr val="C9D3E3"/>
            </a:solidFill>
            <a:prstDash val="solid"/>
          </a:ln>
        </p:spPr>
      </p:sp>
      <p:sp>
        <p:nvSpPr>
          <p:cNvPr id="52" name="Text 49"/>
          <p:cNvSpPr txBox="1"/>
          <p:nvPr/>
        </p:nvSpPr>
        <p:spPr>
          <a:xfrm>
            <a:off x="685800" y="4818888"/>
            <a:ext cx="3337560" cy="297180"/>
          </a:xfrm>
          <a:prstGeom prst="rect">
            <a:avLst/>
          </a:prstGeom>
          <a:noFill/>
          <a:ln/>
        </p:spPr>
        <p:txBody>
          <a:bodyPr wrap="square" lIns="0" tIns="0" rIns="0" bIns="0" rtlCol="0" anchor="ctr"/>
          <a:lstStyle/>
          <a:p>
            <a:pPr algn="l" indent="0" marL="0">
              <a:buNone/>
            </a:pPr>
            <a:r>
              <a:rPr lang="en-US" sz="1050" dirty="0">
                <a:solidFill>
                  <a:srgbClr val="2A2F36"/>
                </a:solidFill>
                <a:latin typeface="Calibri" pitchFamily="34" charset="0"/>
                <a:ea typeface="Calibri" pitchFamily="34" charset="-122"/>
                <a:cs typeface="Calibri" pitchFamily="34" charset="-120"/>
              </a:rPr>
              <a:t>User acceptance with the governance and policy offices</a:t>
            </a:r>
            <a:endParaRPr lang="en-US" sz="1050" dirty="0"/>
          </a:p>
        </p:txBody>
      </p:sp>
      <p:sp>
        <p:nvSpPr>
          <p:cNvPr id="53" name="Shape 50"/>
          <p:cNvSpPr/>
          <p:nvPr/>
        </p:nvSpPr>
        <p:spPr>
          <a:xfrm>
            <a:off x="7135246" y="4873752"/>
            <a:ext cx="1533083" cy="187452"/>
          </a:xfrm>
          <a:prstGeom prst="rect">
            <a:avLst/>
          </a:prstGeom>
          <a:solidFill>
            <a:srgbClr val="14213D"/>
          </a:solidFill>
          <a:ln w="12700">
            <a:solidFill>
              <a:srgbClr val="14213D"/>
            </a:solidFill>
            <a:prstDash val="solid"/>
          </a:ln>
        </p:spPr>
      </p:sp>
      <p:sp>
        <p:nvSpPr>
          <p:cNvPr id="54" name="Shape 51"/>
          <p:cNvSpPr/>
          <p:nvPr/>
        </p:nvSpPr>
        <p:spPr>
          <a:xfrm>
            <a:off x="8668329" y="4873752"/>
            <a:ext cx="1533083" cy="187452"/>
          </a:xfrm>
          <a:prstGeom prst="rect">
            <a:avLst/>
          </a:prstGeom>
          <a:solidFill>
            <a:srgbClr val="C9D3E3"/>
          </a:solidFill>
          <a:ln w="12700">
            <a:solidFill>
              <a:srgbClr val="C9D3E3"/>
            </a:solidFill>
            <a:prstDash val="solid"/>
          </a:ln>
        </p:spPr>
      </p:sp>
      <p:sp>
        <p:nvSpPr>
          <p:cNvPr id="55" name="Text 52"/>
          <p:cNvSpPr txBox="1"/>
          <p:nvPr/>
        </p:nvSpPr>
        <p:spPr>
          <a:xfrm>
            <a:off x="685800" y="5116068"/>
            <a:ext cx="3337560" cy="297180"/>
          </a:xfrm>
          <a:prstGeom prst="rect">
            <a:avLst/>
          </a:prstGeom>
          <a:noFill/>
          <a:ln/>
        </p:spPr>
        <p:txBody>
          <a:bodyPr wrap="square" lIns="0" tIns="0" rIns="0" bIns="0" rtlCol="0" anchor="ctr"/>
          <a:lstStyle/>
          <a:p>
            <a:pPr algn="l" indent="0" marL="0">
              <a:buNone/>
            </a:pPr>
            <a:r>
              <a:rPr lang="en-US" sz="1050" dirty="0">
                <a:solidFill>
                  <a:srgbClr val="2A2F36"/>
                </a:solidFill>
                <a:latin typeface="Calibri" pitchFamily="34" charset="0"/>
                <a:ea typeface="Calibri" pitchFamily="34" charset="-122"/>
                <a:cs typeface="Calibri" pitchFamily="34" charset="-120"/>
              </a:rPr>
              <a:t>Go-live readiness review, then go-live</a:t>
            </a:r>
            <a:endParaRPr lang="en-US" sz="1050" dirty="0"/>
          </a:p>
        </p:txBody>
      </p:sp>
      <p:sp>
        <p:nvSpPr>
          <p:cNvPr id="56" name="Shape 53"/>
          <p:cNvSpPr/>
          <p:nvPr/>
        </p:nvSpPr>
        <p:spPr>
          <a:xfrm>
            <a:off x="8668329" y="5170932"/>
            <a:ext cx="383271" cy="187452"/>
          </a:xfrm>
          <a:prstGeom prst="rect">
            <a:avLst/>
          </a:prstGeom>
          <a:solidFill>
            <a:srgbClr val="14213D"/>
          </a:solidFill>
          <a:ln w="12700">
            <a:solidFill>
              <a:srgbClr val="14213D"/>
            </a:solidFill>
            <a:prstDash val="solid"/>
          </a:ln>
        </p:spPr>
      </p:sp>
      <p:sp>
        <p:nvSpPr>
          <p:cNvPr id="57" name="Shape 54"/>
          <p:cNvSpPr/>
          <p:nvPr/>
        </p:nvSpPr>
        <p:spPr>
          <a:xfrm>
            <a:off x="9051600" y="5170932"/>
            <a:ext cx="2682895" cy="187452"/>
          </a:xfrm>
          <a:prstGeom prst="rect">
            <a:avLst/>
          </a:prstGeom>
          <a:solidFill>
            <a:srgbClr val="C9D3E3"/>
          </a:solidFill>
          <a:ln w="12700">
            <a:solidFill>
              <a:srgbClr val="C9D3E3"/>
            </a:solidFill>
            <a:prstDash val="solid"/>
          </a:ln>
        </p:spPr>
      </p:sp>
      <p:sp>
        <p:nvSpPr>
          <p:cNvPr id="58" name="Shape 55"/>
          <p:cNvSpPr/>
          <p:nvPr/>
        </p:nvSpPr>
        <p:spPr>
          <a:xfrm>
            <a:off x="457200" y="5504688"/>
            <a:ext cx="3637178" cy="658368"/>
          </a:xfrm>
          <a:prstGeom prst="rect">
            <a:avLst/>
          </a:prstGeom>
          <a:solidFill>
            <a:srgbClr val="E8EDF5"/>
          </a:solidFill>
          <a:ln w="12700">
            <a:solidFill>
              <a:srgbClr val="E8EDF5"/>
            </a:solidFill>
            <a:prstDash val="solid"/>
          </a:ln>
        </p:spPr>
      </p:sp>
      <p:sp>
        <p:nvSpPr>
          <p:cNvPr id="59" name="Text 56"/>
          <p:cNvSpPr txBox="1"/>
          <p:nvPr/>
        </p:nvSpPr>
        <p:spPr>
          <a:xfrm>
            <a:off x="566928" y="5522976"/>
            <a:ext cx="3417722" cy="621792"/>
          </a:xfrm>
          <a:prstGeom prst="rect">
            <a:avLst/>
          </a:prstGeom>
          <a:noFill/>
          <a:ln/>
        </p:spPr>
        <p:txBody>
          <a:bodyPr wrap="square" lIns="0" tIns="0" rIns="0" bIns="0" rtlCol="0" anchor="ctr"/>
          <a:lstStyle/>
          <a:p>
            <a:pPr algn="l" indent="0" marL="0">
              <a:buNone/>
            </a:pPr>
            <a:r>
              <a:rPr lang="en-US" sz="950" b="1" dirty="0">
                <a:solidFill>
                  <a:srgbClr val="2A2F36"/>
                </a:solidFill>
                <a:latin typeface="Calibri" pitchFamily="34" charset="0"/>
                <a:ea typeface="Calibri" pitchFamily="34" charset="-122"/>
                <a:cs typeface="Calibri" pitchFamily="34" charset="-120"/>
              </a:rPr>
              <a:t>P1 exit:</a:t>
            </a:r>
            <a:pPr algn="l" indent="0" marL="0">
              <a:buNone/>
            </a:pPr>
            <a:r>
              <a:rPr lang="en-US" sz="950" dirty="0">
                <a:solidFill>
                  <a:srgbClr val="2A2F36"/>
                </a:solidFill>
                <a:latin typeface="Calibri" pitchFamily="34" charset="0"/>
                <a:ea typeface="Calibri" pitchFamily="34" charset="-122"/>
                <a:cs typeface="Calibri" pitchFamily="34" charset="-120"/>
              </a:rPr>
              <a:t> Each of the 6 remaining class-d clauses built or accepted by its owner. Full suite, interface sweep and journeys pass on the final bundle.</a:t>
            </a:r>
            <a:endParaRPr lang="en-US" sz="950" dirty="0"/>
          </a:p>
        </p:txBody>
      </p:sp>
      <p:sp>
        <p:nvSpPr>
          <p:cNvPr id="60" name="Shape 57"/>
          <p:cNvSpPr/>
          <p:nvPr/>
        </p:nvSpPr>
        <p:spPr>
          <a:xfrm>
            <a:off x="4277258" y="5504688"/>
            <a:ext cx="3637178" cy="658368"/>
          </a:xfrm>
          <a:prstGeom prst="rect">
            <a:avLst/>
          </a:prstGeom>
          <a:solidFill>
            <a:srgbClr val="E8EDF5"/>
          </a:solidFill>
          <a:ln w="12700">
            <a:solidFill>
              <a:srgbClr val="E8EDF5"/>
            </a:solidFill>
            <a:prstDash val="solid"/>
          </a:ln>
        </p:spPr>
      </p:sp>
      <p:sp>
        <p:nvSpPr>
          <p:cNvPr id="61" name="Text 58"/>
          <p:cNvSpPr txBox="1"/>
          <p:nvPr/>
        </p:nvSpPr>
        <p:spPr>
          <a:xfrm>
            <a:off x="4386986" y="5522976"/>
            <a:ext cx="3417722" cy="621792"/>
          </a:xfrm>
          <a:prstGeom prst="rect">
            <a:avLst/>
          </a:prstGeom>
          <a:noFill/>
          <a:ln/>
        </p:spPr>
        <p:txBody>
          <a:bodyPr wrap="square" lIns="0" tIns="0" rIns="0" bIns="0" rtlCol="0" anchor="ctr"/>
          <a:lstStyle/>
          <a:p>
            <a:pPr algn="l" indent="0" marL="0">
              <a:buNone/>
            </a:pPr>
            <a:r>
              <a:rPr lang="en-US" sz="950" b="1" dirty="0">
                <a:solidFill>
                  <a:srgbClr val="2A2F36"/>
                </a:solidFill>
                <a:latin typeface="Calibri" pitchFamily="34" charset="0"/>
                <a:ea typeface="Calibri" pitchFamily="34" charset="-122"/>
                <a:cs typeface="Calibri" pitchFamily="34" charset="-120"/>
              </a:rPr>
              <a:t>P2 exit:</a:t>
            </a:r>
            <a:pPr algn="l" indent="0" marL="0">
              <a:buNone/>
            </a:pPr>
            <a:r>
              <a:rPr lang="en-US" sz="950" dirty="0">
                <a:solidFill>
                  <a:srgbClr val="2A2F36"/>
                </a:solidFill>
                <a:latin typeface="Calibri" pitchFamily="34" charset="0"/>
                <a:ea typeface="Calibri" pitchFamily="34" charset="-122"/>
                <a:cs typeface="Calibri" pitchFamily="34" charset="-120"/>
              </a:rPr>
              <a:t> The same tree runs on the target and on a managed Windows laptop, with 8/8 smoke checks, making no network connections. Migration and load measured. Sign-on and service accounts working.</a:t>
            </a:r>
            <a:endParaRPr lang="en-US" sz="950" dirty="0"/>
          </a:p>
        </p:txBody>
      </p:sp>
      <p:sp>
        <p:nvSpPr>
          <p:cNvPr id="62" name="Shape 59"/>
          <p:cNvSpPr/>
          <p:nvPr/>
        </p:nvSpPr>
        <p:spPr>
          <a:xfrm>
            <a:off x="8097317" y="5504688"/>
            <a:ext cx="3637178" cy="658368"/>
          </a:xfrm>
          <a:prstGeom prst="rect">
            <a:avLst/>
          </a:prstGeom>
          <a:solidFill>
            <a:srgbClr val="E8EDF5"/>
          </a:solidFill>
          <a:ln w="12700">
            <a:solidFill>
              <a:srgbClr val="E8EDF5"/>
            </a:solidFill>
            <a:prstDash val="solid"/>
          </a:ln>
        </p:spPr>
      </p:sp>
      <p:sp>
        <p:nvSpPr>
          <p:cNvPr id="63" name="Text 60"/>
          <p:cNvSpPr txBox="1"/>
          <p:nvPr/>
        </p:nvSpPr>
        <p:spPr>
          <a:xfrm>
            <a:off x="8207045" y="5522976"/>
            <a:ext cx="3417722" cy="621792"/>
          </a:xfrm>
          <a:prstGeom prst="rect">
            <a:avLst/>
          </a:prstGeom>
          <a:noFill/>
          <a:ln/>
        </p:spPr>
        <p:txBody>
          <a:bodyPr wrap="square" lIns="0" tIns="0" rIns="0" bIns="0" rtlCol="0" anchor="ctr"/>
          <a:lstStyle/>
          <a:p>
            <a:pPr algn="l" indent="0" marL="0">
              <a:buNone/>
            </a:pPr>
            <a:r>
              <a:rPr lang="en-US" sz="950" b="1" dirty="0">
                <a:solidFill>
                  <a:srgbClr val="2A2F36"/>
                </a:solidFill>
                <a:latin typeface="Calibri" pitchFamily="34" charset="0"/>
                <a:ea typeface="Calibri" pitchFamily="34" charset="-122"/>
                <a:cs typeface="Calibri" pitchFamily="34" charset="-120"/>
              </a:rPr>
              <a:t>P3 exit:</a:t>
            </a:r>
            <a:pPr algn="l" indent="0" marL="0">
              <a:buNone/>
            </a:pPr>
            <a:r>
              <a:rPr lang="en-US" sz="950" dirty="0">
                <a:solidFill>
                  <a:srgbClr val="2A2F36"/>
                </a:solidFill>
                <a:latin typeface="Calibri" pitchFamily="34" charset="0"/>
                <a:ea typeface="Calibri" pitchFamily="34" charset="-122"/>
                <a:cs typeface="Calibri" pitchFamily="34" charset="-120"/>
              </a:rPr>
              <a:t> Business owners accept UAT. Real rules and taxonomy loaded. Backups scheduled with a named owner. Exactly one scheduler running.</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F  ·  ROAD TO PRODUCTION</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Clear ownership: engineering builds, the deploying team runs it, the business owns the rules, and leadership owns the risk calls</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Proposed allocation for leadership confirmation. Basis: HANDOVER.md §8 (the network request, the hardware run and the v15/v16 decision need people); docs/product/07-assumptions-and-gaps.md 'Settles it' entries. R = responsible, A = accountable, C = consulted, I = informed.</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41</a:t>
            </a:r>
            <a:endParaRPr lang="en-US" sz="9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7295" cy="914400"/>
        </p:xfrm>
        <a:graphic>
          <a:graphicData uri="http://schemas.openxmlformats.org/drawingml/2006/table">
            <a:tbl>
              <a:tblPr/>
              <a:tblGrid>
                <a:gridCol w="3227832"/>
                <a:gridCol w="1188720"/>
                <a:gridCol w="1325880"/>
                <a:gridCol w="1417320"/>
                <a:gridCol w="1280160"/>
                <a:gridCol w="1737360"/>
                <a:gridCol w="1097280"/>
              </a:tblGrid>
              <a:tr h="56692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Activity</a:t>
                      </a:r>
                      <a:endParaRPr lang="en-US" sz="10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Executive sponsor</a:t>
                      </a:r>
                      <a:endParaRPr lang="en-US" sz="10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Delivery engineering</a:t>
                      </a:r>
                      <a:endParaRPr lang="en-US" sz="10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Infrastructure / deploying team</a:t>
                      </a:r>
                      <a:endParaRPr lang="en-US" sz="10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Information security</a:t>
                      </a:r>
                      <a:endParaRPr lang="en-US" sz="10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Business owners (governance, policy, escalation)</a:t>
                      </a:r>
                      <a:endParaRPr lang="en-US" sz="10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Internal audit</a:t>
                      </a:r>
                      <a:endParaRPr lang="en-US" sz="10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429768">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Framework version decision (v15 vs v16)</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553D"/>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BE9E4"/>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Rebase onto v16 and full re-verification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553D"/>
                          </a:solidFill>
                          <a:latin typeface="Calibri" pitchFamily="34" charset="0"/>
                          <a:ea typeface="Calibri" pitchFamily="34" charset="-122"/>
                          <a:cs typeface="Calibri" pitchFamily="34" charset="-120"/>
                        </a:rPr>
                        <a:t>A/R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BE9E4"/>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Target environment, certificates, ports, service accounts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553D"/>
                          </a:solidFill>
                          <a:latin typeface="Calibri" pitchFamily="34" charset="0"/>
                          <a:ea typeface="Calibri" pitchFamily="34" charset="-122"/>
                          <a:cs typeface="Calibri" pitchFamily="34" charset="-120"/>
                        </a:rPr>
                        <a:t>A/R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BE9E4"/>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Migration, load and upgrade rehearsal</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553D"/>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BE9E4"/>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Write-once storage and backup ownership</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553D"/>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BE9E4"/>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Single sign-on protocol and configuration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553D"/>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BE9E4"/>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Classification rules, taxonomy, closure criteria</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553D"/>
                          </a:solidFill>
                          <a:latin typeface="Calibri" pitchFamily="34" charset="0"/>
                          <a:ea typeface="Calibri" pitchFamily="34" charset="-122"/>
                          <a:cs typeface="Calibri" pitchFamily="34" charset="-120"/>
                        </a:rPr>
                        <a:t>A/R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BE9E4"/>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User acceptance and go-live acceptance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553D"/>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BE9E4"/>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29768">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AI position and any AI endpoint</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553D"/>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BE9E4"/>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2F36"/>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F  ·  ROAD TO PRODUCTION</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The top risk is the framework's second-class PostgreSQL support in v15; rebasing onto v16 before go-live is the main mitigation</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HANDOVER.md §7 (risk table); docs/product/07-assumptions-and-gaps.md A-1, A-4, B-1, B-4, B-6; docs/product/04-architecture.md §9.3; docs/guides/07-help-and-ai.md; docs/delivery/DEPLOYMENT-READINESS.md §1 (dependency fork verified by content).</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42</a:t>
            </a:r>
            <a:endParaRPr lang="en-US" sz="9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7295" cy="914400"/>
        </p:xfrm>
        <a:graphic>
          <a:graphicData uri="http://schemas.openxmlformats.org/drawingml/2006/table">
            <a:tbl>
              <a:tblPr/>
              <a:tblGrid>
                <a:gridCol w="4206240"/>
                <a:gridCol w="914400"/>
                <a:gridCol w="4325112"/>
                <a:gridCol w="1828800"/>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Risk</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Severity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Mitigation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50292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Framework v15 treats PostgreSQL as second-class; fixes will target v16 only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8553D"/>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Rebase onto v16 before target rehearsal; porting work is version-agnostic</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Sponsor / engineering</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Unknown database divergences appear under load or during migration (3–4 already found and fixed; stand-in rehearsal clean)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8553D"/>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Migration and load rehearsal on the target with representative data, not a smoke test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Infrastructure / engineering</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Write-once storage undecided: the control is tamper-evident, not write-once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8553D"/>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Storage decision with a named owner; describe the control accurately until then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Risk function / infrastructure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Never run on real Windows hardware; Windows workers have no crash isolation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Front-load the managed-laptop run; run several supervised workers; production is Linux</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Engineering</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38912">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SAML mandated: not available in the framework</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Confirm the protocol now; if SAML, estimate a separate component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Information security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Business rules not supplied (classification, taxonomy, closure criteria)</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Engines ship without them; named owners and one working session each</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Business owners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Platform pins: Python 3.11 on x86_64 only (hiredis blocks 3.12, psutil blocks ARM)</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Provision Python 3.11 x86_64; raise the pins before any 3.12 or ARM target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Engineering / infrastructure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38912">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AI endpoint discloses restricted content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Off by default; 'guidance only' sends no record contents; every request logged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Information security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F  ·  ROAD TO PRODUCTION</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Recommendation: rebase onto framework v16 before go-live. The porting work carries over, and v15 PostgreSQL fixes are not coming</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HANDOVER.md §7 (quoted framework notice; recommendation to rebase), §8 (an architecture call for people); docs/product/07-assumptions-and-gaps.md A-4; docs/delivery/SESSION-SUMMARY.md; policy/tests/test_regressions.py (TestImplementationGate).</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43</a:t>
            </a:r>
            <a:endParaRPr lang="en-US" sz="900" dirty="0"/>
          </a:p>
        </p:txBody>
      </p:sp>
      <p:sp>
        <p:nvSpPr>
          <p:cNvPr id="7" name="Shape 4"/>
          <p:cNvSpPr/>
          <p:nvPr/>
        </p:nvSpPr>
        <p:spPr>
          <a:xfrm>
            <a:off x="457200" y="1600200"/>
            <a:ext cx="5501488" cy="548640"/>
          </a:xfrm>
          <a:prstGeom prst="rect">
            <a:avLst/>
          </a:prstGeom>
          <a:solidFill>
            <a:srgbClr val="5B6B82"/>
          </a:solidFill>
          <a:ln w="12700">
            <a:solidFill>
              <a:srgbClr val="5B6B82"/>
            </a:solidFill>
            <a:prstDash val="solid"/>
          </a:ln>
        </p:spPr>
      </p:sp>
      <p:sp>
        <p:nvSpPr>
          <p:cNvPr id="8" name="Text 5"/>
          <p:cNvSpPr txBox="1"/>
          <p:nvPr/>
        </p:nvSpPr>
        <p:spPr>
          <a:xfrm>
            <a:off x="640080" y="1600200"/>
            <a:ext cx="5135728" cy="54864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Option A — stay on v15</a:t>
            </a:r>
            <a:endParaRPr lang="en-US" sz="1500" dirty="0"/>
          </a:p>
        </p:txBody>
      </p:sp>
      <p:sp>
        <p:nvSpPr>
          <p:cNvPr id="9" name="Shape 6"/>
          <p:cNvSpPr/>
          <p:nvPr/>
        </p:nvSpPr>
        <p:spPr>
          <a:xfrm>
            <a:off x="457200" y="2148840"/>
            <a:ext cx="5501488" cy="2926080"/>
          </a:xfrm>
          <a:prstGeom prst="rect">
            <a:avLst/>
          </a:prstGeom>
          <a:solidFill>
            <a:srgbClr val="F2F4F7"/>
          </a:solidFill>
          <a:ln w="12700">
            <a:solidFill>
              <a:srgbClr val="F2F4F7"/>
            </a:solidFill>
            <a:prstDash val="solid"/>
          </a:ln>
        </p:spPr>
      </p:sp>
      <p:sp>
        <p:nvSpPr>
          <p:cNvPr id="10" name="Text 7"/>
          <p:cNvSpPr txBox="1"/>
          <p:nvPr/>
        </p:nvSpPr>
        <p:spPr>
          <a:xfrm>
            <a:off x="640080" y="2286000"/>
            <a:ext cx="5135728" cy="2743200"/>
          </a:xfrm>
          <a:prstGeom prst="rect">
            <a:avLst/>
          </a:prstGeom>
          <a:noFill/>
          <a:ln/>
        </p:spPr>
        <p:txBody>
          <a:bodyPr wrap="square" lIns="0" tIns="0" rIns="0" bIns="0" rtlCol="0" anchor="t"/>
          <a:lstStyle/>
          <a:p>
            <a:pPr algn="l" indent="0" marL="0">
              <a:spcAft>
                <a:spcPts val="300"/>
              </a:spcAft>
              <a:buNone/>
            </a:pPr>
            <a:r>
              <a:rPr lang="en-US" sz="1200" b="1" dirty="0">
                <a:solidFill>
                  <a:srgbClr val="14213D"/>
                </a:solidFill>
                <a:latin typeface="Calibri" pitchFamily="34" charset="0"/>
                <a:ea typeface="Calibri" pitchFamily="34" charset="-122"/>
                <a:cs typeface="Calibri" pitchFamily="34" charset="-120"/>
              </a:rPr>
              <a:t>For</a:t>
            </a:r>
            <a:endParaRPr lang="en-US" sz="12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  No rebase effort now</a:t>
            </a:r>
            <a:endParaRPr lang="en-US" sz="1200" dirty="0"/>
          </a:p>
          <a:p>
            <a:pPr algn="l" indent="0" marL="0">
              <a:spcAft>
                <a:spcPts val="200"/>
              </a:spcAft>
              <a:buNone/>
            </a:pPr>
            <a:r>
              <a:rPr lang="en-US" sz="1200" dirty="0">
                <a:solidFill>
                  <a:srgbClr val="2A2F36"/>
                </a:solidFill>
                <a:latin typeface="Calibri" pitchFamily="34" charset="0"/>
                <a:ea typeface="Calibri" pitchFamily="34" charset="-122"/>
                <a:cs typeface="Calibri" pitchFamily="34" charset="-120"/>
              </a:rPr>
              <a:t> </a:t>
            </a:r>
            <a:endParaRPr lang="en-US" sz="1200" dirty="0"/>
          </a:p>
          <a:p>
            <a:pPr algn="l" indent="0" marL="0">
              <a:spcAft>
                <a:spcPts val="300"/>
              </a:spcAft>
              <a:buNone/>
            </a:pPr>
            <a:r>
              <a:rPr lang="en-US" sz="1200" b="1" dirty="0">
                <a:solidFill>
                  <a:srgbClr val="C8553D"/>
                </a:solidFill>
                <a:latin typeface="Calibri" pitchFamily="34" charset="0"/>
                <a:ea typeface="Calibri" pitchFamily="34" charset="-122"/>
                <a:cs typeface="Calibri" pitchFamily="34" charset="-120"/>
              </a:rPr>
              <a:t>Against</a:t>
            </a:r>
            <a:endParaRPr lang="en-US" sz="12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  The framework's own notice: PostgreSQL support is limited to v16 and above; fixes for earlier versions will not be added</a:t>
            </a:r>
            <a:endParaRPr lang="en-US" sz="12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  3–4 database divergences already found and fixed by us, with no basis to assume that is all</a:t>
            </a:r>
            <a:endParaRPr lang="en-US" sz="12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  Every future PostgreSQL defect is ours to find and fix</a:t>
            </a:r>
            <a:endParaRPr lang="en-US" sz="1200" dirty="0"/>
          </a:p>
        </p:txBody>
      </p:sp>
      <p:sp>
        <p:nvSpPr>
          <p:cNvPr id="11" name="Shape 8"/>
          <p:cNvSpPr/>
          <p:nvPr/>
        </p:nvSpPr>
        <p:spPr>
          <a:xfrm>
            <a:off x="6233008" y="1600200"/>
            <a:ext cx="5501488" cy="548640"/>
          </a:xfrm>
          <a:prstGeom prst="rect">
            <a:avLst/>
          </a:prstGeom>
          <a:solidFill>
            <a:srgbClr val="14213D"/>
          </a:solidFill>
          <a:ln w="12700">
            <a:solidFill>
              <a:srgbClr val="14213D"/>
            </a:solidFill>
            <a:prstDash val="solid"/>
          </a:ln>
        </p:spPr>
      </p:sp>
      <p:sp>
        <p:nvSpPr>
          <p:cNvPr id="12" name="Text 9"/>
          <p:cNvSpPr txBox="1"/>
          <p:nvPr/>
        </p:nvSpPr>
        <p:spPr>
          <a:xfrm>
            <a:off x="6415888" y="1600200"/>
            <a:ext cx="5135728" cy="54864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Option B — rebase onto v16 (recommended)</a:t>
            </a:r>
            <a:endParaRPr lang="en-US" sz="1500" dirty="0"/>
          </a:p>
        </p:txBody>
      </p:sp>
      <p:sp>
        <p:nvSpPr>
          <p:cNvPr id="13" name="Shape 10"/>
          <p:cNvSpPr/>
          <p:nvPr/>
        </p:nvSpPr>
        <p:spPr>
          <a:xfrm>
            <a:off x="6233008" y="2148840"/>
            <a:ext cx="5501488" cy="2926080"/>
          </a:xfrm>
          <a:prstGeom prst="rect">
            <a:avLst/>
          </a:prstGeom>
          <a:solidFill>
            <a:srgbClr val="F2F4F7"/>
          </a:solidFill>
          <a:ln w="12700">
            <a:solidFill>
              <a:srgbClr val="F2F4F7"/>
            </a:solidFill>
            <a:prstDash val="solid"/>
          </a:ln>
        </p:spPr>
      </p:sp>
      <p:sp>
        <p:nvSpPr>
          <p:cNvPr id="14" name="Text 11"/>
          <p:cNvSpPr txBox="1"/>
          <p:nvPr/>
        </p:nvSpPr>
        <p:spPr>
          <a:xfrm>
            <a:off x="6415888" y="2286000"/>
            <a:ext cx="5135728" cy="2743200"/>
          </a:xfrm>
          <a:prstGeom prst="rect">
            <a:avLst/>
          </a:prstGeom>
          <a:noFill/>
          <a:ln/>
        </p:spPr>
        <p:txBody>
          <a:bodyPr wrap="square" lIns="0" tIns="0" rIns="0" bIns="0" rtlCol="0" anchor="t"/>
          <a:lstStyle/>
          <a:p>
            <a:pPr algn="l" indent="0" marL="0">
              <a:spcAft>
                <a:spcPts val="300"/>
              </a:spcAft>
              <a:buNone/>
            </a:pPr>
            <a:r>
              <a:rPr lang="en-US" sz="1200" b="1" dirty="0">
                <a:solidFill>
                  <a:srgbClr val="14213D"/>
                </a:solidFill>
                <a:latin typeface="Calibri" pitchFamily="34" charset="0"/>
                <a:ea typeface="Calibri" pitchFamily="34" charset="-122"/>
                <a:cs typeface="Calibri" pitchFamily="34" charset="-120"/>
              </a:rPr>
              <a:t>For</a:t>
            </a:r>
            <a:endParaRPr lang="en-US" sz="12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  The framework's supported path for PostgreSQL</a:t>
            </a:r>
            <a:endParaRPr lang="en-US" sz="12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  Porting work is version-agnostic: runtime patches, no fork</a:t>
            </a:r>
            <a:endParaRPr lang="en-US" sz="12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  Done before rehearsal, so we rehearse what we ship</a:t>
            </a:r>
            <a:endParaRPr lang="en-US" sz="1200" dirty="0"/>
          </a:p>
          <a:p>
            <a:pPr algn="l" indent="0" marL="0">
              <a:spcAft>
                <a:spcPts val="200"/>
              </a:spcAft>
              <a:buNone/>
            </a:pPr>
            <a:r>
              <a:rPr lang="en-US" sz="1200" dirty="0">
                <a:solidFill>
                  <a:srgbClr val="2A2F36"/>
                </a:solidFill>
                <a:latin typeface="Calibri" pitchFamily="34" charset="0"/>
                <a:ea typeface="Calibri" pitchFamily="34" charset="-122"/>
                <a:cs typeface="Calibri" pitchFamily="34" charset="-120"/>
              </a:rPr>
              <a:t> </a:t>
            </a:r>
            <a:endParaRPr lang="en-US" sz="1200" dirty="0"/>
          </a:p>
          <a:p>
            <a:pPr algn="l" indent="0" marL="0">
              <a:spcAft>
                <a:spcPts val="300"/>
              </a:spcAft>
              <a:buNone/>
            </a:pPr>
            <a:r>
              <a:rPr lang="en-US" sz="1200" b="1" dirty="0">
                <a:solidFill>
                  <a:srgbClr val="C8553D"/>
                </a:solidFill>
                <a:latin typeface="Calibri" pitchFamily="34" charset="0"/>
                <a:ea typeface="Calibri" pitchFamily="34" charset="-122"/>
                <a:cs typeface="Calibri" pitchFamily="34" charset="-120"/>
              </a:rPr>
              <a:t>Against</a:t>
            </a:r>
            <a:endParaRPr lang="en-US" sz="12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  Rebase effort plus full re-verification: test suite, interface sweep, offline bundle rebuild</a:t>
            </a:r>
            <a:endParaRPr lang="en-US" sz="12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  v16 still needs the same real-Windows proof</a:t>
            </a:r>
            <a:endParaRPr lang="en-US" sz="1200" dirty="0"/>
          </a:p>
        </p:txBody>
      </p:sp>
      <p:sp>
        <p:nvSpPr>
          <p:cNvPr id="15" name="Shape 12"/>
          <p:cNvSpPr/>
          <p:nvPr/>
        </p:nvSpPr>
        <p:spPr>
          <a:xfrm>
            <a:off x="457200" y="5257800"/>
            <a:ext cx="11277295" cy="868680"/>
          </a:xfrm>
          <a:prstGeom prst="rect">
            <a:avLst/>
          </a:prstGeom>
          <a:solidFill>
            <a:srgbClr val="14213D"/>
          </a:solidFill>
          <a:ln w="12700">
            <a:solidFill>
              <a:srgbClr val="14213D"/>
            </a:solidFill>
            <a:prstDash val="solid"/>
          </a:ln>
        </p:spPr>
      </p:sp>
      <p:sp>
        <p:nvSpPr>
          <p:cNvPr id="16" name="Text 13"/>
          <p:cNvSpPr txBox="1"/>
          <p:nvPr/>
        </p:nvSpPr>
        <p:spPr>
          <a:xfrm>
            <a:off x="685800" y="5257800"/>
            <a:ext cx="10820095" cy="86868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Recommendation:</a:t>
            </a:r>
            <a:pPr algn="l" indent="0" marL="0">
              <a:buNone/>
            </a:pPr>
            <a:r>
              <a:rPr lang="en-US" sz="1300" dirty="0">
                <a:solidFill>
                  <a:srgbClr val="FFFFFF"/>
                </a:solidFill>
                <a:latin typeface="Calibri" pitchFamily="34" charset="0"/>
                <a:ea typeface="Calibri" pitchFamily="34" charset="-122"/>
                <a:cs typeface="Calibri" pitchFamily="34" charset="-120"/>
              </a:rPr>
              <a:t> approve the rebase onto v16 now and schedule it at the start of Phase 2, before any target rehearsal. </a:t>
            </a:r>
            <a:pPr algn="l" indent="0" marL="0">
              <a:buNone/>
            </a:pPr>
            <a:r>
              <a:rPr lang="en-US" sz="1300" b="1" dirty="0">
                <a:solidFill>
                  <a:srgbClr val="FFFFFF"/>
                </a:solidFill>
                <a:latin typeface="Calibri" pitchFamily="34" charset="0"/>
                <a:ea typeface="Calibri" pitchFamily="34" charset="-122"/>
                <a:cs typeface="Calibri" pitchFamily="34" charset="-120"/>
              </a:rPr>
              <a:t>Decision owner:</a:t>
            </a:r>
            <a:pPr algn="l" indent="0" marL="0">
              <a:buNone/>
            </a:pPr>
            <a:r>
              <a:rPr lang="en-US" sz="1300" dirty="0">
                <a:solidFill>
                  <a:srgbClr val="FFFFFF"/>
                </a:solidFill>
                <a:latin typeface="Calibri" pitchFamily="34" charset="0"/>
                <a:ea typeface="Calibri" pitchFamily="34" charset="-122"/>
                <a:cs typeface="Calibri" pitchFamily="34" charset="-120"/>
              </a:rPr>
              <a:t> executive sponsor, on the engineering lead's advice.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Decisions and asks: five approvals today put Consilium on a gated path to production</a:t>
            </a:r>
            <a:endParaRPr lang="en-US" sz="2200" dirty="0"/>
          </a:p>
        </p:txBody>
      </p:sp>
      <p:sp>
        <p:nvSpPr>
          <p:cNvPr id="3" name="Text 1"/>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slides 3, 37, 40–43. Owners and timing are proposals for confirmation in this meeting.</a:t>
            </a:r>
            <a:endParaRPr lang="en-US" sz="900" dirty="0"/>
          </a:p>
        </p:txBody>
      </p:sp>
      <p:sp>
        <p:nvSpPr>
          <p:cNvPr id="4" name="Text 2"/>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44</a:t>
            </a:r>
            <a:endParaRPr lang="en-US" sz="900" dirty="0"/>
          </a:p>
        </p:txBody>
      </p:sp>
      <p:sp>
        <p:nvSpPr>
          <p:cNvPr id="6" name="Shape 3"/>
          <p:cNvSpPr/>
          <p:nvPr/>
        </p:nvSpPr>
        <p:spPr>
          <a:xfrm>
            <a:off x="457200" y="1645920"/>
            <a:ext cx="11277295" cy="713232"/>
          </a:xfrm>
          <a:prstGeom prst="rect">
            <a:avLst/>
          </a:prstGeom>
          <a:solidFill>
            <a:srgbClr val="F2F4F7"/>
          </a:solidFill>
          <a:ln w="12700">
            <a:solidFill>
              <a:srgbClr val="F2F4F7"/>
            </a:solidFill>
            <a:prstDash val="solid"/>
          </a:ln>
        </p:spPr>
      </p:sp>
      <p:sp>
        <p:nvSpPr>
          <p:cNvPr id="7" name="Shape 4"/>
          <p:cNvSpPr/>
          <p:nvPr/>
        </p:nvSpPr>
        <p:spPr>
          <a:xfrm>
            <a:off x="640080" y="1828800"/>
            <a:ext cx="347472" cy="347472"/>
          </a:xfrm>
          <a:prstGeom prst="ellipse">
            <a:avLst/>
          </a:prstGeom>
          <a:solidFill>
            <a:srgbClr val="C8553D"/>
          </a:solidFill>
          <a:ln w="12700">
            <a:solidFill>
              <a:srgbClr val="C8553D"/>
            </a:solidFill>
            <a:prstDash val="solid"/>
          </a:ln>
        </p:spPr>
      </p:sp>
      <p:sp>
        <p:nvSpPr>
          <p:cNvPr id="8" name="Text 5"/>
          <p:cNvSpPr txBox="1"/>
          <p:nvPr/>
        </p:nvSpPr>
        <p:spPr>
          <a:xfrm>
            <a:off x="640080" y="18288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188720" y="1645920"/>
            <a:ext cx="6949440" cy="713232"/>
          </a:xfrm>
          <a:prstGeom prst="rect">
            <a:avLst/>
          </a:prstGeom>
          <a:noFill/>
          <a:ln/>
        </p:spPr>
        <p:txBody>
          <a:bodyPr wrap="square" lIns="0" tIns="0" rIns="0" bIns="0" rtlCol="0" anchor="ctr"/>
          <a:lstStyle/>
          <a:p>
            <a:pPr algn="l" indent="0" marL="0">
              <a:buNone/>
            </a:pPr>
            <a:r>
              <a:rPr lang="en-US" sz="1300" b="1" dirty="0">
                <a:solidFill>
                  <a:srgbClr val="14213D"/>
                </a:solidFill>
                <a:latin typeface="Calibri" pitchFamily="34" charset="0"/>
                <a:ea typeface="Calibri" pitchFamily="34" charset="-122"/>
                <a:cs typeface="Calibri" pitchFamily="34" charset="-120"/>
              </a:rPr>
              <a:t>Rebase onto framework v16 before go-live</a:t>
            </a:r>
            <a:endParaRPr lang="en-US" sz="1300" dirty="0"/>
          </a:p>
        </p:txBody>
      </p:sp>
      <p:sp>
        <p:nvSpPr>
          <p:cNvPr id="10" name="Text 7"/>
          <p:cNvSpPr txBox="1"/>
          <p:nvPr/>
        </p:nvSpPr>
        <p:spPr>
          <a:xfrm>
            <a:off x="8321040" y="1719072"/>
            <a:ext cx="1920240" cy="585216"/>
          </a:xfrm>
          <a:prstGeom prst="rect">
            <a:avLst/>
          </a:prstGeom>
          <a:noFill/>
          <a:ln/>
        </p:spPr>
        <p:txBody>
          <a:bodyPr wrap="square" lIns="0" tIns="0" rIns="0" bIns="0" rtlCol="0" anchor="ctr"/>
          <a:lstStyle/>
          <a:p>
            <a:pPr algn="l" indent="0" marL="0">
              <a:buNone/>
            </a:pPr>
            <a:r>
              <a:rPr lang="en-US" sz="900" b="1" dirty="0">
                <a:solidFill>
                  <a:srgbClr val="6B7380"/>
                </a:solidFill>
                <a:latin typeface="Calibri" pitchFamily="34" charset="0"/>
                <a:ea typeface="Calibri" pitchFamily="34" charset="-122"/>
                <a:cs typeface="Calibri" pitchFamily="34" charset="-120"/>
              </a:rPr>
              <a:t>OWNER</a:t>
            </a:r>
            <a:endParaRPr lang="en-US" sz="9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Executive sponsor</a:t>
            </a:r>
            <a:endParaRPr lang="en-US" sz="900" dirty="0"/>
          </a:p>
        </p:txBody>
      </p:sp>
      <p:sp>
        <p:nvSpPr>
          <p:cNvPr id="11" name="Text 8"/>
          <p:cNvSpPr txBox="1"/>
          <p:nvPr/>
        </p:nvSpPr>
        <p:spPr>
          <a:xfrm>
            <a:off x="10332720" y="1719072"/>
            <a:ext cx="1325880" cy="585216"/>
          </a:xfrm>
          <a:prstGeom prst="rect">
            <a:avLst/>
          </a:prstGeom>
          <a:noFill/>
          <a:ln/>
        </p:spPr>
        <p:txBody>
          <a:bodyPr wrap="square" lIns="0" tIns="0" rIns="0" bIns="0" rtlCol="0" anchor="ctr"/>
          <a:lstStyle/>
          <a:p>
            <a:pPr algn="l" indent="0" marL="0">
              <a:buNone/>
            </a:pPr>
            <a:r>
              <a:rPr lang="en-US" sz="900" b="1" dirty="0">
                <a:solidFill>
                  <a:srgbClr val="6B7380"/>
                </a:solidFill>
                <a:latin typeface="Calibri" pitchFamily="34" charset="0"/>
                <a:ea typeface="Calibri" pitchFamily="34" charset="-122"/>
                <a:cs typeface="Calibri" pitchFamily="34" charset="-120"/>
              </a:rPr>
              <a:t>NEEDED BY</a:t>
            </a:r>
            <a:endParaRPr lang="en-US" sz="900" dirty="0"/>
          </a:p>
          <a:p>
            <a:pPr algn="l" indent="0" marL="0">
              <a:spcAft>
                <a:spcPts val="400"/>
              </a:spcAft>
              <a:buNone/>
            </a:pPr>
            <a:r>
              <a:rPr lang="en-US" sz="1200" b="1" dirty="0">
                <a:solidFill>
                  <a:srgbClr val="C8553D"/>
                </a:solidFill>
                <a:latin typeface="Calibri" pitchFamily="34" charset="0"/>
                <a:ea typeface="Calibri" pitchFamily="34" charset="-122"/>
                <a:cs typeface="Calibri" pitchFamily="34" charset="-120"/>
              </a:rPr>
              <a:t>Today</a:t>
            </a:r>
            <a:endParaRPr lang="en-US" sz="900" dirty="0"/>
          </a:p>
        </p:txBody>
      </p:sp>
      <p:sp>
        <p:nvSpPr>
          <p:cNvPr id="12" name="Shape 9"/>
          <p:cNvSpPr/>
          <p:nvPr/>
        </p:nvSpPr>
        <p:spPr>
          <a:xfrm>
            <a:off x="457200" y="2450592"/>
            <a:ext cx="11277295" cy="713232"/>
          </a:xfrm>
          <a:prstGeom prst="rect">
            <a:avLst/>
          </a:prstGeom>
          <a:solidFill>
            <a:srgbClr val="F2F4F7"/>
          </a:solidFill>
          <a:ln w="12700">
            <a:solidFill>
              <a:srgbClr val="F2F4F7"/>
            </a:solidFill>
            <a:prstDash val="solid"/>
          </a:ln>
        </p:spPr>
      </p:sp>
      <p:sp>
        <p:nvSpPr>
          <p:cNvPr id="13" name="Shape 10"/>
          <p:cNvSpPr/>
          <p:nvPr/>
        </p:nvSpPr>
        <p:spPr>
          <a:xfrm>
            <a:off x="640080" y="2633472"/>
            <a:ext cx="347472" cy="347472"/>
          </a:xfrm>
          <a:prstGeom prst="ellipse">
            <a:avLst/>
          </a:prstGeom>
          <a:solidFill>
            <a:srgbClr val="C8553D"/>
          </a:solidFill>
          <a:ln w="12700">
            <a:solidFill>
              <a:srgbClr val="C8553D"/>
            </a:solidFill>
            <a:prstDash val="solid"/>
          </a:ln>
        </p:spPr>
      </p:sp>
      <p:sp>
        <p:nvSpPr>
          <p:cNvPr id="14" name="Text 11"/>
          <p:cNvSpPr txBox="1"/>
          <p:nvPr/>
        </p:nvSpPr>
        <p:spPr>
          <a:xfrm>
            <a:off x="640080" y="26334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txBox="1"/>
          <p:nvPr/>
        </p:nvSpPr>
        <p:spPr>
          <a:xfrm>
            <a:off x="1188720" y="2450592"/>
            <a:ext cx="6949440" cy="713232"/>
          </a:xfrm>
          <a:prstGeom prst="rect">
            <a:avLst/>
          </a:prstGeom>
          <a:noFill/>
          <a:ln/>
        </p:spPr>
        <p:txBody>
          <a:bodyPr wrap="square" lIns="0" tIns="0" rIns="0" bIns="0" rtlCol="0" anchor="ctr"/>
          <a:lstStyle/>
          <a:p>
            <a:pPr algn="l" indent="0" marL="0">
              <a:buNone/>
            </a:pPr>
            <a:r>
              <a:rPr lang="en-US" sz="1300" b="1" dirty="0">
                <a:solidFill>
                  <a:srgbClr val="14213D"/>
                </a:solidFill>
                <a:latin typeface="Calibri" pitchFamily="34" charset="0"/>
                <a:ea typeface="Calibri" pitchFamily="34" charset="-122"/>
                <a:cs typeface="Calibri" pitchFamily="34" charset="-120"/>
              </a:rPr>
              <a:t>Provide the target environment and name one infrastructure owner (certificates, ports, service accounts, write-once storage, backups)</a:t>
            </a:r>
            <a:endParaRPr lang="en-US" sz="1300" dirty="0"/>
          </a:p>
        </p:txBody>
      </p:sp>
      <p:sp>
        <p:nvSpPr>
          <p:cNvPr id="16" name="Text 13"/>
          <p:cNvSpPr txBox="1"/>
          <p:nvPr/>
        </p:nvSpPr>
        <p:spPr>
          <a:xfrm>
            <a:off x="8321040" y="2523744"/>
            <a:ext cx="1920240" cy="585216"/>
          </a:xfrm>
          <a:prstGeom prst="rect">
            <a:avLst/>
          </a:prstGeom>
          <a:noFill/>
          <a:ln/>
        </p:spPr>
        <p:txBody>
          <a:bodyPr wrap="square" lIns="0" tIns="0" rIns="0" bIns="0" rtlCol="0" anchor="ctr"/>
          <a:lstStyle/>
          <a:p>
            <a:pPr algn="l" indent="0" marL="0">
              <a:buNone/>
            </a:pPr>
            <a:r>
              <a:rPr lang="en-US" sz="900" b="1" dirty="0">
                <a:solidFill>
                  <a:srgbClr val="6B7380"/>
                </a:solidFill>
                <a:latin typeface="Calibri" pitchFamily="34" charset="0"/>
                <a:ea typeface="Calibri" pitchFamily="34" charset="-122"/>
                <a:cs typeface="Calibri" pitchFamily="34" charset="-120"/>
              </a:rPr>
              <a:t>OWNER</a:t>
            </a:r>
            <a:endParaRPr lang="en-US" sz="9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Infrastructure lead</a:t>
            </a:r>
            <a:endParaRPr lang="en-US" sz="900" dirty="0"/>
          </a:p>
        </p:txBody>
      </p:sp>
      <p:sp>
        <p:nvSpPr>
          <p:cNvPr id="17" name="Text 14"/>
          <p:cNvSpPr txBox="1"/>
          <p:nvPr/>
        </p:nvSpPr>
        <p:spPr>
          <a:xfrm>
            <a:off x="10332720" y="2523744"/>
            <a:ext cx="1325880" cy="585216"/>
          </a:xfrm>
          <a:prstGeom prst="rect">
            <a:avLst/>
          </a:prstGeom>
          <a:noFill/>
          <a:ln/>
        </p:spPr>
        <p:txBody>
          <a:bodyPr wrap="square" lIns="0" tIns="0" rIns="0" bIns="0" rtlCol="0" anchor="ctr"/>
          <a:lstStyle/>
          <a:p>
            <a:pPr algn="l" indent="0" marL="0">
              <a:buNone/>
            </a:pPr>
            <a:r>
              <a:rPr lang="en-US" sz="900" b="1" dirty="0">
                <a:solidFill>
                  <a:srgbClr val="6B7380"/>
                </a:solidFill>
                <a:latin typeface="Calibri" pitchFamily="34" charset="0"/>
                <a:ea typeface="Calibri" pitchFamily="34" charset="-122"/>
                <a:cs typeface="Calibri" pitchFamily="34" charset="-120"/>
              </a:rPr>
              <a:t>NEEDED BY</a:t>
            </a:r>
            <a:endParaRPr lang="en-US" sz="900" dirty="0"/>
          </a:p>
          <a:p>
            <a:pPr algn="l" indent="0" marL="0">
              <a:spcAft>
                <a:spcPts val="400"/>
              </a:spcAft>
              <a:buNone/>
            </a:pPr>
            <a:r>
              <a:rPr lang="en-US" sz="1200" b="1" dirty="0">
                <a:solidFill>
                  <a:srgbClr val="C8553D"/>
                </a:solidFill>
                <a:latin typeface="Calibri" pitchFamily="34" charset="0"/>
                <a:ea typeface="Calibri" pitchFamily="34" charset="-122"/>
                <a:cs typeface="Calibri" pitchFamily="34" charset="-120"/>
              </a:rPr>
              <a:t>Start of Phase 2</a:t>
            </a:r>
            <a:endParaRPr lang="en-US" sz="900" dirty="0"/>
          </a:p>
        </p:txBody>
      </p:sp>
      <p:sp>
        <p:nvSpPr>
          <p:cNvPr id="18" name="Shape 15"/>
          <p:cNvSpPr/>
          <p:nvPr/>
        </p:nvSpPr>
        <p:spPr>
          <a:xfrm>
            <a:off x="457200" y="3255264"/>
            <a:ext cx="11277295" cy="713232"/>
          </a:xfrm>
          <a:prstGeom prst="rect">
            <a:avLst/>
          </a:prstGeom>
          <a:solidFill>
            <a:srgbClr val="F2F4F7"/>
          </a:solidFill>
          <a:ln w="12700">
            <a:solidFill>
              <a:srgbClr val="F2F4F7"/>
            </a:solidFill>
            <a:prstDash val="solid"/>
          </a:ln>
        </p:spPr>
      </p:sp>
      <p:sp>
        <p:nvSpPr>
          <p:cNvPr id="19" name="Shape 16"/>
          <p:cNvSpPr/>
          <p:nvPr/>
        </p:nvSpPr>
        <p:spPr>
          <a:xfrm>
            <a:off x="640080" y="3438144"/>
            <a:ext cx="347472" cy="347472"/>
          </a:xfrm>
          <a:prstGeom prst="ellipse">
            <a:avLst/>
          </a:prstGeom>
          <a:solidFill>
            <a:srgbClr val="C8553D"/>
          </a:solidFill>
          <a:ln w="12700">
            <a:solidFill>
              <a:srgbClr val="C8553D"/>
            </a:solidFill>
            <a:prstDash val="solid"/>
          </a:ln>
        </p:spPr>
      </p:sp>
      <p:sp>
        <p:nvSpPr>
          <p:cNvPr id="20" name="Text 17"/>
          <p:cNvSpPr txBox="1"/>
          <p:nvPr/>
        </p:nvSpPr>
        <p:spPr>
          <a:xfrm>
            <a:off x="640080" y="34381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8"/>
          <p:cNvSpPr txBox="1"/>
          <p:nvPr/>
        </p:nvSpPr>
        <p:spPr>
          <a:xfrm>
            <a:off x="1188720" y="3255264"/>
            <a:ext cx="6949440" cy="713232"/>
          </a:xfrm>
          <a:prstGeom prst="rect">
            <a:avLst/>
          </a:prstGeom>
          <a:noFill/>
          <a:ln/>
        </p:spPr>
        <p:txBody>
          <a:bodyPr wrap="square" lIns="0" tIns="0" rIns="0" bIns="0" rtlCol="0" anchor="ctr"/>
          <a:lstStyle/>
          <a:p>
            <a:pPr algn="l" indent="0" marL="0">
              <a:buNone/>
            </a:pPr>
            <a:r>
              <a:rPr lang="en-US" sz="1300" b="1" dirty="0">
                <a:solidFill>
                  <a:srgbClr val="14213D"/>
                </a:solidFill>
                <a:latin typeface="Calibri" pitchFamily="34" charset="0"/>
                <a:ea typeface="Calibri" pitchFamily="34" charset="-122"/>
                <a:cs typeface="Calibri" pitchFamily="34" charset="-120"/>
              </a:rPr>
              <a:t>Confirm the single sign-on protocol (LDAP or OIDC preferred; SAML is a separate build)</a:t>
            </a:r>
            <a:endParaRPr lang="en-US" sz="1300" dirty="0"/>
          </a:p>
        </p:txBody>
      </p:sp>
      <p:sp>
        <p:nvSpPr>
          <p:cNvPr id="22" name="Text 19"/>
          <p:cNvSpPr txBox="1"/>
          <p:nvPr/>
        </p:nvSpPr>
        <p:spPr>
          <a:xfrm>
            <a:off x="8321040" y="3328416"/>
            <a:ext cx="1920240" cy="585216"/>
          </a:xfrm>
          <a:prstGeom prst="rect">
            <a:avLst/>
          </a:prstGeom>
          <a:noFill/>
          <a:ln/>
        </p:spPr>
        <p:txBody>
          <a:bodyPr wrap="square" lIns="0" tIns="0" rIns="0" bIns="0" rtlCol="0" anchor="ctr"/>
          <a:lstStyle/>
          <a:p>
            <a:pPr algn="l" indent="0" marL="0">
              <a:buNone/>
            </a:pPr>
            <a:r>
              <a:rPr lang="en-US" sz="900" b="1" dirty="0">
                <a:solidFill>
                  <a:srgbClr val="6B7380"/>
                </a:solidFill>
                <a:latin typeface="Calibri" pitchFamily="34" charset="0"/>
                <a:ea typeface="Calibri" pitchFamily="34" charset="-122"/>
                <a:cs typeface="Calibri" pitchFamily="34" charset="-120"/>
              </a:rPr>
              <a:t>OWNER</a:t>
            </a:r>
            <a:endParaRPr lang="en-US" sz="9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Information security</a:t>
            </a:r>
            <a:endParaRPr lang="en-US" sz="900" dirty="0"/>
          </a:p>
        </p:txBody>
      </p:sp>
      <p:sp>
        <p:nvSpPr>
          <p:cNvPr id="23" name="Text 20"/>
          <p:cNvSpPr txBox="1"/>
          <p:nvPr/>
        </p:nvSpPr>
        <p:spPr>
          <a:xfrm>
            <a:off x="10332720" y="3328416"/>
            <a:ext cx="1325880" cy="585216"/>
          </a:xfrm>
          <a:prstGeom prst="rect">
            <a:avLst/>
          </a:prstGeom>
          <a:noFill/>
          <a:ln/>
        </p:spPr>
        <p:txBody>
          <a:bodyPr wrap="square" lIns="0" tIns="0" rIns="0" bIns="0" rtlCol="0" anchor="ctr"/>
          <a:lstStyle/>
          <a:p>
            <a:pPr algn="l" indent="0" marL="0">
              <a:buNone/>
            </a:pPr>
            <a:r>
              <a:rPr lang="en-US" sz="900" b="1" dirty="0">
                <a:solidFill>
                  <a:srgbClr val="6B7380"/>
                </a:solidFill>
                <a:latin typeface="Calibri" pitchFamily="34" charset="0"/>
                <a:ea typeface="Calibri" pitchFamily="34" charset="-122"/>
                <a:cs typeface="Calibri" pitchFamily="34" charset="-120"/>
              </a:rPr>
              <a:t>NEEDED BY</a:t>
            </a:r>
            <a:endParaRPr lang="en-US" sz="900" dirty="0"/>
          </a:p>
          <a:p>
            <a:pPr algn="l" indent="0" marL="0">
              <a:spcAft>
                <a:spcPts val="400"/>
              </a:spcAft>
              <a:buNone/>
            </a:pPr>
            <a:r>
              <a:rPr lang="en-US" sz="1200" b="1" dirty="0">
                <a:solidFill>
                  <a:srgbClr val="C8553D"/>
                </a:solidFill>
                <a:latin typeface="Calibri" pitchFamily="34" charset="0"/>
                <a:ea typeface="Calibri" pitchFamily="34" charset="-122"/>
                <a:cs typeface="Calibri" pitchFamily="34" charset="-120"/>
              </a:rPr>
              <a:t>Start of Phase 2</a:t>
            </a:r>
            <a:endParaRPr lang="en-US" sz="900" dirty="0"/>
          </a:p>
        </p:txBody>
      </p:sp>
      <p:sp>
        <p:nvSpPr>
          <p:cNvPr id="24" name="Shape 21"/>
          <p:cNvSpPr/>
          <p:nvPr/>
        </p:nvSpPr>
        <p:spPr>
          <a:xfrm>
            <a:off x="457200" y="4059936"/>
            <a:ext cx="11277295" cy="713232"/>
          </a:xfrm>
          <a:prstGeom prst="rect">
            <a:avLst/>
          </a:prstGeom>
          <a:solidFill>
            <a:srgbClr val="F2F4F7"/>
          </a:solidFill>
          <a:ln w="12700">
            <a:solidFill>
              <a:srgbClr val="F2F4F7"/>
            </a:solidFill>
            <a:prstDash val="solid"/>
          </a:ln>
        </p:spPr>
      </p:sp>
      <p:sp>
        <p:nvSpPr>
          <p:cNvPr id="25" name="Shape 22"/>
          <p:cNvSpPr/>
          <p:nvPr/>
        </p:nvSpPr>
        <p:spPr>
          <a:xfrm>
            <a:off x="640080" y="4242816"/>
            <a:ext cx="347472" cy="347472"/>
          </a:xfrm>
          <a:prstGeom prst="ellipse">
            <a:avLst/>
          </a:prstGeom>
          <a:solidFill>
            <a:srgbClr val="C8553D"/>
          </a:solidFill>
          <a:ln w="12700">
            <a:solidFill>
              <a:srgbClr val="C8553D"/>
            </a:solidFill>
            <a:prstDash val="solid"/>
          </a:ln>
        </p:spPr>
      </p:sp>
      <p:sp>
        <p:nvSpPr>
          <p:cNvPr id="26" name="Text 23"/>
          <p:cNvSpPr txBox="1"/>
          <p:nvPr/>
        </p:nvSpPr>
        <p:spPr>
          <a:xfrm>
            <a:off x="640080" y="42428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4"/>
          <p:cNvSpPr txBox="1"/>
          <p:nvPr/>
        </p:nvSpPr>
        <p:spPr>
          <a:xfrm>
            <a:off x="1188720" y="4059936"/>
            <a:ext cx="6949440" cy="713232"/>
          </a:xfrm>
          <a:prstGeom prst="rect">
            <a:avLst/>
          </a:prstGeom>
          <a:noFill/>
          <a:ln/>
        </p:spPr>
        <p:txBody>
          <a:bodyPr wrap="square" lIns="0" tIns="0" rIns="0" bIns="0" rtlCol="0" anchor="ctr"/>
          <a:lstStyle/>
          <a:p>
            <a:pPr algn="l" indent="0" marL="0">
              <a:buNone/>
            </a:pPr>
            <a:r>
              <a:rPr lang="en-US" sz="1300" b="1" dirty="0">
                <a:solidFill>
                  <a:srgbClr val="14213D"/>
                </a:solidFill>
                <a:latin typeface="Calibri" pitchFamily="34" charset="0"/>
                <a:ea typeface="Calibri" pitchFamily="34" charset="-122"/>
                <a:cs typeface="Calibri" pitchFamily="34" charset="-120"/>
              </a:rPr>
              <a:t>Name business owners for classification rules, taxonomy values, closure criteria and the regulatory-change file</a:t>
            </a:r>
            <a:endParaRPr lang="en-US" sz="1300" dirty="0"/>
          </a:p>
        </p:txBody>
      </p:sp>
      <p:sp>
        <p:nvSpPr>
          <p:cNvPr id="28" name="Text 25"/>
          <p:cNvSpPr txBox="1"/>
          <p:nvPr/>
        </p:nvSpPr>
        <p:spPr>
          <a:xfrm>
            <a:off x="8321040" y="4133088"/>
            <a:ext cx="1920240" cy="585216"/>
          </a:xfrm>
          <a:prstGeom prst="rect">
            <a:avLst/>
          </a:prstGeom>
          <a:noFill/>
          <a:ln/>
        </p:spPr>
        <p:txBody>
          <a:bodyPr wrap="square" lIns="0" tIns="0" rIns="0" bIns="0" rtlCol="0" anchor="ctr"/>
          <a:lstStyle/>
          <a:p>
            <a:pPr algn="l" indent="0" marL="0">
              <a:buNone/>
            </a:pPr>
            <a:r>
              <a:rPr lang="en-US" sz="900" b="1" dirty="0">
                <a:solidFill>
                  <a:srgbClr val="6B7380"/>
                </a:solidFill>
                <a:latin typeface="Calibri" pitchFamily="34" charset="0"/>
                <a:ea typeface="Calibri" pitchFamily="34" charset="-122"/>
                <a:cs typeface="Calibri" pitchFamily="34" charset="-120"/>
              </a:rPr>
              <a:t>OWNER</a:t>
            </a:r>
            <a:endParaRPr lang="en-US" sz="9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Business sponsors</a:t>
            </a:r>
            <a:endParaRPr lang="en-US" sz="900" dirty="0"/>
          </a:p>
        </p:txBody>
      </p:sp>
      <p:sp>
        <p:nvSpPr>
          <p:cNvPr id="29" name="Text 26"/>
          <p:cNvSpPr txBox="1"/>
          <p:nvPr/>
        </p:nvSpPr>
        <p:spPr>
          <a:xfrm>
            <a:off x="10332720" y="4133088"/>
            <a:ext cx="1325880" cy="585216"/>
          </a:xfrm>
          <a:prstGeom prst="rect">
            <a:avLst/>
          </a:prstGeom>
          <a:noFill/>
          <a:ln/>
        </p:spPr>
        <p:txBody>
          <a:bodyPr wrap="square" lIns="0" tIns="0" rIns="0" bIns="0" rtlCol="0" anchor="ctr"/>
          <a:lstStyle/>
          <a:p>
            <a:pPr algn="l" indent="0" marL="0">
              <a:buNone/>
            </a:pPr>
            <a:r>
              <a:rPr lang="en-US" sz="900" b="1" dirty="0">
                <a:solidFill>
                  <a:srgbClr val="6B7380"/>
                </a:solidFill>
                <a:latin typeface="Calibri" pitchFamily="34" charset="0"/>
                <a:ea typeface="Calibri" pitchFamily="34" charset="-122"/>
                <a:cs typeface="Calibri" pitchFamily="34" charset="-120"/>
              </a:rPr>
              <a:t>NEEDED BY</a:t>
            </a:r>
            <a:endParaRPr lang="en-US" sz="900" dirty="0"/>
          </a:p>
          <a:p>
            <a:pPr algn="l" indent="0" marL="0">
              <a:spcAft>
                <a:spcPts val="400"/>
              </a:spcAft>
              <a:buNone/>
            </a:pPr>
            <a:r>
              <a:rPr lang="en-US" sz="1200" b="1" dirty="0">
                <a:solidFill>
                  <a:srgbClr val="C8553D"/>
                </a:solidFill>
                <a:latin typeface="Calibri" pitchFamily="34" charset="0"/>
                <a:ea typeface="Calibri" pitchFamily="34" charset="-122"/>
                <a:cs typeface="Calibri" pitchFamily="34" charset="-120"/>
              </a:rPr>
              <a:t>Within two weeks</a:t>
            </a:r>
            <a:endParaRPr lang="en-US" sz="900" dirty="0"/>
          </a:p>
        </p:txBody>
      </p:sp>
      <p:sp>
        <p:nvSpPr>
          <p:cNvPr id="30" name="Shape 27"/>
          <p:cNvSpPr/>
          <p:nvPr/>
        </p:nvSpPr>
        <p:spPr>
          <a:xfrm>
            <a:off x="457200" y="4864608"/>
            <a:ext cx="11277295" cy="713232"/>
          </a:xfrm>
          <a:prstGeom prst="rect">
            <a:avLst/>
          </a:prstGeom>
          <a:solidFill>
            <a:srgbClr val="F2F4F7"/>
          </a:solidFill>
          <a:ln w="12700">
            <a:solidFill>
              <a:srgbClr val="F2F4F7"/>
            </a:solidFill>
            <a:prstDash val="solid"/>
          </a:ln>
        </p:spPr>
      </p:sp>
      <p:sp>
        <p:nvSpPr>
          <p:cNvPr id="31" name="Shape 28"/>
          <p:cNvSpPr/>
          <p:nvPr/>
        </p:nvSpPr>
        <p:spPr>
          <a:xfrm>
            <a:off x="640080" y="5047488"/>
            <a:ext cx="347472" cy="347472"/>
          </a:xfrm>
          <a:prstGeom prst="ellipse">
            <a:avLst/>
          </a:prstGeom>
          <a:solidFill>
            <a:srgbClr val="C8553D"/>
          </a:solidFill>
          <a:ln w="12700">
            <a:solidFill>
              <a:srgbClr val="C8553D"/>
            </a:solidFill>
            <a:prstDash val="solid"/>
          </a:ln>
        </p:spPr>
      </p:sp>
      <p:sp>
        <p:nvSpPr>
          <p:cNvPr id="32" name="Text 29"/>
          <p:cNvSpPr txBox="1"/>
          <p:nvPr/>
        </p:nvSpPr>
        <p:spPr>
          <a:xfrm>
            <a:off x="640080" y="50474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0"/>
          <p:cNvSpPr txBox="1"/>
          <p:nvPr/>
        </p:nvSpPr>
        <p:spPr>
          <a:xfrm>
            <a:off x="1188720" y="4864608"/>
            <a:ext cx="6949440" cy="713232"/>
          </a:xfrm>
          <a:prstGeom prst="rect">
            <a:avLst/>
          </a:prstGeom>
          <a:noFill/>
          <a:ln/>
        </p:spPr>
        <p:txBody>
          <a:bodyPr wrap="square" lIns="0" tIns="0" rIns="0" bIns="0" rtlCol="0" anchor="ctr"/>
          <a:lstStyle/>
          <a:p>
            <a:pPr algn="l" indent="0" marL="0">
              <a:buNone/>
            </a:pPr>
            <a:r>
              <a:rPr lang="en-US" sz="1300" b="1" dirty="0">
                <a:solidFill>
                  <a:srgbClr val="14213D"/>
                </a:solidFill>
                <a:latin typeface="Calibri" pitchFamily="34" charset="0"/>
                <a:ea typeface="Calibri" pitchFamily="34" charset="-122"/>
                <a:cs typeface="Calibri" pitchFamily="34" charset="-120"/>
              </a:rPr>
              <a:t>Approve an AI endpoint and its data boundary, or keep AI off for go-live; nothing depends on it</a:t>
            </a:r>
            <a:endParaRPr lang="en-US" sz="1300" dirty="0"/>
          </a:p>
        </p:txBody>
      </p:sp>
      <p:sp>
        <p:nvSpPr>
          <p:cNvPr id="34" name="Text 31"/>
          <p:cNvSpPr txBox="1"/>
          <p:nvPr/>
        </p:nvSpPr>
        <p:spPr>
          <a:xfrm>
            <a:off x="8321040" y="4937760"/>
            <a:ext cx="1920240" cy="585216"/>
          </a:xfrm>
          <a:prstGeom prst="rect">
            <a:avLst/>
          </a:prstGeom>
          <a:noFill/>
          <a:ln/>
        </p:spPr>
        <p:txBody>
          <a:bodyPr wrap="square" lIns="0" tIns="0" rIns="0" bIns="0" rtlCol="0" anchor="ctr"/>
          <a:lstStyle/>
          <a:p>
            <a:pPr algn="l" indent="0" marL="0">
              <a:buNone/>
            </a:pPr>
            <a:r>
              <a:rPr lang="en-US" sz="900" b="1" dirty="0">
                <a:solidFill>
                  <a:srgbClr val="6B7380"/>
                </a:solidFill>
                <a:latin typeface="Calibri" pitchFamily="34" charset="0"/>
                <a:ea typeface="Calibri" pitchFamily="34" charset="-122"/>
                <a:cs typeface="Calibri" pitchFamily="34" charset="-120"/>
              </a:rPr>
              <a:t>OWNER</a:t>
            </a:r>
            <a:endParaRPr lang="en-US" sz="900" dirty="0"/>
          </a:p>
          <a:p>
            <a:pPr algn="l" indent="0" marL="0">
              <a:spcAft>
                <a:spcPts val="400"/>
              </a:spcAft>
              <a:buNone/>
            </a:pPr>
            <a:r>
              <a:rPr lang="en-US" sz="1200" dirty="0">
                <a:solidFill>
                  <a:srgbClr val="2A2F36"/>
                </a:solidFill>
                <a:latin typeface="Calibri" pitchFamily="34" charset="0"/>
                <a:ea typeface="Calibri" pitchFamily="34" charset="-122"/>
                <a:cs typeface="Calibri" pitchFamily="34" charset="-120"/>
              </a:rPr>
              <a:t>Executive sponsor, with security</a:t>
            </a:r>
            <a:endParaRPr lang="en-US" sz="900" dirty="0"/>
          </a:p>
        </p:txBody>
      </p:sp>
      <p:sp>
        <p:nvSpPr>
          <p:cNvPr id="35" name="Text 32"/>
          <p:cNvSpPr txBox="1"/>
          <p:nvPr/>
        </p:nvSpPr>
        <p:spPr>
          <a:xfrm>
            <a:off x="10332720" y="4937760"/>
            <a:ext cx="1325880" cy="585216"/>
          </a:xfrm>
          <a:prstGeom prst="rect">
            <a:avLst/>
          </a:prstGeom>
          <a:noFill/>
          <a:ln/>
        </p:spPr>
        <p:txBody>
          <a:bodyPr wrap="square" lIns="0" tIns="0" rIns="0" bIns="0" rtlCol="0" anchor="ctr"/>
          <a:lstStyle/>
          <a:p>
            <a:pPr algn="l" indent="0" marL="0">
              <a:buNone/>
            </a:pPr>
            <a:r>
              <a:rPr lang="en-US" sz="900" b="1" dirty="0">
                <a:solidFill>
                  <a:srgbClr val="6B7380"/>
                </a:solidFill>
                <a:latin typeface="Calibri" pitchFamily="34" charset="0"/>
                <a:ea typeface="Calibri" pitchFamily="34" charset="-122"/>
                <a:cs typeface="Calibri" pitchFamily="34" charset="-120"/>
              </a:rPr>
              <a:t>NEEDED BY</a:t>
            </a:r>
            <a:endParaRPr lang="en-US" sz="900" dirty="0"/>
          </a:p>
          <a:p>
            <a:pPr algn="l" indent="0" marL="0">
              <a:spcAft>
                <a:spcPts val="400"/>
              </a:spcAft>
              <a:buNone/>
            </a:pPr>
            <a:r>
              <a:rPr lang="en-US" sz="1200" b="1" dirty="0">
                <a:solidFill>
                  <a:srgbClr val="C8553D"/>
                </a:solidFill>
                <a:latin typeface="Calibri" pitchFamily="34" charset="0"/>
                <a:ea typeface="Calibri" pitchFamily="34" charset="-122"/>
                <a:cs typeface="Calibri" pitchFamily="34" charset="-120"/>
              </a:rPr>
              <a:t>Today</a:t>
            </a:r>
            <a:endParaRPr lang="en-US" sz="900" dirty="0"/>
          </a:p>
        </p:txBody>
      </p:sp>
      <p:sp>
        <p:nvSpPr>
          <p:cNvPr id="36" name="Text 33"/>
          <p:cNvSpPr txBox="1"/>
          <p:nvPr/>
        </p:nvSpPr>
        <p:spPr>
          <a:xfrm>
            <a:off x="457200" y="5715000"/>
            <a:ext cx="11277295" cy="457200"/>
          </a:xfrm>
          <a:prstGeom prst="rect">
            <a:avLst/>
          </a:prstGeom>
          <a:noFill/>
          <a:ln/>
        </p:spPr>
        <p:txBody>
          <a:bodyPr wrap="square" lIns="0" tIns="0" rIns="0" bIns="0" rtlCol="0" anchor="t"/>
          <a:lstStyle/>
          <a:p>
            <a:pPr algn="l" indent="0" marL="0">
              <a:buNone/>
            </a:pPr>
            <a:r>
              <a:rPr lang="en-US" sz="1200" b="1" dirty="0">
                <a:solidFill>
                  <a:srgbClr val="5B6B82"/>
                </a:solidFill>
                <a:latin typeface="Calibri" pitchFamily="34" charset="0"/>
                <a:ea typeface="Calibri" pitchFamily="34" charset="-122"/>
                <a:cs typeface="Calibri" pitchFamily="34" charset="-120"/>
              </a:rPr>
              <a:t>In return, the delivery team commits to:</a:t>
            </a:r>
            <a:pPr algn="l" indent="0" marL="0">
              <a:buNone/>
            </a:pPr>
            <a:r>
              <a:rPr lang="en-US" sz="1200" dirty="0">
                <a:solidFill>
                  <a:srgbClr val="5B6B82"/>
                </a:solidFill>
                <a:latin typeface="Calibri" pitchFamily="34" charset="0"/>
                <a:ea typeface="Calibri" pitchFamily="34" charset="-122"/>
                <a:cs typeface="Calibri" pitchFamily="34" charset="-120"/>
              </a:rPr>
              <a:t> re-measuring coverage with the same method at each phase exit; reporting against phase exit criteria; every claim backed by a run.</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2103120"/>
            <a:ext cx="73152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Appendix</a:t>
            </a:r>
            <a:endParaRPr lang="en-US" sz="3600" dirty="0"/>
          </a:p>
        </p:txBody>
      </p:sp>
      <p:sp>
        <p:nvSpPr>
          <p:cNvPr id="3" name="Text 1"/>
          <p:cNvSpPr txBox="1"/>
          <p:nvPr/>
        </p:nvSpPr>
        <p:spPr>
          <a:xfrm>
            <a:off x="457200" y="3017520"/>
            <a:ext cx="7315200" cy="1828800"/>
          </a:xfrm>
          <a:prstGeom prst="rect">
            <a:avLst/>
          </a:prstGeom>
          <a:noFill/>
          <a:ln/>
        </p:spPr>
        <p:txBody>
          <a:bodyPr wrap="square" lIns="0" tIns="0" rIns="0" bIns="0" rtlCol="0" anchor="t"/>
          <a:lstStyle/>
          <a:p>
            <a:pPr algn="l" indent="0" marL="0">
              <a:spcAft>
                <a:spcPts val="400"/>
              </a:spcAft>
              <a:buNone/>
            </a:pPr>
            <a:r>
              <a:rPr lang="en-US" sz="1600" dirty="0">
                <a:solidFill>
                  <a:srgbClr val="C9D3E3"/>
                </a:solidFill>
                <a:latin typeface="Calibri" pitchFamily="34" charset="0"/>
                <a:ea typeface="Calibri" pitchFamily="34" charset="-122"/>
                <a:cs typeface="Calibri" pitchFamily="34" charset="-120"/>
              </a:rPr>
              <a:t>A1  Requirement trace summary</a:t>
            </a:r>
            <a:endParaRPr lang="en-US" sz="1600" dirty="0"/>
          </a:p>
          <a:p>
            <a:pPr algn="l" indent="0" marL="0">
              <a:spcAft>
                <a:spcPts val="400"/>
              </a:spcAft>
              <a:buNone/>
            </a:pPr>
            <a:r>
              <a:rPr lang="en-US" sz="1600" dirty="0">
                <a:solidFill>
                  <a:srgbClr val="C9D3E3"/>
                </a:solidFill>
                <a:latin typeface="Calibri" pitchFamily="34" charset="0"/>
                <a:ea typeface="Calibri" pitchFamily="34" charset="-122"/>
                <a:cs typeface="Calibri" pitchFamily="34" charset="-120"/>
              </a:rPr>
              <a:t>A2  Glossary</a:t>
            </a:r>
            <a:endParaRPr lang="en-US" sz="1600" dirty="0"/>
          </a:p>
          <a:p>
            <a:pPr algn="l" indent="0" marL="0">
              <a:spcAft>
                <a:spcPts val="400"/>
              </a:spcAft>
              <a:buNone/>
            </a:pPr>
            <a:r>
              <a:rPr lang="en-US" sz="1600" dirty="0">
                <a:solidFill>
                  <a:srgbClr val="C9D3E3"/>
                </a:solidFill>
                <a:latin typeface="Calibri" pitchFamily="34" charset="0"/>
                <a:ea typeface="Calibri" pitchFamily="34" charset="-122"/>
                <a:cs typeface="Calibri" pitchFamily="34" charset="-120"/>
              </a:rPr>
              <a:t>A3  Test inventory</a:t>
            </a:r>
            <a:endParaRPr lang="en-US" sz="1600" dirty="0"/>
          </a:p>
          <a:p>
            <a:pPr algn="l" indent="0" marL="0">
              <a:spcAft>
                <a:spcPts val="400"/>
              </a:spcAft>
              <a:buNone/>
            </a:pPr>
            <a:r>
              <a:rPr lang="en-US" sz="1600" dirty="0">
                <a:solidFill>
                  <a:srgbClr val="C9D3E3"/>
                </a:solidFill>
                <a:latin typeface="Calibri" pitchFamily="34" charset="0"/>
                <a:ea typeface="Calibri" pitchFamily="34" charset="-122"/>
                <a:cs typeface="Calibri" pitchFamily="34" charset="-120"/>
              </a:rPr>
              <a:t>A4  Demonstration organisation</a:t>
            </a:r>
            <a:endParaRPr lang="en-US" sz="1600" dirty="0"/>
          </a:p>
        </p:txBody>
      </p:sp>
      <p:sp>
        <p:nvSpPr>
          <p:cNvPr id="4" name="Text 2"/>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C9D3E3"/>
                </a:solidFill>
                <a:latin typeface="Calibri" pitchFamily="34" charset="0"/>
                <a:ea typeface="Calibri" pitchFamily="34" charset="-122"/>
                <a:cs typeface="Calibri" pitchFamily="34" charset="-120"/>
              </a:rPr>
              <a:t>Consilium  |  </a:t>
            </a:r>
            <a:pPr algn="r" indent="0" marL="0">
              <a:buNone/>
            </a:pPr>
            <a:r>
              <a:rPr lang="en-US" sz="900" b="1" dirty="0">
                <a:solidFill>
                  <a:srgbClr val="FFFFFF"/>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A1 · Requirement trace summary: how each module's requirements are satisfied, changed and covered</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docs/product/01-requirements-baseline.md §3–4 (dominant class, Δ markers — tables authoritative); docs/product/06-traceability.md §7 (64/64 and 7/7 traced); docs/delivery/REQUIREMENTS-COVERAGE.md §2 (classes and tests, final measurement 18 Sep 2026).</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46</a:t>
            </a:r>
            <a:endParaRPr lang="en-US" sz="9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7295" cy="914400"/>
        </p:xfrm>
        <a:graphic>
          <a:graphicData uri="http://schemas.openxmlformats.org/drawingml/2006/table">
            <a:tbl>
              <a:tblPr/>
              <a:tblGrid>
                <a:gridCol w="2011680"/>
                <a:gridCol w="1188720"/>
                <a:gridCol w="1645920"/>
                <a:gridCol w="1828800"/>
                <a:gridCol w="1280160"/>
                <a:gridCol w="1947672"/>
                <a:gridCol w="1371600"/>
              </a:tblGrid>
              <a:tr h="56692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Module</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Mandatory</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Needs a build component</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Materially changed (bold Δ)</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Clarified (Δ)</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Coverage a / b / c / d (final)</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≥1 direct passing test</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457200">
                <a:tc>
                  <a:txBody>
                    <a:bodyPr/>
                    <a:lstStyle/>
                    <a:p>
                      <a:pPr algn="l" indent="0" marL="0">
                        <a:buNone/>
                      </a:pPr>
                      <a:r>
                        <a:rPr lang="en-US" sz="1200" b="1" dirty="0">
                          <a:solidFill>
                            <a:srgbClr val="2A2F36"/>
                          </a:solidFill>
                          <a:latin typeface="Calibri" pitchFamily="34" charset="0"/>
                          <a:ea typeface="Calibri" pitchFamily="34" charset="-122"/>
                          <a:cs typeface="Calibri" pitchFamily="34" charset="-120"/>
                        </a:rPr>
                        <a:t>Governance (G)</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11 / 1 / 4 / 3</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19 of 19</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2A2F36"/>
                          </a:solidFill>
                          <a:latin typeface="Calibri" pitchFamily="34" charset="0"/>
                          <a:ea typeface="Calibri" pitchFamily="34" charset="-122"/>
                          <a:cs typeface="Calibri" pitchFamily="34" charset="-120"/>
                        </a:rPr>
                        <a:t>Policy (P)</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19 / 3 / 3 / 1</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26 of 26</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2A2F36"/>
                          </a:solidFill>
                          <a:latin typeface="Calibri" pitchFamily="34" charset="0"/>
                          <a:ea typeface="Calibri" pitchFamily="34" charset="-122"/>
                          <a:cs typeface="Calibri" pitchFamily="34" charset="-120"/>
                        </a:rPr>
                        <a:t>Escalation (E)</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13 / 2 / 2 / 2</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19 of 19</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2A2F36"/>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A2F36"/>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A2F36"/>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A2F36"/>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A2F36"/>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A2F36"/>
                          </a:solidFill>
                          <a:latin typeface="Calibri" pitchFamily="34" charset="0"/>
                          <a:ea typeface="Calibri" pitchFamily="34" charset="-122"/>
                          <a:cs typeface="Calibri" pitchFamily="34" charset="-120"/>
                        </a:rPr>
                        <a:t>43 / 6 / 9 / 6</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A2F36"/>
                          </a:solidFill>
                          <a:latin typeface="Calibri" pitchFamily="34" charset="0"/>
                          <a:ea typeface="Calibri" pitchFamily="34" charset="-122"/>
                          <a:cs typeface="Calibri" pitchFamily="34" charset="-120"/>
                        </a:rPr>
                        <a:t>64 of 64</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2A2F36"/>
                          </a:solidFill>
                          <a:latin typeface="Calibri" pitchFamily="34" charset="0"/>
                          <a:ea typeface="Calibri" pitchFamily="34" charset="-122"/>
                          <a:cs typeface="Calibri" pitchFamily="34" charset="-120"/>
                        </a:rPr>
                        <a:t>Supplementary (O)</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5 / 0 / 0 / 2</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A2F36"/>
                          </a:solidFill>
                          <a:latin typeface="Calibri" pitchFamily="34" charset="0"/>
                          <a:ea typeface="Calibri" pitchFamily="34" charset="-122"/>
                          <a:cs typeface="Calibri" pitchFamily="34" charset="-120"/>
                        </a:rPr>
                        <a:t>7 of 7</a:t>
                      </a:r>
                      <a:endParaRPr lang="en-US" sz="12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457200" y="4572000"/>
            <a:ext cx="11277295" cy="1371600"/>
          </a:xfrm>
          <a:prstGeom prst="rect">
            <a:avLst/>
          </a:prstGeom>
          <a:noFill/>
          <a:ln/>
        </p:spPr>
        <p:txBody>
          <a:bodyPr wrap="square" lIns="0" tIns="0" rIns="0" bIns="0" rtlCol="0" anchor="t"/>
          <a:lstStyle/>
          <a:p>
            <a:pPr algn="l" indent="0" marL="0">
              <a:spcAft>
                <a:spcPts val="400"/>
              </a:spcAft>
              <a:buNone/>
            </a:pPr>
            <a:r>
              <a:rPr lang="en-US" sz="1150" b="1" dirty="0">
                <a:solidFill>
                  <a:srgbClr val="5B6B82"/>
                </a:solidFill>
                <a:latin typeface="Calibri" pitchFamily="34" charset="0"/>
                <a:ea typeface="Calibri" pitchFamily="34" charset="-122"/>
                <a:cs typeface="Calibri" pitchFamily="34" charset="-120"/>
              </a:rPr>
              <a:t>Notes.</a:t>
            </a:r>
            <a:pPr algn="l" indent="0" marL="0">
              <a:spcAft>
                <a:spcPts val="400"/>
              </a:spcAft>
              <a:buNone/>
            </a:pPr>
            <a:r>
              <a:rPr lang="en-US" sz="1150" dirty="0">
                <a:solidFill>
                  <a:srgbClr val="5B6B82"/>
                </a:solidFill>
                <a:latin typeface="Calibri" pitchFamily="34" charset="0"/>
                <a:ea typeface="Calibri" pitchFamily="34" charset="-122"/>
                <a:cs typeface="Calibri" pitchFamily="34" charset="-120"/>
              </a:rPr>
              <a:t> 'Needs a build component' counts requirements whose dominant class includes Build (06 states 55; the 01 tables give 54). Only P-17 is purely native. Every mandatory requirement has a direct passing test; for 10 the tests cover only part of it (G-8, G-10, G-12, G-14, P-5, P-8, P-12, P-17, E-8, E-9).</a:t>
            </a:r>
            <a:endParaRPr lang="en-US" sz="1150" dirty="0"/>
          </a:p>
          <a:p>
            <a:pPr algn="l" indent="0" marL="0">
              <a:spcAft>
                <a:spcPts val="400"/>
              </a:spcAft>
              <a:buNone/>
            </a:pPr>
            <a:r>
              <a:rPr lang="en-US" sz="1150" dirty="0">
                <a:solidFill>
                  <a:srgbClr val="5B6B82"/>
                </a:solidFill>
                <a:latin typeface="Calibri" pitchFamily="34" charset="0"/>
                <a:ea typeface="Calibri" pitchFamily="34" charset="-122"/>
                <a:cs typeface="Calibri" pitchFamily="34" charset="-120"/>
              </a:rPr>
              <a:t>All 64 mandatory and 7 supplementary requirements trace to at least one entity and one surface (06 §7).</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A2 · Glossary of terms used in this briefing</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 docs/product/05-glossary.md §A, §B, §D; docs/guides/11-glossary.md.</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47</a:t>
            </a:r>
            <a:endParaRPr lang="en-US" sz="9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5501488" cy="914400"/>
        </p:xfrm>
        <a:graphic>
          <a:graphicData uri="http://schemas.openxmlformats.org/drawingml/2006/table">
            <a:tbl>
              <a:tblPr/>
              <a:tblGrid>
                <a:gridCol w="1737360"/>
                <a:gridCol w="3764128"/>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Term</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676656">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Governance forum</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Any standing body (committee, council, oversight body, working group) with a mandate, membership and reporting lines.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76656">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Governing document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Framework, Policy, Standard, Procedure or Supporting Document.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76656">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Escalation matter / matrix</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An issue raised for decision at a defined authority level; the approved mapping from its attributes to severity and pathway.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76656">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Effective challenge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Structured questioning of a first-line assessment by the second line before a matter proceeds.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76656">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Attestation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Periodic positive confirmation by a named person that stated facts are accurate. Three events, one engine.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76656">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Watched field set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Admin-editable list of fields whose change sends a record back for compliance review.</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graphicFrame>
        <p:nvGraphicFramePr>
          <p:cNvPr id="95" name="Table 1"/>
          <p:cNvGraphicFramePr>
            <a:graphicFrameLocks noGrp="1"/>
          </p:cNvGraphicFramePr>
          <p:nvPr>
            <p:extLst>
              <p:ext uri="{D42A27DB-BD31-4B8C-83A1-F6EECF244321}">
                <p14:modId xmlns:p14="http://schemas.microsoft.com/office/powerpoint/2010/main" val="1579011935"/>
              </p:ext>
            </p:extLst>
          </p:nvPr>
        </p:nvGraphicFramePr>
        <p:xfrm>
          <a:off x="6233008" y="1600200"/>
          <a:ext cx="5501488" cy="914400"/>
        </p:xfrm>
        <a:graphic>
          <a:graphicData uri="http://schemas.openxmlformats.org/drawingml/2006/table">
            <a:tbl>
              <a:tblPr/>
              <a:tblGrid>
                <a:gridCol w="1737360"/>
                <a:gridCol w="3764128"/>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Term</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676656">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Semantic flag</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A property such as editable or active that a workflow state sets. Logic reads flags, never state names.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76656">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Document version / revert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Immutable snapshot of a document body; revert writes a new version with the old content.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76656">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Archive record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Immutable, hash-chained retention artefact; tampering becomes detectable.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76656">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Import batch / external reference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The governed file-import pipeline that replaces live connectors; a foreign identifier with its provenance.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76656">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Portal / workspace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Purpose-built screens for daily work / the framework's administrative interface.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676656">
                <a:tc>
                  <a:txBody>
                    <a:bodyPr/>
                    <a:lstStyle/>
                    <a:p>
                      <a:pPr algn="l" indent="0" marL="0">
                        <a:buNone/>
                      </a:pPr>
                      <a:r>
                        <a:rPr lang="en-US" sz="1100" b="1" dirty="0">
                          <a:solidFill>
                            <a:srgbClr val="2A2F36"/>
                          </a:solidFill>
                          <a:latin typeface="Calibri" pitchFamily="34" charset="0"/>
                          <a:ea typeface="Calibri" pitchFamily="34" charset="-122"/>
                          <a:cs typeface="Calibri" pitchFamily="34" charset="-120"/>
                        </a:rPr>
                        <a:t>WORM · SLA · 1LOD/2LOD/3LOD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Write once, read many · tracked time target · first, second, third line of defence.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A3 · Test inventory: the suites behind the evidence, by area</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 test files under apps/consilium/consilium/*/tests/ (methods counted from source); docs/delivery/REQUIREMENTS-COVERAGE.md §1 (final run: 1453 tests, OK); HANDOVER.md §4. Largest suites per module; not an exhaustive list.</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48</a:t>
            </a:r>
            <a:endParaRPr lang="en-US" sz="9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2716454" cy="914400"/>
        </p:xfrm>
        <a:graphic>
          <a:graphicData uri="http://schemas.openxmlformats.org/drawingml/2006/table">
            <a:tbl>
              <a:tblPr/>
              <a:tblGrid>
                <a:gridCol w="2122094"/>
                <a:gridCol w="594360"/>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Core (476)</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Tests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AI features (rule-based)</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37</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Help assistant</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Integrations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Service levels and time in state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Notification templates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Inbox and campaigns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Microsoft Graph mail</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Navigation and search</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graphicFrame>
        <p:nvGraphicFramePr>
          <p:cNvPr id="97" name="Table 1"/>
          <p:cNvGraphicFramePr>
            <a:graphicFrameLocks noGrp="1"/>
          </p:cNvGraphicFramePr>
          <p:nvPr>
            <p:extLst>
              <p:ext uri="{D42A27DB-BD31-4B8C-83A1-F6EECF244321}">
                <p14:modId xmlns:p14="http://schemas.microsoft.com/office/powerpoint/2010/main" val="1579011935"/>
              </p:ext>
            </p:extLst>
          </p:nvPr>
        </p:nvGraphicFramePr>
        <p:xfrm>
          <a:off x="3310814" y="1600200"/>
          <a:ext cx="2716454" cy="914400"/>
        </p:xfrm>
        <a:graphic>
          <a:graphicData uri="http://schemas.openxmlformats.org/drawingml/2006/table">
            <a:tbl>
              <a:tblPr/>
              <a:tblGrid>
                <a:gridCol w="2122094"/>
                <a:gridCol w="594360"/>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Governance (242)</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Tests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Formation portal</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Wave-3 screens (charter, disband, map)</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Formation engine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Membership</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Lifecycle and reviews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Voting screen, queues, bypass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Governance entities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Voting</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graphicFrame>
        <p:nvGraphicFramePr>
          <p:cNvPr id="145" name="Table 2"/>
          <p:cNvGraphicFramePr>
            <a:graphicFrameLocks noGrp="1"/>
          </p:cNvGraphicFramePr>
          <p:nvPr>
            <p:extLst>
              <p:ext uri="{D42A27DB-BD31-4B8C-83A1-F6EECF244321}">
                <p14:modId xmlns:p14="http://schemas.microsoft.com/office/powerpoint/2010/main" val="1579011935"/>
              </p:ext>
            </p:extLst>
          </p:nvPr>
        </p:nvGraphicFramePr>
        <p:xfrm>
          <a:off x="6164428" y="1600200"/>
          <a:ext cx="2716454" cy="914400"/>
        </p:xfrm>
        <a:graphic>
          <a:graphicData uri="http://schemas.openxmlformats.org/drawingml/2006/table">
            <a:tbl>
              <a:tblPr/>
              <a:tblGrid>
                <a:gridCol w="2122094"/>
                <a:gridCol w="594360"/>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Policy (328)</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Tests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Portal actions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68</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Search, reports, notices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Lifecycle and routing</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Confidential handling</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Repository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Monitoring and glossary</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Horizon scanning</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Intake classification</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graphicFrame>
        <p:nvGraphicFramePr>
          <p:cNvPr id="193" name="Table 3"/>
          <p:cNvGraphicFramePr>
            <a:graphicFrameLocks noGrp="1"/>
          </p:cNvGraphicFramePr>
          <p:nvPr>
            <p:extLst>
              <p:ext uri="{D42A27DB-BD31-4B8C-83A1-F6EECF244321}">
                <p14:modId xmlns:p14="http://schemas.microsoft.com/office/powerpoint/2010/main" val="1579011935"/>
              </p:ext>
            </p:extLst>
          </p:nvPr>
        </p:nvGraphicFramePr>
        <p:xfrm>
          <a:off x="9018041" y="1600200"/>
          <a:ext cx="2716454" cy="914400"/>
        </p:xfrm>
        <a:graphic>
          <a:graphicData uri="http://schemas.openxmlformats.org/drawingml/2006/table">
            <a:tbl>
              <a:tblPr/>
              <a:tblGrid>
                <a:gridCol w="2122094"/>
                <a:gridCol w="594360"/>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Escalation (149)</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Tests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Portal actions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Queues, systemic route, timing</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Resolution and closure</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Escalation entities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Routing matrix</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Sensitive matters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Templates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2A2F36"/>
                          </a:solidFill>
                          <a:latin typeface="Calibri" pitchFamily="34" charset="0"/>
                          <a:ea typeface="Calibri" pitchFamily="34" charset="-122"/>
                          <a:cs typeface="Calibri" pitchFamily="34" charset="-120"/>
                        </a:rPr>
                        <a:t>Pathway participants</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A2F36"/>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11" name="Shape 4"/>
          <p:cNvSpPr/>
          <p:nvPr/>
        </p:nvSpPr>
        <p:spPr>
          <a:xfrm>
            <a:off x="457200" y="5120640"/>
            <a:ext cx="11277295" cy="960120"/>
          </a:xfrm>
          <a:prstGeom prst="rect">
            <a:avLst/>
          </a:prstGeom>
          <a:solidFill>
            <a:srgbClr val="E8EDF5"/>
          </a:solidFill>
          <a:ln w="12700">
            <a:solidFill>
              <a:srgbClr val="E8EDF5"/>
            </a:solidFill>
            <a:prstDash val="solid"/>
          </a:ln>
        </p:spPr>
      </p:sp>
      <p:sp>
        <p:nvSpPr>
          <p:cNvPr id="12" name="Text 5"/>
          <p:cNvSpPr txBox="1"/>
          <p:nvPr/>
        </p:nvSpPr>
        <p:spPr>
          <a:xfrm>
            <a:off x="640080" y="5120640"/>
            <a:ext cx="10911535" cy="960120"/>
          </a:xfrm>
          <a:prstGeom prst="rect">
            <a:avLst/>
          </a:prstGeom>
          <a:noFill/>
          <a:ln/>
        </p:spPr>
        <p:txBody>
          <a:bodyPr wrap="square" lIns="0" tIns="0" rIns="0" bIns="0" rtlCol="0" anchor="ctr"/>
          <a:lstStyle/>
          <a:p>
            <a:pPr algn="l" indent="0" marL="0">
              <a:buNone/>
            </a:pPr>
            <a:r>
              <a:rPr lang="en-US" sz="1150" b="1" dirty="0">
                <a:solidFill>
                  <a:srgbClr val="2A2F36"/>
                </a:solidFill>
                <a:latin typeface="Calibri" pitchFamily="34" charset="0"/>
                <a:ea typeface="Calibri" pitchFamily="34" charset="-122"/>
                <a:cs typeface="Calibri" pitchFamily="34" charset="-120"/>
              </a:rPr>
              <a:t>Beyond the module suites:</a:t>
            </a:r>
            <a:pPr algn="l" indent="0" marL="0">
              <a:buNone/>
            </a:pPr>
            <a:r>
              <a:rPr lang="en-US" sz="1150" dirty="0">
                <a:solidFill>
                  <a:srgbClr val="2A2F36"/>
                </a:solidFill>
                <a:latin typeface="Calibri" pitchFamily="34" charset="0"/>
                <a:ea typeface="Calibri" pitchFamily="34" charset="-122"/>
                <a:cs typeface="Calibri" pitchFamily="34" charset="-120"/>
              </a:rPr>
              <a:t> 1453 / 1453 full application suite (258 more in record-type test files) · 302/302 interface sweep · 11/11 browser journeys · 57 toolchain tests (22 simulate Windows) · verify.sh 14/14 and health 17/17 on the rehearsal server · 6/6 platform rules · about 190 of the framework's own tests on PostgreSQL (3 failures, none ours).</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000" spc="100" kern="0" dirty="0">
                <a:solidFill>
                  <a:srgbClr val="6B7380"/>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457200" y="548640"/>
            <a:ext cx="11277295" cy="868680"/>
          </a:xfrm>
          <a:prstGeom prst="rect">
            <a:avLst/>
          </a:prstGeom>
          <a:noFill/>
          <a:ln/>
        </p:spPr>
        <p:txBody>
          <a:bodyPr wrap="square" lIns="0" tIns="0" rIns="0" bIns="0" rtlCol="0" anchor="t"/>
          <a:lstStyle/>
          <a:p>
            <a:pPr indent="0" marL="0">
              <a:lnSpc>
                <a:spcPct val="95000"/>
              </a:lnSpc>
              <a:buNone/>
            </a:pPr>
            <a:r>
              <a:rPr lang="en-US" sz="2200" b="1" dirty="0">
                <a:solidFill>
                  <a:srgbClr val="14213D"/>
                </a:solidFill>
                <a:latin typeface="Calibri" pitchFamily="34" charset="0"/>
                <a:ea typeface="Calibri" pitchFamily="34" charset="-122"/>
                <a:cs typeface="Calibri" pitchFamily="34" charset="-120"/>
              </a:rPr>
              <a:t>A4 · The demonstration organisation: realistic enough to find defects, fictitious by design</a:t>
            </a:r>
            <a:endParaRPr lang="en-US" sz="2200" dirty="0"/>
          </a:p>
        </p:txBody>
      </p:sp>
      <p:sp>
        <p:nvSpPr>
          <p:cNvPr id="4" name="Text 2"/>
          <p:cNvSpPr txBox="1"/>
          <p:nvPr/>
        </p:nvSpPr>
        <p:spPr>
          <a:xfrm>
            <a:off x="457200" y="6382512"/>
            <a:ext cx="10241280" cy="329184"/>
          </a:xfrm>
          <a:prstGeom prst="rect">
            <a:avLst/>
          </a:prstGeom>
          <a:noFill/>
          <a:ln/>
        </p:spPr>
        <p:txBody>
          <a:bodyPr wrap="square" lIns="0" tIns="0" rIns="0" bIns="0" rtlCol="0" anchor="t"/>
          <a:lstStyle/>
          <a:p>
            <a:pPr indent="0" marL="0">
              <a:buNone/>
            </a:pPr>
            <a:r>
              <a:rPr lang="en-US" sz="900" dirty="0">
                <a:solidFill>
                  <a:srgbClr val="6B7380"/>
                </a:solidFill>
                <a:latin typeface="Calibri" pitchFamily="34" charset="0"/>
                <a:ea typeface="Calibri" pitchFamily="34" charset="-122"/>
                <a:cs typeface="Calibri" pitchFamily="34" charset="-120"/>
              </a:rPr>
              <a:t>Sources: demonstration site rebuilt from scratch 18 Sep 2026 (deploy/demo_data.py, about 27 s, idempotent); docs/delivery/REQUIREMENTS-COVERAGE.md §3 (records queried 18 Sep 2026); docs/delivery/DEMO-LOGINS.md. All personas use a reserved demo domain.</a:t>
            </a:r>
            <a:endParaRPr lang="en-US" sz="900" dirty="0"/>
          </a:p>
        </p:txBody>
      </p:sp>
      <p:sp>
        <p:nvSpPr>
          <p:cNvPr id="5" name="Text 3"/>
          <p:cNvSpPr txBox="1"/>
          <p:nvPr/>
        </p:nvSpPr>
        <p:spPr>
          <a:xfrm>
            <a:off x="10271455" y="6382512"/>
            <a:ext cx="1463040" cy="274320"/>
          </a:xfrm>
          <a:prstGeom prst="rect">
            <a:avLst/>
          </a:prstGeom>
          <a:noFill/>
          <a:ln/>
        </p:spPr>
        <p:txBody>
          <a:bodyPr wrap="square" lIns="0" tIns="0" rIns="0" bIns="0" rtlCol="0" anchor="ctr"/>
          <a:lstStyle/>
          <a:p>
            <a:pPr algn="r" indent="0" marL="0">
              <a:buNone/>
            </a:pPr>
            <a:r>
              <a:rPr lang="en-US" sz="900" dirty="0">
                <a:solidFill>
                  <a:srgbClr val="6B7380"/>
                </a:solidFill>
                <a:latin typeface="Calibri" pitchFamily="34" charset="0"/>
                <a:ea typeface="Calibri" pitchFamily="34" charset="-122"/>
                <a:cs typeface="Calibri" pitchFamily="34" charset="-120"/>
              </a:rPr>
              <a:t>Consilium  |  </a:t>
            </a:r>
            <a:pPr algn="r" indent="0" marL="0">
              <a:buNone/>
            </a:pPr>
            <a:r>
              <a:rPr lang="en-US" sz="900" b="1" dirty="0">
                <a:solidFill>
                  <a:srgbClr val="14213D"/>
                </a:solidFill>
                <a:latin typeface="Calibri" pitchFamily="34" charset="0"/>
                <a:ea typeface="Calibri" pitchFamily="34" charset="-122"/>
                <a:cs typeface="Calibri" pitchFamily="34" charset="-120"/>
              </a:rPr>
              <a:t>49</a:t>
            </a:r>
            <a:endParaRPr lang="en-US" sz="900" dirty="0"/>
          </a:p>
        </p:txBody>
      </p:sp>
      <p:sp>
        <p:nvSpPr>
          <p:cNvPr id="7" name="Shape 4"/>
          <p:cNvSpPr/>
          <p:nvPr/>
        </p:nvSpPr>
        <p:spPr>
          <a:xfrm>
            <a:off x="457200" y="1600200"/>
            <a:ext cx="1727149" cy="1325880"/>
          </a:xfrm>
          <a:prstGeom prst="rect">
            <a:avLst/>
          </a:prstGeom>
          <a:solidFill>
            <a:srgbClr val="F2F4F7"/>
          </a:solidFill>
          <a:ln w="12700">
            <a:solidFill>
              <a:srgbClr val="F2F4F7"/>
            </a:solidFill>
            <a:prstDash val="solid"/>
          </a:ln>
        </p:spPr>
      </p:sp>
      <p:sp>
        <p:nvSpPr>
          <p:cNvPr id="8" name="Text 5"/>
          <p:cNvSpPr txBox="1"/>
          <p:nvPr/>
        </p:nvSpPr>
        <p:spPr>
          <a:xfrm>
            <a:off x="594360" y="1600200"/>
            <a:ext cx="1452829" cy="640080"/>
          </a:xfrm>
          <a:prstGeom prst="rect">
            <a:avLst/>
          </a:prstGeom>
          <a:noFill/>
          <a:ln/>
        </p:spPr>
        <p:txBody>
          <a:bodyPr wrap="square" lIns="0" tIns="0" rIns="0" bIns="0" rtlCol="0" anchor="b"/>
          <a:lstStyle/>
          <a:p>
            <a:pPr indent="0" marL="0">
              <a:buNone/>
            </a:pPr>
            <a:r>
              <a:rPr lang="en-US" sz="3000" b="1" dirty="0">
                <a:solidFill>
                  <a:srgbClr val="14213D"/>
                </a:solidFill>
                <a:latin typeface="Calibri" pitchFamily="34" charset="0"/>
                <a:ea typeface="Calibri" pitchFamily="34" charset="-122"/>
                <a:cs typeface="Calibri" pitchFamily="34" charset="-120"/>
              </a:rPr>
              <a:t>23</a:t>
            </a:r>
            <a:endParaRPr lang="en-US" sz="3000" dirty="0"/>
          </a:p>
        </p:txBody>
      </p:sp>
      <p:sp>
        <p:nvSpPr>
          <p:cNvPr id="9" name="Text 6"/>
          <p:cNvSpPr txBox="1"/>
          <p:nvPr/>
        </p:nvSpPr>
        <p:spPr>
          <a:xfrm>
            <a:off x="594360" y="2276856"/>
            <a:ext cx="1452829" cy="54864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role-based personas</a:t>
            </a:r>
            <a:endParaRPr lang="en-US" sz="1100" dirty="0"/>
          </a:p>
        </p:txBody>
      </p:sp>
      <p:sp>
        <p:nvSpPr>
          <p:cNvPr id="10" name="Shape 7"/>
          <p:cNvSpPr/>
          <p:nvPr/>
        </p:nvSpPr>
        <p:spPr>
          <a:xfrm>
            <a:off x="2367229" y="1600200"/>
            <a:ext cx="1727149" cy="1325880"/>
          </a:xfrm>
          <a:prstGeom prst="rect">
            <a:avLst/>
          </a:prstGeom>
          <a:solidFill>
            <a:srgbClr val="F2F4F7"/>
          </a:solidFill>
          <a:ln w="12700">
            <a:solidFill>
              <a:srgbClr val="F2F4F7"/>
            </a:solidFill>
            <a:prstDash val="solid"/>
          </a:ln>
        </p:spPr>
      </p:sp>
      <p:sp>
        <p:nvSpPr>
          <p:cNvPr id="11" name="Text 8"/>
          <p:cNvSpPr txBox="1"/>
          <p:nvPr/>
        </p:nvSpPr>
        <p:spPr>
          <a:xfrm>
            <a:off x="2504389" y="1600200"/>
            <a:ext cx="1452829" cy="640080"/>
          </a:xfrm>
          <a:prstGeom prst="rect">
            <a:avLst/>
          </a:prstGeom>
          <a:noFill/>
          <a:ln/>
        </p:spPr>
        <p:txBody>
          <a:bodyPr wrap="square" lIns="0" tIns="0" rIns="0" bIns="0" rtlCol="0" anchor="b"/>
          <a:lstStyle/>
          <a:p>
            <a:pPr indent="0" marL="0">
              <a:buNone/>
            </a:pPr>
            <a:r>
              <a:rPr lang="en-US" sz="3000" b="1" dirty="0">
                <a:solidFill>
                  <a:srgbClr val="14213D"/>
                </a:solidFill>
                <a:latin typeface="Calibri" pitchFamily="34" charset="0"/>
                <a:ea typeface="Calibri" pitchFamily="34" charset="-122"/>
                <a:cs typeface="Calibri" pitchFamily="34" charset="-120"/>
              </a:rPr>
              <a:t>14</a:t>
            </a:r>
            <a:endParaRPr lang="en-US" sz="3000" dirty="0"/>
          </a:p>
        </p:txBody>
      </p:sp>
      <p:sp>
        <p:nvSpPr>
          <p:cNvPr id="12" name="Text 9"/>
          <p:cNvSpPr txBox="1"/>
          <p:nvPr/>
        </p:nvSpPr>
        <p:spPr>
          <a:xfrm>
            <a:off x="2504389" y="2276856"/>
            <a:ext cx="1452829" cy="54864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forums, board to working group</a:t>
            </a:r>
            <a:endParaRPr lang="en-US" sz="1100" dirty="0"/>
          </a:p>
        </p:txBody>
      </p:sp>
      <p:sp>
        <p:nvSpPr>
          <p:cNvPr id="13" name="Shape 10"/>
          <p:cNvSpPr/>
          <p:nvPr/>
        </p:nvSpPr>
        <p:spPr>
          <a:xfrm>
            <a:off x="4277258" y="1600200"/>
            <a:ext cx="1727149" cy="1325880"/>
          </a:xfrm>
          <a:prstGeom prst="rect">
            <a:avLst/>
          </a:prstGeom>
          <a:solidFill>
            <a:srgbClr val="F2F4F7"/>
          </a:solidFill>
          <a:ln w="12700">
            <a:solidFill>
              <a:srgbClr val="F2F4F7"/>
            </a:solidFill>
            <a:prstDash val="solid"/>
          </a:ln>
        </p:spPr>
      </p:sp>
      <p:sp>
        <p:nvSpPr>
          <p:cNvPr id="14" name="Text 11"/>
          <p:cNvSpPr txBox="1"/>
          <p:nvPr/>
        </p:nvSpPr>
        <p:spPr>
          <a:xfrm>
            <a:off x="4414418" y="1600200"/>
            <a:ext cx="1452829" cy="640080"/>
          </a:xfrm>
          <a:prstGeom prst="rect">
            <a:avLst/>
          </a:prstGeom>
          <a:noFill/>
          <a:ln/>
        </p:spPr>
        <p:txBody>
          <a:bodyPr wrap="square" lIns="0" tIns="0" rIns="0" bIns="0" rtlCol="0" anchor="b"/>
          <a:lstStyle/>
          <a:p>
            <a:pPr indent="0" marL="0">
              <a:buNone/>
            </a:pPr>
            <a:r>
              <a:rPr lang="en-US" sz="3000" b="1" dirty="0">
                <a:solidFill>
                  <a:srgbClr val="14213D"/>
                </a:solidFill>
                <a:latin typeface="Calibri" pitchFamily="34" charset="0"/>
                <a:ea typeface="Calibri" pitchFamily="34" charset="-122"/>
                <a:cs typeface="Calibri" pitchFamily="34" charset="-120"/>
              </a:rPr>
              <a:t>15</a:t>
            </a:r>
            <a:endParaRPr lang="en-US" sz="3000" dirty="0"/>
          </a:p>
        </p:txBody>
      </p:sp>
      <p:sp>
        <p:nvSpPr>
          <p:cNvPr id="15" name="Text 12"/>
          <p:cNvSpPr txBox="1"/>
          <p:nvPr/>
        </p:nvSpPr>
        <p:spPr>
          <a:xfrm>
            <a:off x="4414418" y="2276856"/>
            <a:ext cx="1452829" cy="54864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governing documents; 157 versions</a:t>
            </a:r>
            <a:endParaRPr lang="en-US" sz="1100" dirty="0"/>
          </a:p>
        </p:txBody>
      </p:sp>
      <p:sp>
        <p:nvSpPr>
          <p:cNvPr id="16" name="Shape 13"/>
          <p:cNvSpPr/>
          <p:nvPr/>
        </p:nvSpPr>
        <p:spPr>
          <a:xfrm>
            <a:off x="6187288" y="1600200"/>
            <a:ext cx="1727149" cy="1325880"/>
          </a:xfrm>
          <a:prstGeom prst="rect">
            <a:avLst/>
          </a:prstGeom>
          <a:solidFill>
            <a:srgbClr val="F2F4F7"/>
          </a:solidFill>
          <a:ln w="12700">
            <a:solidFill>
              <a:srgbClr val="F2F4F7"/>
            </a:solidFill>
            <a:prstDash val="solid"/>
          </a:ln>
        </p:spPr>
      </p:sp>
      <p:sp>
        <p:nvSpPr>
          <p:cNvPr id="17" name="Text 14"/>
          <p:cNvSpPr txBox="1"/>
          <p:nvPr/>
        </p:nvSpPr>
        <p:spPr>
          <a:xfrm>
            <a:off x="6324448" y="1600200"/>
            <a:ext cx="1452829" cy="640080"/>
          </a:xfrm>
          <a:prstGeom prst="rect">
            <a:avLst/>
          </a:prstGeom>
          <a:noFill/>
          <a:ln/>
        </p:spPr>
        <p:txBody>
          <a:bodyPr wrap="square" lIns="0" tIns="0" rIns="0" bIns="0" rtlCol="0" anchor="b"/>
          <a:lstStyle/>
          <a:p>
            <a:pPr indent="0" marL="0">
              <a:buNone/>
            </a:pPr>
            <a:r>
              <a:rPr lang="en-US" sz="3000" b="1" dirty="0">
                <a:solidFill>
                  <a:srgbClr val="14213D"/>
                </a:solidFill>
                <a:latin typeface="Calibri" pitchFamily="34" charset="0"/>
                <a:ea typeface="Calibri" pitchFamily="34" charset="-122"/>
                <a:cs typeface="Calibri" pitchFamily="34" charset="-120"/>
              </a:rPr>
              <a:t>15</a:t>
            </a:r>
            <a:endParaRPr lang="en-US" sz="3000" dirty="0"/>
          </a:p>
        </p:txBody>
      </p:sp>
      <p:sp>
        <p:nvSpPr>
          <p:cNvPr id="18" name="Text 15"/>
          <p:cNvSpPr txBox="1"/>
          <p:nvPr/>
        </p:nvSpPr>
        <p:spPr>
          <a:xfrm>
            <a:off x="6324448" y="2276856"/>
            <a:ext cx="1452829" cy="54864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escalations, every state</a:t>
            </a:r>
            <a:endParaRPr lang="en-US" sz="1100" dirty="0"/>
          </a:p>
        </p:txBody>
      </p:sp>
      <p:sp>
        <p:nvSpPr>
          <p:cNvPr id="19" name="Shape 16"/>
          <p:cNvSpPr/>
          <p:nvPr/>
        </p:nvSpPr>
        <p:spPr>
          <a:xfrm>
            <a:off x="8097317" y="1600200"/>
            <a:ext cx="1727149" cy="1325880"/>
          </a:xfrm>
          <a:prstGeom prst="rect">
            <a:avLst/>
          </a:prstGeom>
          <a:solidFill>
            <a:srgbClr val="F2F4F7"/>
          </a:solidFill>
          <a:ln w="12700">
            <a:solidFill>
              <a:srgbClr val="F2F4F7"/>
            </a:solidFill>
            <a:prstDash val="solid"/>
          </a:ln>
        </p:spPr>
      </p:sp>
      <p:sp>
        <p:nvSpPr>
          <p:cNvPr id="20" name="Text 17"/>
          <p:cNvSpPr txBox="1"/>
          <p:nvPr/>
        </p:nvSpPr>
        <p:spPr>
          <a:xfrm>
            <a:off x="8234477" y="1600200"/>
            <a:ext cx="1452829" cy="640080"/>
          </a:xfrm>
          <a:prstGeom prst="rect">
            <a:avLst/>
          </a:prstGeom>
          <a:noFill/>
          <a:ln/>
        </p:spPr>
        <p:txBody>
          <a:bodyPr wrap="square" lIns="0" tIns="0" rIns="0" bIns="0" rtlCol="0" anchor="b"/>
          <a:lstStyle/>
          <a:p>
            <a:pPr indent="0" marL="0">
              <a:buNone/>
            </a:pPr>
            <a:r>
              <a:rPr lang="en-US" sz="3000" b="1" dirty="0">
                <a:solidFill>
                  <a:srgbClr val="14213D"/>
                </a:solidFill>
                <a:latin typeface="Calibri" pitchFamily="34" charset="0"/>
                <a:ea typeface="Calibri" pitchFamily="34" charset="-122"/>
                <a:cs typeface="Calibri" pitchFamily="34" charset="-120"/>
              </a:rPr>
              <a:t>67</a:t>
            </a:r>
            <a:endParaRPr lang="en-US" sz="3000" dirty="0"/>
          </a:p>
        </p:txBody>
      </p:sp>
      <p:sp>
        <p:nvSpPr>
          <p:cNvPr id="21" name="Text 18"/>
          <p:cNvSpPr txBox="1"/>
          <p:nvPr/>
        </p:nvSpPr>
        <p:spPr>
          <a:xfrm>
            <a:off x="8234477" y="2276856"/>
            <a:ext cx="1452829" cy="54864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meetings; 24 motions, 137 votes</a:t>
            </a:r>
            <a:endParaRPr lang="en-US" sz="1100" dirty="0"/>
          </a:p>
        </p:txBody>
      </p:sp>
      <p:sp>
        <p:nvSpPr>
          <p:cNvPr id="22" name="Shape 19"/>
          <p:cNvSpPr/>
          <p:nvPr/>
        </p:nvSpPr>
        <p:spPr>
          <a:xfrm>
            <a:off x="10007346" y="1600200"/>
            <a:ext cx="1727149" cy="1325880"/>
          </a:xfrm>
          <a:prstGeom prst="rect">
            <a:avLst/>
          </a:prstGeom>
          <a:solidFill>
            <a:srgbClr val="F2F4F7"/>
          </a:solidFill>
          <a:ln w="12700">
            <a:solidFill>
              <a:srgbClr val="F2F4F7"/>
            </a:solidFill>
            <a:prstDash val="solid"/>
          </a:ln>
        </p:spPr>
      </p:sp>
      <p:sp>
        <p:nvSpPr>
          <p:cNvPr id="23" name="Text 20"/>
          <p:cNvSpPr txBox="1"/>
          <p:nvPr/>
        </p:nvSpPr>
        <p:spPr>
          <a:xfrm>
            <a:off x="10144506" y="1600200"/>
            <a:ext cx="1452829" cy="640080"/>
          </a:xfrm>
          <a:prstGeom prst="rect">
            <a:avLst/>
          </a:prstGeom>
          <a:noFill/>
          <a:ln/>
        </p:spPr>
        <p:txBody>
          <a:bodyPr wrap="square" lIns="0" tIns="0" rIns="0" bIns="0" rtlCol="0" anchor="b"/>
          <a:lstStyle/>
          <a:p>
            <a:pPr indent="0" marL="0">
              <a:buNone/>
            </a:pPr>
            <a:r>
              <a:rPr lang="en-US" sz="3000" b="1" dirty="0">
                <a:solidFill>
                  <a:srgbClr val="14213D"/>
                </a:solidFill>
                <a:latin typeface="Calibri" pitchFamily="34" charset="0"/>
                <a:ea typeface="Calibri" pitchFamily="34" charset="-122"/>
                <a:cs typeface="Calibri" pitchFamily="34" charset="-120"/>
              </a:rPr>
              <a:t>92</a:t>
            </a:r>
            <a:endParaRPr lang="en-US" sz="3000" dirty="0"/>
          </a:p>
        </p:txBody>
      </p:sp>
      <p:sp>
        <p:nvSpPr>
          <p:cNvPr id="24" name="Text 21"/>
          <p:cNvSpPr txBox="1"/>
          <p:nvPr/>
        </p:nvSpPr>
        <p:spPr>
          <a:xfrm>
            <a:off x="10144506" y="2276856"/>
            <a:ext cx="1452829" cy="548640"/>
          </a:xfrm>
          <a:prstGeom prst="rect">
            <a:avLst/>
          </a:prstGeom>
          <a:noFill/>
          <a:ln/>
        </p:spPr>
        <p:txBody>
          <a:bodyPr wrap="square" lIns="0" tIns="0" rIns="0" bIns="0" rtlCol="0" anchor="t"/>
          <a:lstStyle/>
          <a:p>
            <a:pPr indent="0" marL="0">
              <a:buNone/>
            </a:pPr>
            <a:r>
              <a:rPr lang="en-US" sz="1100" dirty="0">
                <a:solidFill>
                  <a:srgbClr val="6B7380"/>
                </a:solidFill>
                <a:latin typeface="Calibri" pitchFamily="34" charset="0"/>
                <a:ea typeface="Calibri" pitchFamily="34" charset="-122"/>
                <a:cs typeface="Calibri" pitchFamily="34" charset="-120"/>
              </a:rPr>
              <a:t>attestation tasks</a:t>
            </a:r>
            <a:endParaRPr lang="en-US" sz="11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3108960"/>
          <a:ext cx="11277295" cy="914400"/>
        </p:xfrm>
        <a:graphic>
          <a:graphicData uri="http://schemas.openxmlformats.org/drawingml/2006/table">
            <a:tbl>
              <a:tblPr/>
              <a:tblGrid>
                <a:gridCol w="1828800"/>
                <a:gridCol w="9448495"/>
              </a:tblGrid>
              <a:tr h="34747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Area</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is loaded (examples)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14213D"/>
                    </a:solidFill>
                  </a:tcPr>
                </a:tc>
              </a:tr>
              <a:tr h="475488">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Formation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Requests at every stage, from draft to approved; an approved request created a forum through a recorded bypass exception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Attestation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2026 forum inventory campaign: 22 attested, 11 pending, 3 declined, 3 with exceptions; policy campaign: 5 attested, 4 pending; 2025 campaign closed</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Policy</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Lineage from framework to procedures; an authorised exemption; a retired standard superseded, raising a remediation task on its child; 13 glossary terms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Escalation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Matrix-routed and manually overridden matters; action plans; risk acceptances pending, approved and expired; sensitive matters; an external closure</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2A2F36"/>
                          </a:solidFill>
                          <a:latin typeface="Calibri" pitchFamily="34" charset="0"/>
                          <a:ea typeface="Calibri" pitchFamily="34" charset="-122"/>
                          <a:cs typeface="Calibri" pitchFamily="34" charset="-120"/>
                        </a:rPr>
                        <a:t>Configuration</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2F36"/>
                          </a:solidFill>
                          <a:latin typeface="Calibri" pitchFamily="34" charset="0"/>
                          <a:ea typeface="Calibri" pitchFamily="34" charset="-122"/>
                          <a:cs typeface="Calibri" pitchFamily="34" charset="-120"/>
                        </a:rPr>
                        <a:t>Escalation matrix, time limits, approval routes, 5 document templates, 5 retention classes, 6 guide articles</a:t>
                      </a:r>
                      <a:endParaRPr lang="en-US" sz="1150" dirty="0">
                        <a:latin typeface="Calibri" charset="0"/>
                        <a:ea typeface="Calibri" charset="0"/>
                        <a:cs typeface="Calibri" charset="0"/>
                      </a:endParaRPr>
                    </a:p>
                  </a:txBody>
                  <a:tcPr marL="63500" marR="63500" marT="38100" marB="38100" anchor="ctr">
                    <a:lnL w="0" cap="flat" cmpd="sng" algn="ctr">
                      <a:noFill/>
                    </a:lnL>
                    <a:lnR w="0" cap="flat" cmpd="sng" algn="ctr">
                      <a:noFill/>
                    </a:lnR>
                    <a:lnT w="0" cap="flat" cmpd="sng" algn="ctr">
                      <a:noFill/>
                    </a:lnT>
                    <a:lnB w="9525" cap="flat" cmpd="sng" algn="ctr">
                      <a:solidFill>
                        <a:srgbClr val="D3D9E1"/>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Consilium — Leadership briefing</dc:title>
  <dc:subject>PptxGenJS Presentation</dc:subject>
  <dc:creator>Consilium delivery team</dc:creator>
  <cp:lastModifiedBy>Consilium delivery team</cp:lastModifiedBy>
  <cp:revision>1</cp:revision>
  <dcterms:created xsi:type="dcterms:W3CDTF">2026-09-18T18:09:33Z</dcterms:created>
  <dcterms:modified xsi:type="dcterms:W3CDTF">2026-09-18T18:09:33Z</dcterms:modified>
</cp:coreProperties>
</file>